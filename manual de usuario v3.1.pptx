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1" r:id="rId5"/>
    <p:sldId id="256" r:id="rId6"/>
    <p:sldId id="257" r:id="rId7"/>
    <p:sldId id="258" r:id="rId8"/>
    <p:sldId id="270" r:id="rId9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00"/>
    <a:srgbClr val="001A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31555-F1C0-470E-94F3-EAB569CB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A13912-ADF3-49FE-A747-A63868898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CE195-AF23-40D3-971B-F0B99EA5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E315A-235F-47CB-9B0F-D46A1D55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E48E32-3783-4316-9246-C2EB703A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574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AA34F-3671-45B3-A8A0-4036F469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9438E-B290-4334-B492-E5BEACCF4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94981D-BE16-44B8-9496-A8ADCF47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B1965-A14E-47D3-93C9-6BE24338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4D155-802B-4492-966F-26C72C44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0745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96FDC-CC73-46FC-8C12-96EC733A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87590-6B02-4456-AAC2-D3C17AA8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519D21-3BDA-4C10-9FE9-ACFC1834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0F58A-FA2D-4C30-A7A0-D77523E76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C83AAB-3340-4907-B640-F4D0849A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2993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46CD6-5405-4A72-AB23-5B1C35F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DC09B-D32B-489E-997B-DB658197A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C8431D-7628-43C3-B47D-E7E6E4A9E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FB0CC5-6940-45FD-8750-643FD4F99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C51ED3-D8C7-41F7-902E-5CF297E0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44910-A809-46D8-8581-0F8200EA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7496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6E66E-F347-487B-9EBF-CB659B846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CD7966-4B9B-468A-8DD7-71F2CB7F7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93C3B1-9968-4F6F-B973-9BFAA9D6F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84B1BC-A2B3-4820-B39B-872A49D0E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DBAD1C-0310-4CB6-AAA0-8CC3FFA64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614592-EC25-4182-AAD8-96B447A9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FF188F-8249-4537-BB96-3883C125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39028F-74C2-4FD6-B7FC-96AB3B97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8739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2D621-CA93-4AA5-9E95-30985B4A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836A41-FE66-406A-8056-A2A8DF27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4DDDAB-6211-4451-8D9F-AF3D69FC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9E9E1B-A215-4DCF-8A5C-1E23CAD8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5027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25B648-B6A1-4F41-926A-49C46F4B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6CC9D2-FC8F-400E-90E2-1C97C4AC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23CBC3-9CB6-4411-8F82-CFE9B328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2013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60F69-C11A-454B-A6B8-02A7C1C4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900E5-E200-407A-A78E-F770958E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40685C-D413-4643-B404-ECAF64F8A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9FC914-DEA0-4ABD-A962-C0BE5A7E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FEFF65-2FD4-4650-81D7-668B646B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4EAA5F-51DA-4F87-BDA1-9566BFB2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1264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16EB3-08C9-4C36-B536-CA6E308B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CDD65D-7BB0-4310-8AFA-6280C6879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C4A2B8-2664-4403-8551-5ACD03195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43E127-84E0-4383-B220-CCAC30B0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63B9BD-6BCD-4325-B499-FBF246B2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216578-71D6-4DD1-8364-29771DE3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1740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EB82B-C3E4-4616-B67F-5BFCE14A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076899-28CD-4167-927D-AA0734189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3AE60-B42A-40CB-99C2-FB4C945E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698D96-89DE-4A63-8BEC-B3E952E1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F0074F-B768-44F4-BD44-93E4E7F7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2163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06B853-C05D-454F-94E1-05A166A8C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747E56-3998-4D2D-9039-EFABC7C4A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5B6ABC-D6F0-4E7C-8DB9-717F487C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C47E2C-FC8C-4084-A5A8-80F0DCA5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CEA51-1885-4950-87A5-1B62E262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5136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6002D6-FE39-48A3-8350-99996DFB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F9629-C2D7-4A0C-80BB-3C4A0EA25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FF2DCC-A7E5-4997-8E4B-155ACD72E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53C17-4F2D-4F73-9A9F-B0482B31BB62}" type="datetimeFigureOut">
              <a:rPr lang="es-419" smtClean="0"/>
              <a:t>7/4/2025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C9B812-038A-49DE-8E22-CF165112D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14749F-F143-490D-ABB8-BF2886C5E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2275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C9C83-7C2A-4C68-B1A3-9844D1CC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817" y="366362"/>
            <a:ext cx="8030933" cy="662781"/>
          </a:xfrm>
        </p:spPr>
        <p:txBody>
          <a:bodyPr>
            <a:noAutofit/>
          </a:bodyPr>
          <a:lstStyle/>
          <a:p>
            <a:pPr algn="ctr"/>
            <a:r>
              <a:rPr lang="es-419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Puntos a considerar en el diseño de la trayectoria tipo I (J)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CE37153-2C2E-4477-8438-C04E50EB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807" y="1520827"/>
            <a:ext cx="3206930" cy="4351338"/>
          </a:xfr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42787C9-6BF1-4588-B9D2-22FF0FED0AFC}"/>
              </a:ext>
            </a:extLst>
          </p:cNvPr>
          <p:cNvCxnSpPr>
            <a:cxnSpLocks/>
          </p:cNvCxnSpPr>
          <p:nvPr/>
        </p:nvCxnSpPr>
        <p:spPr>
          <a:xfrm flipV="1">
            <a:off x="4529673" y="4127848"/>
            <a:ext cx="2582327" cy="2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A75FB1C-09F3-4290-A3D4-2702F4688D9A}"/>
              </a:ext>
            </a:extLst>
          </p:cNvPr>
          <p:cNvSpPr txBox="1"/>
          <p:nvPr/>
        </p:nvSpPr>
        <p:spPr>
          <a:xfrm>
            <a:off x="6935748" y="3850586"/>
            <a:ext cx="4579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1.- Coordenadas UTM de superficie: Norte/Sur </a:t>
            </a:r>
            <a:r>
              <a:rPr lang="es-419" sz="1800" kern="1200" dirty="0">
                <a:solidFill>
                  <a:srgbClr val="FFCF00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(N/S) </a:t>
            </a:r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Y Este/Oeste </a:t>
            </a:r>
            <a:r>
              <a:rPr lang="es-419" sz="1800" kern="1200" dirty="0">
                <a:solidFill>
                  <a:srgbClr val="FFCF00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(E/W)</a:t>
            </a:r>
            <a:endParaRPr lang="es-419" dirty="0">
              <a:solidFill>
                <a:srgbClr val="FFCF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7CCBB9E-2055-463E-A721-FC6F8AAB2A6F}"/>
              </a:ext>
            </a:extLst>
          </p:cNvPr>
          <p:cNvCxnSpPr>
            <a:cxnSpLocks/>
          </p:cNvCxnSpPr>
          <p:nvPr/>
        </p:nvCxnSpPr>
        <p:spPr>
          <a:xfrm>
            <a:off x="6516077" y="5702650"/>
            <a:ext cx="595923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2BFA58-AF7C-4097-9F0E-FDD325B0775A}"/>
              </a:ext>
            </a:extLst>
          </p:cNvPr>
          <p:cNvSpPr txBox="1"/>
          <p:nvPr/>
        </p:nvSpPr>
        <p:spPr>
          <a:xfrm>
            <a:off x="7000828" y="5477735"/>
            <a:ext cx="4293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2.- Coordenadas UTM de objetivo: Norte/Sur </a:t>
            </a:r>
            <a:r>
              <a:rPr lang="es-419" sz="1800" kern="1200" dirty="0">
                <a:solidFill>
                  <a:srgbClr val="FFCF00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(N/S)</a:t>
            </a:r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 Y Este/Oeste </a:t>
            </a:r>
            <a:r>
              <a:rPr lang="es-419" sz="1800" kern="1200" dirty="0">
                <a:solidFill>
                  <a:srgbClr val="FFCF00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(E/W)</a:t>
            </a:r>
            <a:endParaRPr lang="es-419" dirty="0">
              <a:solidFill>
                <a:srgbClr val="FFCF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1D4B2B7-5149-481F-9000-E5BB7E89F675}"/>
              </a:ext>
            </a:extLst>
          </p:cNvPr>
          <p:cNvCxnSpPr/>
          <p:nvPr/>
        </p:nvCxnSpPr>
        <p:spPr>
          <a:xfrm>
            <a:off x="4191005" y="4127848"/>
            <a:ext cx="0" cy="1620000"/>
          </a:xfrm>
          <a:prstGeom prst="line">
            <a:avLst/>
          </a:prstGeom>
          <a:ln w="38100">
            <a:solidFill>
              <a:srgbClr val="FFC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5893F41-3716-4367-9560-A9FE965C6026}"/>
              </a:ext>
            </a:extLst>
          </p:cNvPr>
          <p:cNvCxnSpPr>
            <a:cxnSpLocks/>
          </p:cNvCxnSpPr>
          <p:nvPr/>
        </p:nvCxnSpPr>
        <p:spPr>
          <a:xfrm>
            <a:off x="4114803" y="4144779"/>
            <a:ext cx="152400" cy="0"/>
          </a:xfrm>
          <a:prstGeom prst="line">
            <a:avLst/>
          </a:prstGeom>
          <a:ln w="38100">
            <a:solidFill>
              <a:srgbClr val="FFC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7F1093C-F0CE-4D6A-936B-FAF25F47464F}"/>
              </a:ext>
            </a:extLst>
          </p:cNvPr>
          <p:cNvCxnSpPr>
            <a:cxnSpLocks/>
          </p:cNvCxnSpPr>
          <p:nvPr/>
        </p:nvCxnSpPr>
        <p:spPr>
          <a:xfrm>
            <a:off x="4114803" y="5736513"/>
            <a:ext cx="152400" cy="0"/>
          </a:xfrm>
          <a:prstGeom prst="line">
            <a:avLst/>
          </a:prstGeom>
          <a:ln w="38100">
            <a:solidFill>
              <a:srgbClr val="FFC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B461E8B-684B-4B66-BCFC-AB0795D0548E}"/>
              </a:ext>
            </a:extLst>
          </p:cNvPr>
          <p:cNvCxnSpPr>
            <a:cxnSpLocks/>
          </p:cNvCxnSpPr>
          <p:nvPr/>
        </p:nvCxnSpPr>
        <p:spPr>
          <a:xfrm flipH="1">
            <a:off x="3242739" y="4263308"/>
            <a:ext cx="948264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AAFC12-5A74-4AA7-AFA6-9AC3AC35A516}"/>
              </a:ext>
            </a:extLst>
          </p:cNvPr>
          <p:cNvSpPr txBox="1"/>
          <p:nvPr/>
        </p:nvSpPr>
        <p:spPr>
          <a:xfrm>
            <a:off x="220146" y="3948616"/>
            <a:ext cx="314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4.- Profundidad vertical al objetivo (TVD)</a:t>
            </a:r>
          </a:p>
        </p:txBody>
      </p:sp>
      <p:sp>
        <p:nvSpPr>
          <p:cNvPr id="20" name="Arco 19">
            <a:extLst>
              <a:ext uri="{FF2B5EF4-FFF2-40B4-BE49-F238E27FC236}">
                <a16:creationId xmlns:a16="http://schemas.microsoft.com/office/drawing/2014/main" id="{648AE7C6-968A-4CE0-935F-D0D10DC7E5E7}"/>
              </a:ext>
            </a:extLst>
          </p:cNvPr>
          <p:cNvSpPr/>
          <p:nvPr/>
        </p:nvSpPr>
        <p:spPr>
          <a:xfrm rot="11457301">
            <a:off x="4444370" y="4626740"/>
            <a:ext cx="736597" cy="646331"/>
          </a:xfrm>
          <a:prstGeom prst="arc">
            <a:avLst/>
          </a:prstGeom>
          <a:ln w="28575">
            <a:solidFill>
              <a:srgbClr val="FFC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25754289-5F13-4EF2-8A9F-97BD9321D004}"/>
              </a:ext>
            </a:extLst>
          </p:cNvPr>
          <p:cNvCxnSpPr>
            <a:cxnSpLocks/>
          </p:cNvCxnSpPr>
          <p:nvPr/>
        </p:nvCxnSpPr>
        <p:spPr>
          <a:xfrm>
            <a:off x="4368806" y="4865829"/>
            <a:ext cx="152400" cy="0"/>
          </a:xfrm>
          <a:prstGeom prst="line">
            <a:avLst/>
          </a:prstGeom>
          <a:ln w="38100">
            <a:solidFill>
              <a:srgbClr val="FFC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ED9774D-BF7E-4353-A255-203F7279C117}"/>
              </a:ext>
            </a:extLst>
          </p:cNvPr>
          <p:cNvCxnSpPr>
            <a:cxnSpLocks/>
          </p:cNvCxnSpPr>
          <p:nvPr/>
        </p:nvCxnSpPr>
        <p:spPr>
          <a:xfrm flipV="1">
            <a:off x="4749807" y="5179095"/>
            <a:ext cx="0" cy="150684"/>
          </a:xfrm>
          <a:prstGeom prst="line">
            <a:avLst/>
          </a:prstGeom>
          <a:ln w="38100">
            <a:solidFill>
              <a:srgbClr val="FFC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892E8DA-6065-476A-AD08-F68337BA0BFD}"/>
              </a:ext>
            </a:extLst>
          </p:cNvPr>
          <p:cNvCxnSpPr>
            <a:cxnSpLocks/>
          </p:cNvCxnSpPr>
          <p:nvPr/>
        </p:nvCxnSpPr>
        <p:spPr>
          <a:xfrm flipH="1">
            <a:off x="3242739" y="5149813"/>
            <a:ext cx="1286934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1CBFBC1-AE4E-4391-8CBD-27927E880778}"/>
              </a:ext>
            </a:extLst>
          </p:cNvPr>
          <p:cNvSpPr txBox="1"/>
          <p:nvPr/>
        </p:nvSpPr>
        <p:spPr>
          <a:xfrm>
            <a:off x="247483" y="4802792"/>
            <a:ext cx="3141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5.- Ritmo de incremento del ángulo para la construcción de la curva (BUR)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44416A9-7676-4188-89A7-8DEED0C67867}"/>
              </a:ext>
            </a:extLst>
          </p:cNvPr>
          <p:cNvCxnSpPr>
            <a:cxnSpLocks/>
          </p:cNvCxnSpPr>
          <p:nvPr/>
        </p:nvCxnSpPr>
        <p:spPr>
          <a:xfrm>
            <a:off x="4521206" y="4802792"/>
            <a:ext cx="2590794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DC1BA93-6EAA-45C5-9387-30D661258AA4}"/>
              </a:ext>
            </a:extLst>
          </p:cNvPr>
          <p:cNvSpPr txBox="1"/>
          <p:nvPr/>
        </p:nvSpPr>
        <p:spPr>
          <a:xfrm>
            <a:off x="7021959" y="4555305"/>
            <a:ext cx="3950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3.- Inicio de la desviación (KOP)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68F6B048-2C10-4019-942D-DD68B7099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8995"/>
            <a:ext cx="4097534" cy="2304863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366C6426-319D-433E-B085-F74FEC6A9266}"/>
              </a:ext>
            </a:extLst>
          </p:cNvPr>
          <p:cNvSpPr txBox="1"/>
          <p:nvPr/>
        </p:nvSpPr>
        <p:spPr>
          <a:xfrm>
            <a:off x="4360340" y="3943182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FFCF00"/>
                </a:solidFill>
              </a:rPr>
              <a:t>X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FB8C54E-E114-48B0-966A-471326435125}"/>
              </a:ext>
            </a:extLst>
          </p:cNvPr>
          <p:cNvSpPr txBox="1"/>
          <p:nvPr/>
        </p:nvSpPr>
        <p:spPr>
          <a:xfrm>
            <a:off x="4399588" y="4619863"/>
            <a:ext cx="130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FFCF00"/>
                </a:solidFill>
              </a:rPr>
              <a:t>X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EB9138B-F795-4380-A3A3-72CDF4AE402C}"/>
              </a:ext>
            </a:extLst>
          </p:cNvPr>
          <p:cNvSpPr txBox="1"/>
          <p:nvPr/>
        </p:nvSpPr>
        <p:spPr>
          <a:xfrm>
            <a:off x="6345629" y="5521371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FFCF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84767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E35A2BC-3039-48A0-84F6-8DEBE0388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660" y="1520827"/>
            <a:ext cx="3189223" cy="43513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3C9C83-7C2A-4C68-B1A3-9844D1CC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336" y="366362"/>
            <a:ext cx="8202534" cy="66278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419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Puntos a considerar en el diseño de la trayectoria tipo II (S)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42787C9-6BF1-4588-B9D2-22FF0FED0AFC}"/>
              </a:ext>
            </a:extLst>
          </p:cNvPr>
          <p:cNvCxnSpPr>
            <a:cxnSpLocks/>
          </p:cNvCxnSpPr>
          <p:nvPr/>
        </p:nvCxnSpPr>
        <p:spPr>
          <a:xfrm flipV="1">
            <a:off x="4661651" y="3929883"/>
            <a:ext cx="2582327" cy="2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A75FB1C-09F3-4290-A3D4-2702F4688D9A}"/>
              </a:ext>
            </a:extLst>
          </p:cNvPr>
          <p:cNvSpPr txBox="1"/>
          <p:nvPr/>
        </p:nvSpPr>
        <p:spPr>
          <a:xfrm>
            <a:off x="7042679" y="3616977"/>
            <a:ext cx="4596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1.- Coordenadas UTM de superficie: Norte/Sur </a:t>
            </a:r>
            <a:r>
              <a:rPr lang="es-419" sz="1800" kern="1200" dirty="0">
                <a:solidFill>
                  <a:srgbClr val="FFCF00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(N/S)</a:t>
            </a:r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 Y Este/Oeste </a:t>
            </a:r>
            <a:r>
              <a:rPr lang="es-419" sz="1800" kern="1200" dirty="0">
                <a:solidFill>
                  <a:srgbClr val="FFCF00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(E/W)</a:t>
            </a:r>
            <a:endParaRPr lang="es-419" dirty="0">
              <a:solidFill>
                <a:srgbClr val="FFCF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7CCBB9E-2055-463E-A721-FC6F8AAB2A6F}"/>
              </a:ext>
            </a:extLst>
          </p:cNvPr>
          <p:cNvCxnSpPr>
            <a:cxnSpLocks/>
          </p:cNvCxnSpPr>
          <p:nvPr/>
        </p:nvCxnSpPr>
        <p:spPr>
          <a:xfrm>
            <a:off x="5750351" y="5273884"/>
            <a:ext cx="665551" cy="4147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2BFA58-AF7C-4097-9F0E-FDD325B0775A}"/>
              </a:ext>
            </a:extLst>
          </p:cNvPr>
          <p:cNvSpPr txBox="1"/>
          <p:nvPr/>
        </p:nvSpPr>
        <p:spPr>
          <a:xfrm>
            <a:off x="6234924" y="5146146"/>
            <a:ext cx="430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2.- Coordenadas UTM de objetivo: Norte/Sur </a:t>
            </a:r>
            <a:r>
              <a:rPr lang="es-419" sz="1800" kern="1200" dirty="0">
                <a:solidFill>
                  <a:srgbClr val="FFCF00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(N/S) </a:t>
            </a:r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Y Este/Oeste </a:t>
            </a:r>
            <a:r>
              <a:rPr lang="es-419" sz="1800" kern="1200" dirty="0">
                <a:solidFill>
                  <a:srgbClr val="FFCF00"/>
                </a:solidFill>
                <a:effectLst/>
                <a:latin typeface="Montserrat" panose="00000500000000000000" pitchFamily="2" charset="0"/>
                <a:ea typeface="+mn-ea"/>
                <a:cs typeface="+mn-cs"/>
              </a:rPr>
              <a:t>(E/W)</a:t>
            </a:r>
            <a:endParaRPr lang="es-419" dirty="0">
              <a:solidFill>
                <a:srgbClr val="FFCF00"/>
              </a:solidFill>
              <a:latin typeface="Montserrat" panose="00000500000000000000" pitchFamily="2" charset="0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675380BA-9FDD-4588-89A3-D68B7214AC5D}"/>
              </a:ext>
            </a:extLst>
          </p:cNvPr>
          <p:cNvGrpSpPr/>
          <p:nvPr/>
        </p:nvGrpSpPr>
        <p:grpSpPr>
          <a:xfrm>
            <a:off x="4161102" y="3899245"/>
            <a:ext cx="152400" cy="1364053"/>
            <a:chOff x="4114803" y="4127848"/>
            <a:chExt cx="152400" cy="1620000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F1D4B2B7-5149-481F-9000-E5BB7E89F675}"/>
                </a:ext>
              </a:extLst>
            </p:cNvPr>
            <p:cNvCxnSpPr/>
            <p:nvPr/>
          </p:nvCxnSpPr>
          <p:spPr>
            <a:xfrm>
              <a:off x="4191005" y="4127848"/>
              <a:ext cx="0" cy="162000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5893F41-3716-4367-9560-A9FE965C6026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4144779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27F1093C-F0CE-4D6A-936B-FAF25F47464F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5736513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B461E8B-684B-4B66-BCFC-AB0795D0548E}"/>
              </a:ext>
            </a:extLst>
          </p:cNvPr>
          <p:cNvCxnSpPr>
            <a:cxnSpLocks/>
          </p:cNvCxnSpPr>
          <p:nvPr/>
        </p:nvCxnSpPr>
        <p:spPr>
          <a:xfrm flipH="1">
            <a:off x="3242739" y="4034708"/>
            <a:ext cx="994565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AAFC12-5A74-4AA7-AFA6-9AC3AC35A516}"/>
              </a:ext>
            </a:extLst>
          </p:cNvPr>
          <p:cNvSpPr txBox="1"/>
          <p:nvPr/>
        </p:nvSpPr>
        <p:spPr>
          <a:xfrm>
            <a:off x="403532" y="3524778"/>
            <a:ext cx="314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4.- Profundidad vertical al objetivo (TVD)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F35FB25-321D-4591-81A9-D4A24BFCDB23}"/>
              </a:ext>
            </a:extLst>
          </p:cNvPr>
          <p:cNvGrpSpPr/>
          <p:nvPr/>
        </p:nvGrpSpPr>
        <p:grpSpPr>
          <a:xfrm>
            <a:off x="4461067" y="4434027"/>
            <a:ext cx="690876" cy="507454"/>
            <a:chOff x="4368806" y="4626740"/>
            <a:chExt cx="812161" cy="703039"/>
          </a:xfrm>
        </p:grpSpPr>
        <p:sp>
          <p:nvSpPr>
            <p:cNvPr id="20" name="Arco 19">
              <a:extLst>
                <a:ext uri="{FF2B5EF4-FFF2-40B4-BE49-F238E27FC236}">
                  <a16:creationId xmlns:a16="http://schemas.microsoft.com/office/drawing/2014/main" id="{648AE7C6-968A-4CE0-935F-D0D10DC7E5E7}"/>
                </a:ext>
              </a:extLst>
            </p:cNvPr>
            <p:cNvSpPr/>
            <p:nvPr/>
          </p:nvSpPr>
          <p:spPr>
            <a:xfrm rot="11457301">
              <a:off x="4444370" y="4626740"/>
              <a:ext cx="736597" cy="646331"/>
            </a:xfrm>
            <a:prstGeom prst="arc">
              <a:avLst/>
            </a:prstGeom>
            <a:ln w="28575">
              <a:solidFill>
                <a:srgbClr val="FFC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5754289-5F13-4EF2-8A9F-97BD9321D004}"/>
                </a:ext>
              </a:extLst>
            </p:cNvPr>
            <p:cNvCxnSpPr>
              <a:cxnSpLocks/>
            </p:cNvCxnSpPr>
            <p:nvPr/>
          </p:nvCxnSpPr>
          <p:spPr>
            <a:xfrm>
              <a:off x="4368806" y="4865829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ED9774D-BF7E-4353-A255-203F7279C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9807" y="5179095"/>
              <a:ext cx="0" cy="150684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892E8DA-6065-476A-AD08-F68337BA0BFD}"/>
              </a:ext>
            </a:extLst>
          </p:cNvPr>
          <p:cNvCxnSpPr>
            <a:cxnSpLocks/>
          </p:cNvCxnSpPr>
          <p:nvPr/>
        </p:nvCxnSpPr>
        <p:spPr>
          <a:xfrm flipH="1">
            <a:off x="3242739" y="4744232"/>
            <a:ext cx="1286934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1CBFBC1-AE4E-4391-8CBD-27927E880778}"/>
              </a:ext>
            </a:extLst>
          </p:cNvPr>
          <p:cNvSpPr txBox="1"/>
          <p:nvPr/>
        </p:nvSpPr>
        <p:spPr>
          <a:xfrm>
            <a:off x="326726" y="4193065"/>
            <a:ext cx="314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5.- Ritmo de incremento del ángulo para la construcción de la curva (BUR)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44416A9-7676-4188-89A7-8DEED0C67867}"/>
              </a:ext>
            </a:extLst>
          </p:cNvPr>
          <p:cNvCxnSpPr>
            <a:cxnSpLocks/>
          </p:cNvCxnSpPr>
          <p:nvPr/>
        </p:nvCxnSpPr>
        <p:spPr>
          <a:xfrm>
            <a:off x="4662610" y="4519983"/>
            <a:ext cx="2590794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DC1BA93-6EAA-45C5-9387-30D661258AA4}"/>
              </a:ext>
            </a:extLst>
          </p:cNvPr>
          <p:cNvSpPr txBox="1"/>
          <p:nvPr/>
        </p:nvSpPr>
        <p:spPr>
          <a:xfrm>
            <a:off x="7137714" y="4262934"/>
            <a:ext cx="397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3.- Inicio de la desviación (KOP)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68F6B048-2C10-4019-942D-DD68B7099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8995"/>
            <a:ext cx="4097534" cy="2304863"/>
          </a:xfrm>
          <a:prstGeom prst="rect">
            <a:avLst/>
          </a:prstGeom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FCD5949F-3FD1-4938-BDD8-479C1E419F21}"/>
              </a:ext>
            </a:extLst>
          </p:cNvPr>
          <p:cNvGrpSpPr/>
          <p:nvPr/>
        </p:nvGrpSpPr>
        <p:grpSpPr>
          <a:xfrm rot="10800000">
            <a:off x="5286340" y="4896086"/>
            <a:ext cx="690876" cy="507454"/>
            <a:chOff x="4368806" y="4626740"/>
            <a:chExt cx="812161" cy="703039"/>
          </a:xfrm>
        </p:grpSpPr>
        <p:sp>
          <p:nvSpPr>
            <p:cNvPr id="29" name="Arco 28">
              <a:extLst>
                <a:ext uri="{FF2B5EF4-FFF2-40B4-BE49-F238E27FC236}">
                  <a16:creationId xmlns:a16="http://schemas.microsoft.com/office/drawing/2014/main" id="{7E636774-D9FA-4485-A748-22E308A62A99}"/>
                </a:ext>
              </a:extLst>
            </p:cNvPr>
            <p:cNvSpPr/>
            <p:nvPr/>
          </p:nvSpPr>
          <p:spPr>
            <a:xfrm rot="11457301">
              <a:off x="4444370" y="4626740"/>
              <a:ext cx="736597" cy="646331"/>
            </a:xfrm>
            <a:prstGeom prst="arc">
              <a:avLst/>
            </a:prstGeom>
            <a:ln w="28575">
              <a:solidFill>
                <a:srgbClr val="FFC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56CFBE61-4956-4749-99D9-2DA00ADC57E6}"/>
                </a:ext>
              </a:extLst>
            </p:cNvPr>
            <p:cNvCxnSpPr>
              <a:cxnSpLocks/>
            </p:cNvCxnSpPr>
            <p:nvPr/>
          </p:nvCxnSpPr>
          <p:spPr>
            <a:xfrm>
              <a:off x="4368806" y="4865829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9D434706-0D8D-4776-98D1-AAF0C3A87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9807" y="5179095"/>
              <a:ext cx="0" cy="150684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08090F7-DDF6-42E6-BC7A-B81EBBE400A2}"/>
              </a:ext>
            </a:extLst>
          </p:cNvPr>
          <p:cNvSpPr txBox="1"/>
          <p:nvPr/>
        </p:nvSpPr>
        <p:spPr>
          <a:xfrm>
            <a:off x="6678819" y="4596357"/>
            <a:ext cx="5000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6.- Ritmo de decremento del ángulo para la construcción de la curva (DOR)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C53B781-0A39-4730-82A7-BEE9C4533AE6}"/>
              </a:ext>
            </a:extLst>
          </p:cNvPr>
          <p:cNvCxnSpPr>
            <a:cxnSpLocks/>
          </p:cNvCxnSpPr>
          <p:nvPr/>
        </p:nvCxnSpPr>
        <p:spPr>
          <a:xfrm>
            <a:off x="5861632" y="5058245"/>
            <a:ext cx="1382346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F185FF2-2C22-4222-AC7C-B241D21F3922}"/>
              </a:ext>
            </a:extLst>
          </p:cNvPr>
          <p:cNvGrpSpPr/>
          <p:nvPr/>
        </p:nvGrpSpPr>
        <p:grpSpPr>
          <a:xfrm>
            <a:off x="5447238" y="5301398"/>
            <a:ext cx="172160" cy="376649"/>
            <a:chOff x="4114803" y="4127848"/>
            <a:chExt cx="152400" cy="1620000"/>
          </a:xfrm>
        </p:grpSpPr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10258D5-FEC8-44B7-A957-6EB2B52273A3}"/>
                </a:ext>
              </a:extLst>
            </p:cNvPr>
            <p:cNvCxnSpPr/>
            <p:nvPr/>
          </p:nvCxnSpPr>
          <p:spPr>
            <a:xfrm>
              <a:off x="4191005" y="4127848"/>
              <a:ext cx="0" cy="162000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07593DC-DB66-45D1-BC0C-E22C83CC2A46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4144779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38C18685-D972-4902-ACAB-046F48E79E91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5736513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2538720D-987D-4C49-A6FA-27BACA6B0E20}"/>
              </a:ext>
            </a:extLst>
          </p:cNvPr>
          <p:cNvCxnSpPr>
            <a:cxnSpLocks/>
          </p:cNvCxnSpPr>
          <p:nvPr/>
        </p:nvCxnSpPr>
        <p:spPr>
          <a:xfrm flipH="1">
            <a:off x="3242739" y="5545561"/>
            <a:ext cx="2290581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E7E63B8-203C-4A03-9176-1F022681CED6}"/>
              </a:ext>
            </a:extLst>
          </p:cNvPr>
          <p:cNvSpPr txBox="1"/>
          <p:nvPr/>
        </p:nvSpPr>
        <p:spPr>
          <a:xfrm>
            <a:off x="367829" y="5346847"/>
            <a:ext cx="314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7.- Profundidad extra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47DB719-A1F4-4D0B-940E-D9D4DD226FEA}"/>
              </a:ext>
            </a:extLst>
          </p:cNvPr>
          <p:cNvSpPr txBox="1"/>
          <p:nvPr/>
        </p:nvSpPr>
        <p:spPr>
          <a:xfrm>
            <a:off x="6311489" y="1710112"/>
            <a:ext cx="5261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* En esta trayectoria se toma como coordenada de objetivo el punto en donde finaliza la curva, así como la TVD se toma hasta ese punto (final del decremento)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5B73E95-AF45-42A5-9759-1C8F793FAB48}"/>
              </a:ext>
            </a:extLst>
          </p:cNvPr>
          <p:cNvSpPr txBox="1"/>
          <p:nvPr/>
        </p:nvSpPr>
        <p:spPr>
          <a:xfrm>
            <a:off x="4525887" y="3755476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FFCF00"/>
                </a:solidFill>
              </a:rPr>
              <a:t>X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FDC28E6-CC3B-4DEA-B33C-E72C4C73917C}"/>
              </a:ext>
            </a:extLst>
          </p:cNvPr>
          <p:cNvSpPr txBox="1"/>
          <p:nvPr/>
        </p:nvSpPr>
        <p:spPr>
          <a:xfrm>
            <a:off x="4535412" y="4346026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FFCF00"/>
                </a:solidFill>
              </a:rPr>
              <a:t>X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6ED6E24-B3B0-490F-8A59-F6BBBB9F0E7B}"/>
              </a:ext>
            </a:extLst>
          </p:cNvPr>
          <p:cNvSpPr txBox="1"/>
          <p:nvPr/>
        </p:nvSpPr>
        <p:spPr>
          <a:xfrm>
            <a:off x="5621262" y="5108026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FFCF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2396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CEC5AF-10A5-4360-AAF0-F5ECB42F3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661" y="1522385"/>
            <a:ext cx="3189222" cy="43497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3C9C83-7C2A-4C68-B1A3-9844D1CC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00" y="366362"/>
            <a:ext cx="8022919" cy="66278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419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Puntos a considerar en el diseño de la trayectoria tipo III (H)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42787C9-6BF1-4588-B9D2-22FF0FED0AFC}"/>
              </a:ext>
            </a:extLst>
          </p:cNvPr>
          <p:cNvCxnSpPr>
            <a:cxnSpLocks/>
          </p:cNvCxnSpPr>
          <p:nvPr/>
        </p:nvCxnSpPr>
        <p:spPr>
          <a:xfrm flipV="1">
            <a:off x="4642601" y="4577583"/>
            <a:ext cx="2582327" cy="2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A75FB1C-09F3-4290-A3D4-2702F4688D9A}"/>
              </a:ext>
            </a:extLst>
          </p:cNvPr>
          <p:cNvSpPr txBox="1"/>
          <p:nvPr/>
        </p:nvSpPr>
        <p:spPr>
          <a:xfrm>
            <a:off x="6961081" y="4080237"/>
            <a:ext cx="460639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1.- Coordenadas UTM de superficie: Norte/Sur (N/S) Y Este/Oeste (E/W)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7CCBB9E-2055-463E-A721-FC6F8AAB2A6F}"/>
              </a:ext>
            </a:extLst>
          </p:cNvPr>
          <p:cNvCxnSpPr>
            <a:cxnSpLocks/>
          </p:cNvCxnSpPr>
          <p:nvPr/>
        </p:nvCxnSpPr>
        <p:spPr>
          <a:xfrm>
            <a:off x="4858515" y="5707592"/>
            <a:ext cx="0" cy="397933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2BFA58-AF7C-4097-9F0E-FDD325B0775A}"/>
              </a:ext>
            </a:extLst>
          </p:cNvPr>
          <p:cNvSpPr txBox="1"/>
          <p:nvPr/>
        </p:nvSpPr>
        <p:spPr>
          <a:xfrm>
            <a:off x="4562953" y="6115384"/>
            <a:ext cx="437770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2.- Coordenadas UTM de objetivo: Norte/Sur (N/S) Y Este/Oeste (E/W)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675380BA-9FDD-4588-89A3-D68B7214AC5D}"/>
              </a:ext>
            </a:extLst>
          </p:cNvPr>
          <p:cNvGrpSpPr/>
          <p:nvPr/>
        </p:nvGrpSpPr>
        <p:grpSpPr>
          <a:xfrm>
            <a:off x="4021334" y="4566921"/>
            <a:ext cx="215970" cy="1168186"/>
            <a:chOff x="4114803" y="4127848"/>
            <a:chExt cx="152400" cy="1620000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F1D4B2B7-5149-481F-9000-E5BB7E89F675}"/>
                </a:ext>
              </a:extLst>
            </p:cNvPr>
            <p:cNvCxnSpPr/>
            <p:nvPr/>
          </p:nvCxnSpPr>
          <p:spPr>
            <a:xfrm>
              <a:off x="4191005" y="4127848"/>
              <a:ext cx="0" cy="162000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5893F41-3716-4367-9560-A9FE965C6026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4144779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27F1093C-F0CE-4D6A-936B-FAF25F47464F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5736513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B461E8B-684B-4B66-BCFC-AB0795D0548E}"/>
              </a:ext>
            </a:extLst>
          </p:cNvPr>
          <p:cNvCxnSpPr>
            <a:cxnSpLocks/>
          </p:cNvCxnSpPr>
          <p:nvPr/>
        </p:nvCxnSpPr>
        <p:spPr>
          <a:xfrm flipH="1">
            <a:off x="3137964" y="4701458"/>
            <a:ext cx="994565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AAFC12-5A74-4AA7-AFA6-9AC3AC35A516}"/>
              </a:ext>
            </a:extLst>
          </p:cNvPr>
          <p:cNvSpPr txBox="1"/>
          <p:nvPr/>
        </p:nvSpPr>
        <p:spPr>
          <a:xfrm>
            <a:off x="349539" y="4272926"/>
            <a:ext cx="314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4.- Profundidad vertical al objetivo (TVD)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F35FB25-321D-4591-81A9-D4A24BFCDB23}"/>
              </a:ext>
            </a:extLst>
          </p:cNvPr>
          <p:cNvGrpSpPr/>
          <p:nvPr/>
        </p:nvGrpSpPr>
        <p:grpSpPr>
          <a:xfrm>
            <a:off x="4433312" y="5269741"/>
            <a:ext cx="690876" cy="507454"/>
            <a:chOff x="4368806" y="4626740"/>
            <a:chExt cx="812161" cy="703039"/>
          </a:xfrm>
        </p:grpSpPr>
        <p:sp>
          <p:nvSpPr>
            <p:cNvPr id="20" name="Arco 19">
              <a:extLst>
                <a:ext uri="{FF2B5EF4-FFF2-40B4-BE49-F238E27FC236}">
                  <a16:creationId xmlns:a16="http://schemas.microsoft.com/office/drawing/2014/main" id="{648AE7C6-968A-4CE0-935F-D0D10DC7E5E7}"/>
                </a:ext>
              </a:extLst>
            </p:cNvPr>
            <p:cNvSpPr/>
            <p:nvPr/>
          </p:nvSpPr>
          <p:spPr>
            <a:xfrm rot="11457301">
              <a:off x="4444370" y="4626740"/>
              <a:ext cx="736597" cy="646331"/>
            </a:xfrm>
            <a:prstGeom prst="arc">
              <a:avLst/>
            </a:prstGeom>
            <a:ln w="28575">
              <a:solidFill>
                <a:srgbClr val="FFC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>
                <a:solidFill>
                  <a:srgbClr val="FFCF00"/>
                </a:solidFill>
              </a:endParaRPr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5754289-5F13-4EF2-8A9F-97BD9321D004}"/>
                </a:ext>
              </a:extLst>
            </p:cNvPr>
            <p:cNvCxnSpPr>
              <a:cxnSpLocks/>
            </p:cNvCxnSpPr>
            <p:nvPr/>
          </p:nvCxnSpPr>
          <p:spPr>
            <a:xfrm>
              <a:off x="4368806" y="4865829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ED9774D-BF7E-4353-A255-203F7279C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9807" y="5179095"/>
              <a:ext cx="0" cy="150684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892E8DA-6065-476A-AD08-F68337BA0BFD}"/>
              </a:ext>
            </a:extLst>
          </p:cNvPr>
          <p:cNvCxnSpPr>
            <a:cxnSpLocks/>
          </p:cNvCxnSpPr>
          <p:nvPr/>
        </p:nvCxnSpPr>
        <p:spPr>
          <a:xfrm flipH="1">
            <a:off x="3252302" y="5581485"/>
            <a:ext cx="1286934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1CBFBC1-AE4E-4391-8CBD-27927E880778}"/>
              </a:ext>
            </a:extLst>
          </p:cNvPr>
          <p:cNvSpPr txBox="1"/>
          <p:nvPr/>
        </p:nvSpPr>
        <p:spPr>
          <a:xfrm>
            <a:off x="246254" y="4961847"/>
            <a:ext cx="3655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5.- Ritmo de incremento del ángulo para la construcción de la curva (BUR)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44416A9-7676-4188-89A7-8DEED0C67867}"/>
              </a:ext>
            </a:extLst>
          </p:cNvPr>
          <p:cNvCxnSpPr>
            <a:cxnSpLocks/>
          </p:cNvCxnSpPr>
          <p:nvPr/>
        </p:nvCxnSpPr>
        <p:spPr>
          <a:xfrm>
            <a:off x="4634134" y="5312555"/>
            <a:ext cx="2590794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DC1BA93-6EAA-45C5-9387-30D661258AA4}"/>
              </a:ext>
            </a:extLst>
          </p:cNvPr>
          <p:cNvSpPr txBox="1"/>
          <p:nvPr/>
        </p:nvSpPr>
        <p:spPr>
          <a:xfrm>
            <a:off x="7083833" y="5065596"/>
            <a:ext cx="330199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3.- Inicio de la desviación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68F6B048-2C10-4019-942D-DD68B7099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8995"/>
            <a:ext cx="4097534" cy="2304863"/>
          </a:xfrm>
          <a:prstGeom prst="rect">
            <a:avLst/>
          </a:prstGeom>
        </p:spPr>
      </p:pic>
      <p:grpSp>
        <p:nvGrpSpPr>
          <p:cNvPr id="41" name="Grupo 40">
            <a:extLst>
              <a:ext uri="{FF2B5EF4-FFF2-40B4-BE49-F238E27FC236}">
                <a16:creationId xmlns:a16="http://schemas.microsoft.com/office/drawing/2014/main" id="{BF185FF2-2C22-4222-AC7C-B241D21F3922}"/>
              </a:ext>
            </a:extLst>
          </p:cNvPr>
          <p:cNvGrpSpPr/>
          <p:nvPr/>
        </p:nvGrpSpPr>
        <p:grpSpPr>
          <a:xfrm rot="16200000">
            <a:off x="5388402" y="4873831"/>
            <a:ext cx="215532" cy="1286935"/>
            <a:chOff x="4114797" y="4127848"/>
            <a:chExt cx="152406" cy="1620000"/>
          </a:xfrm>
        </p:grpSpPr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10258D5-FEC8-44B7-A957-6EB2B52273A3}"/>
                </a:ext>
              </a:extLst>
            </p:cNvPr>
            <p:cNvCxnSpPr/>
            <p:nvPr/>
          </p:nvCxnSpPr>
          <p:spPr>
            <a:xfrm>
              <a:off x="4191005" y="4127848"/>
              <a:ext cx="0" cy="162000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07593DC-DB66-45D1-BC0C-E22C83CC2A46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7" y="4144781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38C18685-D972-4902-ACAB-046F48E79E91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5736513"/>
              <a:ext cx="152400" cy="0"/>
            </a:xfrm>
            <a:prstGeom prst="line">
              <a:avLst/>
            </a:prstGeom>
            <a:ln w="38100">
              <a:solidFill>
                <a:srgbClr val="FFC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47DB719-A1F4-4D0B-940E-D9D4DD226FEA}"/>
              </a:ext>
            </a:extLst>
          </p:cNvPr>
          <p:cNvSpPr txBox="1"/>
          <p:nvPr/>
        </p:nvSpPr>
        <p:spPr>
          <a:xfrm>
            <a:off x="6315614" y="1757992"/>
            <a:ext cx="52613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* En esta trayectoria se toma como coordenada de objetivo el punto en donde finaliza la curva, la profundidad extra es la distancia a la cual se requiere prolongar la perforación con el ángulo definido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534640E-39D6-4445-B497-D756C86D290E}"/>
              </a:ext>
            </a:extLst>
          </p:cNvPr>
          <p:cNvSpPr txBox="1"/>
          <p:nvPr/>
        </p:nvSpPr>
        <p:spPr>
          <a:xfrm>
            <a:off x="7747021" y="5503002"/>
            <a:ext cx="420923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6.- Desplazamiento Horizontal/ Profundidad extra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489F102-615C-4DBF-B908-28F0E61C8733}"/>
              </a:ext>
            </a:extLst>
          </p:cNvPr>
          <p:cNvCxnSpPr>
            <a:cxnSpLocks/>
          </p:cNvCxnSpPr>
          <p:nvPr/>
        </p:nvCxnSpPr>
        <p:spPr>
          <a:xfrm>
            <a:off x="5428961" y="5723187"/>
            <a:ext cx="2590794" cy="0"/>
          </a:xfrm>
          <a:prstGeom prst="straightConnector1">
            <a:avLst/>
          </a:prstGeom>
          <a:ln w="28575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EE31657-47E9-40C7-BE3C-55F06974AF06}"/>
              </a:ext>
            </a:extLst>
          </p:cNvPr>
          <p:cNvCxnSpPr/>
          <p:nvPr/>
        </p:nvCxnSpPr>
        <p:spPr>
          <a:xfrm>
            <a:off x="5443376" y="5523177"/>
            <a:ext cx="0" cy="216000"/>
          </a:xfrm>
          <a:prstGeom prst="line">
            <a:avLst/>
          </a:prstGeom>
          <a:ln w="28575">
            <a:solidFill>
              <a:srgbClr val="FFC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7F48926-6C84-4856-82D5-879A71898CBC}"/>
              </a:ext>
            </a:extLst>
          </p:cNvPr>
          <p:cNvSpPr txBox="1"/>
          <p:nvPr/>
        </p:nvSpPr>
        <p:spPr>
          <a:xfrm>
            <a:off x="4478262" y="4403176"/>
            <a:ext cx="24553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FFCF00"/>
                </a:solidFill>
              </a:rPr>
              <a:t>X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133B3269-B7EF-44E2-BAAF-0F8A03963503}"/>
              </a:ext>
            </a:extLst>
          </p:cNvPr>
          <p:cNvSpPr txBox="1"/>
          <p:nvPr/>
        </p:nvSpPr>
        <p:spPr>
          <a:xfrm>
            <a:off x="4487787" y="5127076"/>
            <a:ext cx="24553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FFCF00"/>
                </a:solidFill>
              </a:rPr>
              <a:t>X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3158153-4247-4EB3-8030-B59169DE380F}"/>
              </a:ext>
            </a:extLst>
          </p:cNvPr>
          <p:cNvSpPr txBox="1"/>
          <p:nvPr/>
        </p:nvSpPr>
        <p:spPr>
          <a:xfrm>
            <a:off x="4706862" y="5538865"/>
            <a:ext cx="24553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FFCF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0936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259FE7D-A9A7-4C4D-9747-3845323B3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5F54406-DACE-42CB-AFF4-ACC2C99864E0}"/>
              </a:ext>
            </a:extLst>
          </p:cNvPr>
          <p:cNvSpPr/>
          <p:nvPr/>
        </p:nvSpPr>
        <p:spPr>
          <a:xfrm>
            <a:off x="59268" y="4978396"/>
            <a:ext cx="1905000" cy="1144058"/>
          </a:xfrm>
          <a:prstGeom prst="rect">
            <a:avLst/>
          </a:prstGeom>
          <a:noFill/>
          <a:ln w="38100">
            <a:solidFill>
              <a:srgbClr val="FFC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FB65ABE-B265-4EA4-A386-BE5A415091BE}"/>
              </a:ext>
            </a:extLst>
          </p:cNvPr>
          <p:cNvCxnSpPr>
            <a:cxnSpLocks/>
          </p:cNvCxnSpPr>
          <p:nvPr/>
        </p:nvCxnSpPr>
        <p:spPr>
          <a:xfrm>
            <a:off x="1964268" y="5799161"/>
            <a:ext cx="922865" cy="0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211ADF6-3F22-440E-8900-F9495B24581C}"/>
              </a:ext>
            </a:extLst>
          </p:cNvPr>
          <p:cNvSpPr txBox="1"/>
          <p:nvPr/>
        </p:nvSpPr>
        <p:spPr>
          <a:xfrm>
            <a:off x="2802468" y="5475995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Hipervínculos hacia redes sociales y correo de contacto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DB8ECE-5852-47B8-950E-CA982E57E42B}"/>
              </a:ext>
            </a:extLst>
          </p:cNvPr>
          <p:cNvSpPr/>
          <p:nvPr/>
        </p:nvSpPr>
        <p:spPr>
          <a:xfrm>
            <a:off x="59268" y="2031997"/>
            <a:ext cx="1905000" cy="1926516"/>
          </a:xfrm>
          <a:prstGeom prst="rect">
            <a:avLst/>
          </a:prstGeom>
          <a:noFill/>
          <a:ln w="38100">
            <a:solidFill>
              <a:srgbClr val="FFC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rgbClr val="FFCF00"/>
              </a:solidFill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30F12D5-D3F2-464B-B0B7-1B97BFEB2998}"/>
              </a:ext>
            </a:extLst>
          </p:cNvPr>
          <p:cNvCxnSpPr>
            <a:cxnSpLocks/>
          </p:cNvCxnSpPr>
          <p:nvPr/>
        </p:nvCxnSpPr>
        <p:spPr>
          <a:xfrm>
            <a:off x="1964268" y="2138180"/>
            <a:ext cx="647701" cy="0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ED0686-CD4C-4173-A373-5140E35544CE}"/>
              </a:ext>
            </a:extLst>
          </p:cNvPr>
          <p:cNvSpPr txBox="1"/>
          <p:nvPr/>
        </p:nvSpPr>
        <p:spPr>
          <a:xfrm>
            <a:off x="2544232" y="1498599"/>
            <a:ext cx="37338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Pestañas para acceder a las pantallas 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Gráficos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Datos tabulados de la trayectoria calculada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Manual de 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FF3AD9-99C7-474D-8033-53A12D739574}"/>
              </a:ext>
            </a:extLst>
          </p:cNvPr>
          <p:cNvSpPr/>
          <p:nvPr/>
        </p:nvSpPr>
        <p:spPr>
          <a:xfrm>
            <a:off x="9245598" y="2274888"/>
            <a:ext cx="2887134" cy="447493"/>
          </a:xfrm>
          <a:prstGeom prst="rect">
            <a:avLst/>
          </a:prstGeom>
          <a:noFill/>
          <a:ln w="38100">
            <a:solidFill>
              <a:srgbClr val="FFC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0B32AD2-D55F-4E59-BEA6-355A497504CB}"/>
              </a:ext>
            </a:extLst>
          </p:cNvPr>
          <p:cNvSpPr/>
          <p:nvPr/>
        </p:nvSpPr>
        <p:spPr>
          <a:xfrm>
            <a:off x="9220200" y="3132669"/>
            <a:ext cx="2836333" cy="3725331"/>
          </a:xfrm>
          <a:prstGeom prst="rect">
            <a:avLst/>
          </a:prstGeom>
          <a:noFill/>
          <a:ln w="38100">
            <a:solidFill>
              <a:srgbClr val="FFC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865D78D-60E7-47B8-85F8-DDC8C61CCA9E}"/>
              </a:ext>
            </a:extLst>
          </p:cNvPr>
          <p:cNvCxnSpPr>
            <a:cxnSpLocks/>
          </p:cNvCxnSpPr>
          <p:nvPr/>
        </p:nvCxnSpPr>
        <p:spPr>
          <a:xfrm>
            <a:off x="8572499" y="2519181"/>
            <a:ext cx="647701" cy="0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F620892-086C-422B-AEE5-85EAE1E6E116}"/>
              </a:ext>
            </a:extLst>
          </p:cNvPr>
          <p:cNvCxnSpPr>
            <a:cxnSpLocks/>
          </p:cNvCxnSpPr>
          <p:nvPr/>
        </p:nvCxnSpPr>
        <p:spPr>
          <a:xfrm>
            <a:off x="8572499" y="3958513"/>
            <a:ext cx="647701" cy="0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7A512E-6615-4713-B86D-1639E1561A0F}"/>
              </a:ext>
            </a:extLst>
          </p:cNvPr>
          <p:cNvSpPr txBox="1"/>
          <p:nvPr/>
        </p:nvSpPr>
        <p:spPr>
          <a:xfrm>
            <a:off x="4838699" y="3759163"/>
            <a:ext cx="373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Formulario para ingresar datos y realizar el cálculo de la trayectoria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80DDA2-B2C0-49C1-8240-F2CBF4B5B14D}"/>
              </a:ext>
            </a:extLst>
          </p:cNvPr>
          <p:cNvSpPr txBox="1"/>
          <p:nvPr/>
        </p:nvSpPr>
        <p:spPr>
          <a:xfrm>
            <a:off x="5834590" y="2071294"/>
            <a:ext cx="2891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Zona en donde se actualizan los datos de la trayectoria calculada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DE8DF21-6F18-45F1-B9EB-A11827B2C725}"/>
              </a:ext>
            </a:extLst>
          </p:cNvPr>
          <p:cNvSpPr/>
          <p:nvPr/>
        </p:nvSpPr>
        <p:spPr>
          <a:xfrm>
            <a:off x="9846734" y="471309"/>
            <a:ext cx="1642534" cy="1754325"/>
          </a:xfrm>
          <a:prstGeom prst="rect">
            <a:avLst/>
          </a:prstGeom>
          <a:noFill/>
          <a:ln w="38100">
            <a:solidFill>
              <a:srgbClr val="FFC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18E31E-D5C9-4FA3-8F29-D88FF427E085}"/>
              </a:ext>
            </a:extLst>
          </p:cNvPr>
          <p:cNvSpPr txBox="1"/>
          <p:nvPr/>
        </p:nvSpPr>
        <p:spPr>
          <a:xfrm>
            <a:off x="5542495" y="632869"/>
            <a:ext cx="3475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Imagen alusiva a la trayectoria calculada (J, S, H)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B5E281E-CC29-47A1-9521-22819AECBAB1}"/>
              </a:ext>
            </a:extLst>
          </p:cNvPr>
          <p:cNvCxnSpPr>
            <a:cxnSpLocks/>
          </p:cNvCxnSpPr>
          <p:nvPr/>
        </p:nvCxnSpPr>
        <p:spPr>
          <a:xfrm>
            <a:off x="8915401" y="1167894"/>
            <a:ext cx="922865" cy="0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188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54A3C30-7FFB-4ED3-8CCF-FC5D93C2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5B2F200-2975-4A68-9729-21918D0415BE}"/>
              </a:ext>
            </a:extLst>
          </p:cNvPr>
          <p:cNvSpPr txBox="1"/>
          <p:nvPr/>
        </p:nvSpPr>
        <p:spPr>
          <a:xfrm>
            <a:off x="3355975" y="2690966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1.- Ingresar datos para realizar el cálculo de la trayectoria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68CEE77-35B2-49F6-B7EA-06D9867FBDC3}"/>
              </a:ext>
            </a:extLst>
          </p:cNvPr>
          <p:cNvSpPr/>
          <p:nvPr/>
        </p:nvSpPr>
        <p:spPr>
          <a:xfrm>
            <a:off x="9194799" y="3014132"/>
            <a:ext cx="2971800" cy="3818467"/>
          </a:xfrm>
          <a:prstGeom prst="rect">
            <a:avLst/>
          </a:prstGeom>
          <a:noFill/>
          <a:ln w="38100">
            <a:solidFill>
              <a:srgbClr val="FFC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C3CD381-2D1C-402D-86D2-FD80FA8EB89C}"/>
              </a:ext>
            </a:extLst>
          </p:cNvPr>
          <p:cNvCxnSpPr>
            <a:cxnSpLocks/>
          </p:cNvCxnSpPr>
          <p:nvPr/>
        </p:nvCxnSpPr>
        <p:spPr>
          <a:xfrm>
            <a:off x="6477000" y="3197538"/>
            <a:ext cx="2667000" cy="0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525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B43A2DE-D6D1-4166-AD0B-0197F297A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D62A91A-EF5B-487F-85EB-ECC7D3D817B5}"/>
              </a:ext>
            </a:extLst>
          </p:cNvPr>
          <p:cNvSpPr txBox="1"/>
          <p:nvPr/>
        </p:nvSpPr>
        <p:spPr>
          <a:xfrm>
            <a:off x="3162300" y="5124975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2.- Una vez ingresado los datos, seleccionar tipo de pozo y presionar botón de “calcular Trayectoria”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27F3F1-FF14-4151-86FD-0FE7EC712466}"/>
              </a:ext>
            </a:extLst>
          </p:cNvPr>
          <p:cNvSpPr/>
          <p:nvPr/>
        </p:nvSpPr>
        <p:spPr>
          <a:xfrm>
            <a:off x="9220200" y="5283203"/>
            <a:ext cx="2836333" cy="1371597"/>
          </a:xfrm>
          <a:prstGeom prst="rect">
            <a:avLst/>
          </a:prstGeom>
          <a:noFill/>
          <a:ln w="38100">
            <a:solidFill>
              <a:srgbClr val="FFC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3A3E352-6138-4BAD-97A8-E64384B0C39B}"/>
              </a:ext>
            </a:extLst>
          </p:cNvPr>
          <p:cNvCxnSpPr>
            <a:cxnSpLocks/>
          </p:cNvCxnSpPr>
          <p:nvPr/>
        </p:nvCxnSpPr>
        <p:spPr>
          <a:xfrm>
            <a:off x="6807200" y="5715298"/>
            <a:ext cx="2353733" cy="0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5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B5E00DB-8734-4DA5-AFB1-B725F6635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AEBCCC3-998D-4CE2-97BE-CB6EE1EE7224}"/>
              </a:ext>
            </a:extLst>
          </p:cNvPr>
          <p:cNvSpPr txBox="1"/>
          <p:nvPr/>
        </p:nvSpPr>
        <p:spPr>
          <a:xfrm>
            <a:off x="9389534" y="361686"/>
            <a:ext cx="269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3.-Se crearan los “Datos tabulados de la trayectoria calculada”, presionando la flecha en la parte superior izquierda regresamos a la ventana principal 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4789211-F119-4FAA-810C-E390B4450230}"/>
              </a:ext>
            </a:extLst>
          </p:cNvPr>
          <p:cNvCxnSpPr>
            <a:cxnSpLocks/>
          </p:cNvCxnSpPr>
          <p:nvPr/>
        </p:nvCxnSpPr>
        <p:spPr>
          <a:xfrm flipH="1">
            <a:off x="364067" y="575737"/>
            <a:ext cx="9025467" cy="0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FC246885-EE0C-4A6A-B4FA-DC5347A3400B}"/>
              </a:ext>
            </a:extLst>
          </p:cNvPr>
          <p:cNvSpPr/>
          <p:nvPr/>
        </p:nvSpPr>
        <p:spPr>
          <a:xfrm>
            <a:off x="8466" y="194733"/>
            <a:ext cx="355601" cy="391851"/>
          </a:xfrm>
          <a:prstGeom prst="rect">
            <a:avLst/>
          </a:prstGeom>
          <a:noFill/>
          <a:ln w="38100">
            <a:solidFill>
              <a:srgbClr val="FFC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37286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F83319C-01F2-4BB3-B695-A352B0195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7C128CA-1782-4290-9820-D3044FEDFD0C}"/>
              </a:ext>
            </a:extLst>
          </p:cNvPr>
          <p:cNvSpPr txBox="1"/>
          <p:nvPr/>
        </p:nvSpPr>
        <p:spPr>
          <a:xfrm>
            <a:off x="101599" y="2596940"/>
            <a:ext cx="21558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4.- Podemos observar los gráficos creados a partir de los datos calculados por el método de mínima curvatura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70B1A1-A6EA-421F-BE33-591700B19177}"/>
              </a:ext>
            </a:extLst>
          </p:cNvPr>
          <p:cNvSpPr/>
          <p:nvPr/>
        </p:nvSpPr>
        <p:spPr>
          <a:xfrm>
            <a:off x="9279471" y="2249491"/>
            <a:ext cx="2732364" cy="448733"/>
          </a:xfrm>
          <a:prstGeom prst="rect">
            <a:avLst/>
          </a:prstGeom>
          <a:noFill/>
          <a:ln w="38100">
            <a:solidFill>
              <a:srgbClr val="FFC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AC29B9A-94BB-430A-834C-6627C10BFBA3}"/>
              </a:ext>
            </a:extLst>
          </p:cNvPr>
          <p:cNvCxnSpPr>
            <a:cxnSpLocks/>
          </p:cNvCxnSpPr>
          <p:nvPr/>
        </p:nvCxnSpPr>
        <p:spPr>
          <a:xfrm flipV="1">
            <a:off x="2159003" y="3352800"/>
            <a:ext cx="601134" cy="562166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7D77903-30CF-437C-A700-1DC48D53ECF4}"/>
              </a:ext>
            </a:extLst>
          </p:cNvPr>
          <p:cNvCxnSpPr>
            <a:cxnSpLocks/>
          </p:cNvCxnSpPr>
          <p:nvPr/>
        </p:nvCxnSpPr>
        <p:spPr>
          <a:xfrm flipV="1">
            <a:off x="2159003" y="3157837"/>
            <a:ext cx="3666067" cy="731765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DF3E62B-46FC-4B1D-B067-E0B37DD50CF7}"/>
              </a:ext>
            </a:extLst>
          </p:cNvPr>
          <p:cNvCxnSpPr>
            <a:cxnSpLocks/>
          </p:cNvCxnSpPr>
          <p:nvPr/>
        </p:nvCxnSpPr>
        <p:spPr>
          <a:xfrm>
            <a:off x="2159003" y="3914966"/>
            <a:ext cx="3733800" cy="1332212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8843C7B-2EC2-47EB-BBA9-4010AEEE9A46}"/>
              </a:ext>
            </a:extLst>
          </p:cNvPr>
          <p:cNvSpPr txBox="1"/>
          <p:nvPr/>
        </p:nvSpPr>
        <p:spPr>
          <a:xfrm>
            <a:off x="6625169" y="1328679"/>
            <a:ext cx="3429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CF00"/>
                </a:solidFill>
                <a:latin typeface="Montserrat" panose="00000500000000000000" pitchFamily="2" charset="0"/>
              </a:rPr>
              <a:t>4.- En esta sección se muestran datos relevantes de la trayectoria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900D8B0-1789-4FB6-912C-7EF767FE732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720670" y="2014710"/>
            <a:ext cx="558801" cy="459148"/>
          </a:xfrm>
          <a:prstGeom prst="straightConnector1">
            <a:avLst/>
          </a:prstGeom>
          <a:ln w="38100">
            <a:solidFill>
              <a:srgbClr val="FFC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9846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19488</TotalTime>
  <Words>538</Words>
  <Application>Microsoft Office PowerPoint</Application>
  <PresentationFormat>Panorámica</PresentationFormat>
  <Paragraphs>45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Tema de Office</vt:lpstr>
      <vt:lpstr>Puntos a considerar en el diseño de la trayectoria tipo I (J)</vt:lpstr>
      <vt:lpstr>Puntos a considerar en el diseño de la trayectoria tipo II (S)</vt:lpstr>
      <vt:lpstr>Puntos a considerar en el diseño de la trayectoria tipo III (H)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</dc:creator>
  <cp:lastModifiedBy>Jaime</cp:lastModifiedBy>
  <cp:revision>33</cp:revision>
  <dcterms:created xsi:type="dcterms:W3CDTF">2025-03-13T10:43:25Z</dcterms:created>
  <dcterms:modified xsi:type="dcterms:W3CDTF">2025-04-07T23:54:45Z</dcterms:modified>
</cp:coreProperties>
</file>