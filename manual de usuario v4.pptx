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67" r:id="rId3"/>
    <p:sldId id="829" r:id="rId4"/>
    <p:sldId id="827" r:id="rId5"/>
    <p:sldId id="828" r:id="rId6"/>
    <p:sldId id="839" r:id="rId7"/>
    <p:sldId id="268" r:id="rId8"/>
    <p:sldId id="830" r:id="rId9"/>
    <p:sldId id="831" r:id="rId10"/>
    <p:sldId id="835" r:id="rId11"/>
    <p:sldId id="840" r:id="rId12"/>
    <p:sldId id="269" r:id="rId13"/>
    <p:sldId id="832" r:id="rId14"/>
    <p:sldId id="837" r:id="rId15"/>
    <p:sldId id="841" r:id="rId16"/>
    <p:sldId id="271" r:id="rId17"/>
    <p:sldId id="256" r:id="rId18"/>
    <p:sldId id="257" r:id="rId19"/>
    <p:sldId id="258" r:id="rId20"/>
    <p:sldId id="270" r:id="rId21"/>
  </p:sldIdLst>
  <p:sldSz cx="12192000" cy="6858000"/>
  <p:notesSz cx="6858000" cy="9144000"/>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F00"/>
    <a:srgbClr val="001A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85" d="100"/>
          <a:sy n="85" d="100"/>
        </p:scale>
        <p:origin x="499"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B4659F-1FFC-48A2-A357-C84BEA2B095D}" type="datetimeFigureOut">
              <a:rPr lang="es-419" smtClean="0"/>
              <a:t>29/4/2025</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4EC90A-8C43-402D-AB8F-1771FFF995A3}" type="slidenum">
              <a:rPr lang="es-419" smtClean="0"/>
              <a:t>‹Nº›</a:t>
            </a:fld>
            <a:endParaRPr lang="es-419"/>
          </a:p>
        </p:txBody>
      </p:sp>
    </p:spTree>
    <p:extLst>
      <p:ext uri="{BB962C8B-B14F-4D97-AF65-F5344CB8AC3E}">
        <p14:creationId xmlns:p14="http://schemas.microsoft.com/office/powerpoint/2010/main" val="1715088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dirty="0"/>
              <a:t>Para un </a:t>
            </a:r>
            <a:r>
              <a:rPr lang="es-419" dirty="0" err="1"/>
              <a:t>bur</a:t>
            </a:r>
            <a:r>
              <a:rPr lang="es-419" dirty="0"/>
              <a:t> de 8/30m, </a:t>
            </a:r>
            <a:r>
              <a:rPr lang="es-419" dirty="0" err="1"/>
              <a:t>Rc</a:t>
            </a:r>
            <a:r>
              <a:rPr lang="es-419" dirty="0"/>
              <a:t>=180/pi*(1/8)*30=214----- para un </a:t>
            </a:r>
            <a:r>
              <a:rPr lang="es-419" dirty="0" err="1"/>
              <a:t>bur</a:t>
            </a:r>
            <a:r>
              <a:rPr lang="es-419" dirty="0"/>
              <a:t> de 1/30m, </a:t>
            </a:r>
            <a:r>
              <a:rPr lang="es-419" dirty="0" err="1"/>
              <a:t>Rc</a:t>
            </a:r>
            <a:r>
              <a:rPr lang="es-419" dirty="0"/>
              <a:t>=180/pi*(1/1)*30=1709</a:t>
            </a:r>
          </a:p>
        </p:txBody>
      </p:sp>
      <p:sp>
        <p:nvSpPr>
          <p:cNvPr id="4" name="Marcador de número de diapositiva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2C7C61F-A23B-4D7F-BAB6-4FD0AFA6F51C}"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3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57026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dirty="0"/>
              <a:t>Para un </a:t>
            </a:r>
            <a:r>
              <a:rPr lang="es-419" dirty="0" err="1"/>
              <a:t>bur</a:t>
            </a:r>
            <a:r>
              <a:rPr lang="es-419" dirty="0"/>
              <a:t> de 8/30m, </a:t>
            </a:r>
            <a:r>
              <a:rPr lang="es-419" dirty="0" err="1"/>
              <a:t>Rc</a:t>
            </a:r>
            <a:r>
              <a:rPr lang="es-419" dirty="0"/>
              <a:t>=180/pi*(1/8)*30=214----- para un </a:t>
            </a:r>
            <a:r>
              <a:rPr lang="es-419" dirty="0" err="1"/>
              <a:t>bur</a:t>
            </a:r>
            <a:r>
              <a:rPr lang="es-419" dirty="0"/>
              <a:t> de 1/30m, </a:t>
            </a:r>
            <a:r>
              <a:rPr lang="es-419" dirty="0" err="1"/>
              <a:t>Rc</a:t>
            </a:r>
            <a:r>
              <a:rPr lang="es-419" dirty="0"/>
              <a:t>=180/pi*(1/1)*30=1709</a:t>
            </a:r>
          </a:p>
        </p:txBody>
      </p:sp>
      <p:sp>
        <p:nvSpPr>
          <p:cNvPr id="4" name="Marcador de número de diapositiva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2C7C61F-A23B-4D7F-BAB6-4FD0AFA6F51C}"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3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459337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231555-F1C0-470E-94F3-EAB569CBCA5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C8A13912-ADF3-49FE-A747-A63868898A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287CE195-AF23-40D3-971B-F0B99EA5A3B7}"/>
              </a:ext>
            </a:extLst>
          </p:cNvPr>
          <p:cNvSpPr>
            <a:spLocks noGrp="1"/>
          </p:cNvSpPr>
          <p:nvPr>
            <p:ph type="dt" sz="half" idx="10"/>
          </p:nvPr>
        </p:nvSpPr>
        <p:spPr/>
        <p:txBody>
          <a:bodyPr/>
          <a:lstStyle/>
          <a:p>
            <a:fld id="{BAA53C17-4F2D-4F73-9A9F-B0482B31BB62}" type="datetimeFigureOut">
              <a:rPr lang="es-419" smtClean="0"/>
              <a:t>29/4/2025</a:t>
            </a:fld>
            <a:endParaRPr lang="es-419"/>
          </a:p>
        </p:txBody>
      </p:sp>
      <p:sp>
        <p:nvSpPr>
          <p:cNvPr id="5" name="Marcador de pie de página 4">
            <a:extLst>
              <a:ext uri="{FF2B5EF4-FFF2-40B4-BE49-F238E27FC236}">
                <a16:creationId xmlns:a16="http://schemas.microsoft.com/office/drawing/2014/main" id="{281E315A-235F-47CB-9B0F-D46A1D558C3F}"/>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E6E48E32-3783-4316-9246-C2EB703ADD91}"/>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265746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6AA34F-3671-45B3-A8A0-4036F4692DD0}"/>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A869438E-B290-4334-B492-E5BEACCF43D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D594981D-BE16-44B8-9496-A8ADCF47872B}"/>
              </a:ext>
            </a:extLst>
          </p:cNvPr>
          <p:cNvSpPr>
            <a:spLocks noGrp="1"/>
          </p:cNvSpPr>
          <p:nvPr>
            <p:ph type="dt" sz="half" idx="10"/>
          </p:nvPr>
        </p:nvSpPr>
        <p:spPr/>
        <p:txBody>
          <a:bodyPr/>
          <a:lstStyle/>
          <a:p>
            <a:fld id="{BAA53C17-4F2D-4F73-9A9F-B0482B31BB62}" type="datetimeFigureOut">
              <a:rPr lang="es-419" smtClean="0"/>
              <a:t>29/4/2025</a:t>
            </a:fld>
            <a:endParaRPr lang="es-419"/>
          </a:p>
        </p:txBody>
      </p:sp>
      <p:sp>
        <p:nvSpPr>
          <p:cNvPr id="5" name="Marcador de pie de página 4">
            <a:extLst>
              <a:ext uri="{FF2B5EF4-FFF2-40B4-BE49-F238E27FC236}">
                <a16:creationId xmlns:a16="http://schemas.microsoft.com/office/drawing/2014/main" id="{153B1965-A14E-47D3-93C9-6BE243388145}"/>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9314D155-802B-4492-966F-26C72C44C5D6}"/>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80745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296FDC-CC73-46FC-8C12-96EC733A28A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9AD87590-6B02-4456-AAC2-D3C17AA867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A519D21-3BDA-4C10-9FE9-ACFC183465F4}"/>
              </a:ext>
            </a:extLst>
          </p:cNvPr>
          <p:cNvSpPr>
            <a:spLocks noGrp="1"/>
          </p:cNvSpPr>
          <p:nvPr>
            <p:ph type="dt" sz="half" idx="10"/>
          </p:nvPr>
        </p:nvSpPr>
        <p:spPr/>
        <p:txBody>
          <a:bodyPr/>
          <a:lstStyle/>
          <a:p>
            <a:fld id="{BAA53C17-4F2D-4F73-9A9F-B0482B31BB62}" type="datetimeFigureOut">
              <a:rPr lang="es-419" smtClean="0"/>
              <a:t>29/4/2025</a:t>
            </a:fld>
            <a:endParaRPr lang="es-419"/>
          </a:p>
        </p:txBody>
      </p:sp>
      <p:sp>
        <p:nvSpPr>
          <p:cNvPr id="5" name="Marcador de pie de página 4">
            <a:extLst>
              <a:ext uri="{FF2B5EF4-FFF2-40B4-BE49-F238E27FC236}">
                <a16:creationId xmlns:a16="http://schemas.microsoft.com/office/drawing/2014/main" id="{5F90F58A-FA2D-4C30-A7A0-D77523E76E1D}"/>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1DC83AAB-3340-4907-B640-F4D0849A3619}"/>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142993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046CD6-5405-4A72-AB23-5B1C35F5F86A}"/>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1FFDC09B-D32B-489E-997B-DB658197A4D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contenido 3">
            <a:extLst>
              <a:ext uri="{FF2B5EF4-FFF2-40B4-BE49-F238E27FC236}">
                <a16:creationId xmlns:a16="http://schemas.microsoft.com/office/drawing/2014/main" id="{1FC8431D-7628-43C3-B47D-E7E6E4A9E5D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fecha 4">
            <a:extLst>
              <a:ext uri="{FF2B5EF4-FFF2-40B4-BE49-F238E27FC236}">
                <a16:creationId xmlns:a16="http://schemas.microsoft.com/office/drawing/2014/main" id="{EDFB0CC5-6940-45FD-8750-643FD4F99615}"/>
              </a:ext>
            </a:extLst>
          </p:cNvPr>
          <p:cNvSpPr>
            <a:spLocks noGrp="1"/>
          </p:cNvSpPr>
          <p:nvPr>
            <p:ph type="dt" sz="half" idx="10"/>
          </p:nvPr>
        </p:nvSpPr>
        <p:spPr/>
        <p:txBody>
          <a:bodyPr/>
          <a:lstStyle/>
          <a:p>
            <a:fld id="{BAA53C17-4F2D-4F73-9A9F-B0482B31BB62}" type="datetimeFigureOut">
              <a:rPr lang="es-419" smtClean="0"/>
              <a:t>29/4/2025</a:t>
            </a:fld>
            <a:endParaRPr lang="es-419"/>
          </a:p>
        </p:txBody>
      </p:sp>
      <p:sp>
        <p:nvSpPr>
          <p:cNvPr id="6" name="Marcador de pie de página 5">
            <a:extLst>
              <a:ext uri="{FF2B5EF4-FFF2-40B4-BE49-F238E27FC236}">
                <a16:creationId xmlns:a16="http://schemas.microsoft.com/office/drawing/2014/main" id="{40C51ED3-D8C7-41F7-902E-5CF297E0A368}"/>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EBF44910-A809-46D8-8581-0F8200EAFA25}"/>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1374961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86E66E-F347-487B-9EBF-CB659B846C5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ECCD7966-4B9B-468A-8DD7-71F2CB7F71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993C3B1-9968-4F6F-B973-9BFAA9D6FBC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texto 4">
            <a:extLst>
              <a:ext uri="{FF2B5EF4-FFF2-40B4-BE49-F238E27FC236}">
                <a16:creationId xmlns:a16="http://schemas.microsoft.com/office/drawing/2014/main" id="{DC84B1BC-A2B3-4820-B39B-872A49D0E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9DBAD1C-0310-4CB6-AAA0-8CC3FFA643B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7" name="Marcador de fecha 6">
            <a:extLst>
              <a:ext uri="{FF2B5EF4-FFF2-40B4-BE49-F238E27FC236}">
                <a16:creationId xmlns:a16="http://schemas.microsoft.com/office/drawing/2014/main" id="{6D614592-EC25-4182-AAD8-96B447A9C3A8}"/>
              </a:ext>
            </a:extLst>
          </p:cNvPr>
          <p:cNvSpPr>
            <a:spLocks noGrp="1"/>
          </p:cNvSpPr>
          <p:nvPr>
            <p:ph type="dt" sz="half" idx="10"/>
          </p:nvPr>
        </p:nvSpPr>
        <p:spPr/>
        <p:txBody>
          <a:bodyPr/>
          <a:lstStyle/>
          <a:p>
            <a:fld id="{BAA53C17-4F2D-4F73-9A9F-B0482B31BB62}" type="datetimeFigureOut">
              <a:rPr lang="es-419" smtClean="0"/>
              <a:t>29/4/2025</a:t>
            </a:fld>
            <a:endParaRPr lang="es-419"/>
          </a:p>
        </p:txBody>
      </p:sp>
      <p:sp>
        <p:nvSpPr>
          <p:cNvPr id="8" name="Marcador de pie de página 7">
            <a:extLst>
              <a:ext uri="{FF2B5EF4-FFF2-40B4-BE49-F238E27FC236}">
                <a16:creationId xmlns:a16="http://schemas.microsoft.com/office/drawing/2014/main" id="{AAFF188F-8249-4537-BB96-3883C125655E}"/>
              </a:ext>
            </a:extLst>
          </p:cNvPr>
          <p:cNvSpPr>
            <a:spLocks noGrp="1"/>
          </p:cNvSpPr>
          <p:nvPr>
            <p:ph type="ftr" sz="quarter" idx="11"/>
          </p:nvPr>
        </p:nvSpPr>
        <p:spPr/>
        <p:txBody>
          <a:bodyPr/>
          <a:lstStyle/>
          <a:p>
            <a:endParaRPr lang="es-419"/>
          </a:p>
        </p:txBody>
      </p:sp>
      <p:sp>
        <p:nvSpPr>
          <p:cNvPr id="9" name="Marcador de número de diapositiva 8">
            <a:extLst>
              <a:ext uri="{FF2B5EF4-FFF2-40B4-BE49-F238E27FC236}">
                <a16:creationId xmlns:a16="http://schemas.microsoft.com/office/drawing/2014/main" id="{A739028F-74C2-4FD6-B7FC-96AB3B974CD6}"/>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2487391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22D621-CA93-4AA5-9E95-30985B4AF79B}"/>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fecha 2">
            <a:extLst>
              <a:ext uri="{FF2B5EF4-FFF2-40B4-BE49-F238E27FC236}">
                <a16:creationId xmlns:a16="http://schemas.microsoft.com/office/drawing/2014/main" id="{A9836A41-FE66-406A-8056-A2A8DF277C3C}"/>
              </a:ext>
            </a:extLst>
          </p:cNvPr>
          <p:cNvSpPr>
            <a:spLocks noGrp="1"/>
          </p:cNvSpPr>
          <p:nvPr>
            <p:ph type="dt" sz="half" idx="10"/>
          </p:nvPr>
        </p:nvSpPr>
        <p:spPr/>
        <p:txBody>
          <a:bodyPr/>
          <a:lstStyle/>
          <a:p>
            <a:fld id="{BAA53C17-4F2D-4F73-9A9F-B0482B31BB62}" type="datetimeFigureOut">
              <a:rPr lang="es-419" smtClean="0"/>
              <a:t>29/4/2025</a:t>
            </a:fld>
            <a:endParaRPr lang="es-419"/>
          </a:p>
        </p:txBody>
      </p:sp>
      <p:sp>
        <p:nvSpPr>
          <p:cNvPr id="4" name="Marcador de pie de página 3">
            <a:extLst>
              <a:ext uri="{FF2B5EF4-FFF2-40B4-BE49-F238E27FC236}">
                <a16:creationId xmlns:a16="http://schemas.microsoft.com/office/drawing/2014/main" id="{D44DDDAB-6211-4451-8D9F-AF3D69FC7B3E}"/>
              </a:ext>
            </a:extLst>
          </p:cNvPr>
          <p:cNvSpPr>
            <a:spLocks noGrp="1"/>
          </p:cNvSpPr>
          <p:nvPr>
            <p:ph type="ftr" sz="quarter" idx="11"/>
          </p:nvPr>
        </p:nvSpPr>
        <p:spPr/>
        <p:txBody>
          <a:bodyPr/>
          <a:lstStyle/>
          <a:p>
            <a:endParaRPr lang="es-419"/>
          </a:p>
        </p:txBody>
      </p:sp>
      <p:sp>
        <p:nvSpPr>
          <p:cNvPr id="5" name="Marcador de número de diapositiva 4">
            <a:extLst>
              <a:ext uri="{FF2B5EF4-FFF2-40B4-BE49-F238E27FC236}">
                <a16:creationId xmlns:a16="http://schemas.microsoft.com/office/drawing/2014/main" id="{F99E9E1B-A215-4DCF-8A5C-1E23CAD89518}"/>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2450278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225B648-B6A1-4F41-926A-49C46F4B374B}"/>
              </a:ext>
            </a:extLst>
          </p:cNvPr>
          <p:cNvSpPr>
            <a:spLocks noGrp="1"/>
          </p:cNvSpPr>
          <p:nvPr>
            <p:ph type="dt" sz="half" idx="10"/>
          </p:nvPr>
        </p:nvSpPr>
        <p:spPr/>
        <p:txBody>
          <a:bodyPr/>
          <a:lstStyle/>
          <a:p>
            <a:fld id="{BAA53C17-4F2D-4F73-9A9F-B0482B31BB62}" type="datetimeFigureOut">
              <a:rPr lang="es-419" smtClean="0"/>
              <a:t>29/4/2025</a:t>
            </a:fld>
            <a:endParaRPr lang="es-419"/>
          </a:p>
        </p:txBody>
      </p:sp>
      <p:sp>
        <p:nvSpPr>
          <p:cNvPr id="3" name="Marcador de pie de página 2">
            <a:extLst>
              <a:ext uri="{FF2B5EF4-FFF2-40B4-BE49-F238E27FC236}">
                <a16:creationId xmlns:a16="http://schemas.microsoft.com/office/drawing/2014/main" id="{3F6CC9D2-FC8F-400E-90E2-1C97C4ACFA39}"/>
              </a:ext>
            </a:extLst>
          </p:cNvPr>
          <p:cNvSpPr>
            <a:spLocks noGrp="1"/>
          </p:cNvSpPr>
          <p:nvPr>
            <p:ph type="ftr" sz="quarter" idx="11"/>
          </p:nvPr>
        </p:nvSpPr>
        <p:spPr/>
        <p:txBody>
          <a:bodyPr/>
          <a:lstStyle/>
          <a:p>
            <a:endParaRPr lang="es-419"/>
          </a:p>
        </p:txBody>
      </p:sp>
      <p:sp>
        <p:nvSpPr>
          <p:cNvPr id="4" name="Marcador de número de diapositiva 3">
            <a:extLst>
              <a:ext uri="{FF2B5EF4-FFF2-40B4-BE49-F238E27FC236}">
                <a16:creationId xmlns:a16="http://schemas.microsoft.com/office/drawing/2014/main" id="{B323CBC3-9CB6-4411-8F82-CFE9B32806FA}"/>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2120137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C60F69-C11A-454B-A6B8-02A7C1C4213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0C8900E5-E200-407A-A78E-F770958ED9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texto 3">
            <a:extLst>
              <a:ext uri="{FF2B5EF4-FFF2-40B4-BE49-F238E27FC236}">
                <a16:creationId xmlns:a16="http://schemas.microsoft.com/office/drawing/2014/main" id="{7240685C-D413-4643-B404-ECAF64F8A1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C9FC914-DEA0-4ABD-A962-C0BE5A7EE8BB}"/>
              </a:ext>
            </a:extLst>
          </p:cNvPr>
          <p:cNvSpPr>
            <a:spLocks noGrp="1"/>
          </p:cNvSpPr>
          <p:nvPr>
            <p:ph type="dt" sz="half" idx="10"/>
          </p:nvPr>
        </p:nvSpPr>
        <p:spPr/>
        <p:txBody>
          <a:bodyPr/>
          <a:lstStyle/>
          <a:p>
            <a:fld id="{BAA53C17-4F2D-4F73-9A9F-B0482B31BB62}" type="datetimeFigureOut">
              <a:rPr lang="es-419" smtClean="0"/>
              <a:t>29/4/2025</a:t>
            </a:fld>
            <a:endParaRPr lang="es-419"/>
          </a:p>
        </p:txBody>
      </p:sp>
      <p:sp>
        <p:nvSpPr>
          <p:cNvPr id="6" name="Marcador de pie de página 5">
            <a:extLst>
              <a:ext uri="{FF2B5EF4-FFF2-40B4-BE49-F238E27FC236}">
                <a16:creationId xmlns:a16="http://schemas.microsoft.com/office/drawing/2014/main" id="{1EFEFF65-2FD4-4650-81D7-668B646B68EE}"/>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E84EAA5F-51DA-4F87-BDA1-9566BFB2434C}"/>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1412640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D16EB3-08C9-4C36-B536-CA6E308BFB2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posición de imagen 2">
            <a:extLst>
              <a:ext uri="{FF2B5EF4-FFF2-40B4-BE49-F238E27FC236}">
                <a16:creationId xmlns:a16="http://schemas.microsoft.com/office/drawing/2014/main" id="{9ACDD65D-7BB0-4310-8AFA-6280C6879A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419"/>
          </a:p>
        </p:txBody>
      </p:sp>
      <p:sp>
        <p:nvSpPr>
          <p:cNvPr id="4" name="Marcador de texto 3">
            <a:extLst>
              <a:ext uri="{FF2B5EF4-FFF2-40B4-BE49-F238E27FC236}">
                <a16:creationId xmlns:a16="http://schemas.microsoft.com/office/drawing/2014/main" id="{04C4A2B8-2664-4403-8551-5ACD03195C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B43E127-84E0-4383-B220-CCAC30B0E7CB}"/>
              </a:ext>
            </a:extLst>
          </p:cNvPr>
          <p:cNvSpPr>
            <a:spLocks noGrp="1"/>
          </p:cNvSpPr>
          <p:nvPr>
            <p:ph type="dt" sz="half" idx="10"/>
          </p:nvPr>
        </p:nvSpPr>
        <p:spPr/>
        <p:txBody>
          <a:bodyPr/>
          <a:lstStyle/>
          <a:p>
            <a:fld id="{BAA53C17-4F2D-4F73-9A9F-B0482B31BB62}" type="datetimeFigureOut">
              <a:rPr lang="es-419" smtClean="0"/>
              <a:t>29/4/2025</a:t>
            </a:fld>
            <a:endParaRPr lang="es-419"/>
          </a:p>
        </p:txBody>
      </p:sp>
      <p:sp>
        <p:nvSpPr>
          <p:cNvPr id="6" name="Marcador de pie de página 5">
            <a:extLst>
              <a:ext uri="{FF2B5EF4-FFF2-40B4-BE49-F238E27FC236}">
                <a16:creationId xmlns:a16="http://schemas.microsoft.com/office/drawing/2014/main" id="{4D63B9BD-6BCD-4325-B499-FBF246B20BEC}"/>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A1216578-71D6-4DD1-8364-29771DE33BA7}"/>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2517406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CEB82B-C3E4-4616-B67F-5BFCE14A6643}"/>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12076899-28CD-4167-927D-AA073418970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2253AE60-B42A-40CB-99C2-FB4C945ECA93}"/>
              </a:ext>
            </a:extLst>
          </p:cNvPr>
          <p:cNvSpPr>
            <a:spLocks noGrp="1"/>
          </p:cNvSpPr>
          <p:nvPr>
            <p:ph type="dt" sz="half" idx="10"/>
          </p:nvPr>
        </p:nvSpPr>
        <p:spPr/>
        <p:txBody>
          <a:bodyPr/>
          <a:lstStyle/>
          <a:p>
            <a:fld id="{BAA53C17-4F2D-4F73-9A9F-B0482B31BB62}" type="datetimeFigureOut">
              <a:rPr lang="es-419" smtClean="0"/>
              <a:t>29/4/2025</a:t>
            </a:fld>
            <a:endParaRPr lang="es-419"/>
          </a:p>
        </p:txBody>
      </p:sp>
      <p:sp>
        <p:nvSpPr>
          <p:cNvPr id="5" name="Marcador de pie de página 4">
            <a:extLst>
              <a:ext uri="{FF2B5EF4-FFF2-40B4-BE49-F238E27FC236}">
                <a16:creationId xmlns:a16="http://schemas.microsoft.com/office/drawing/2014/main" id="{D1698D96-89DE-4A63-8BEC-B3E952E1A5BA}"/>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10F0074F-B768-44F4-BD44-93E4E7F7656F}"/>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2721635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506B853-C05D-454F-94E1-05A166A8CB5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8C747E56-3998-4D2D-9039-EFABC7C4A96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AB5B6ABC-D6F0-4E7C-8DB9-717F487C57C8}"/>
              </a:ext>
            </a:extLst>
          </p:cNvPr>
          <p:cNvSpPr>
            <a:spLocks noGrp="1"/>
          </p:cNvSpPr>
          <p:nvPr>
            <p:ph type="dt" sz="half" idx="10"/>
          </p:nvPr>
        </p:nvSpPr>
        <p:spPr/>
        <p:txBody>
          <a:bodyPr/>
          <a:lstStyle/>
          <a:p>
            <a:fld id="{BAA53C17-4F2D-4F73-9A9F-B0482B31BB62}" type="datetimeFigureOut">
              <a:rPr lang="es-419" smtClean="0"/>
              <a:t>29/4/2025</a:t>
            </a:fld>
            <a:endParaRPr lang="es-419"/>
          </a:p>
        </p:txBody>
      </p:sp>
      <p:sp>
        <p:nvSpPr>
          <p:cNvPr id="5" name="Marcador de pie de página 4">
            <a:extLst>
              <a:ext uri="{FF2B5EF4-FFF2-40B4-BE49-F238E27FC236}">
                <a16:creationId xmlns:a16="http://schemas.microsoft.com/office/drawing/2014/main" id="{06C47E2C-FC8C-4084-A5A8-80F0DCA5806C}"/>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D26CEA51-1885-4950-87A5-1B62E262D23F}"/>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25513673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2" name="CuadroTexto 1"/>
          <p:cNvSpPr txBox="1"/>
          <p:nvPr userDrawn="1"/>
        </p:nvSpPr>
        <p:spPr>
          <a:xfrm>
            <a:off x="0" y="6513721"/>
            <a:ext cx="1540550" cy="307777"/>
          </a:xfrm>
          <a:prstGeom prst="rect">
            <a:avLst/>
          </a:prstGeom>
          <a:noFill/>
        </p:spPr>
        <p:txBody>
          <a:bodyPr wrap="none" rtlCol="0">
            <a:spAutoFit/>
          </a:bodyPr>
          <a:lstStyle/>
          <a:p>
            <a:r>
              <a:rPr lang="es-MX" sz="1400" dirty="0">
                <a:solidFill>
                  <a:srgbClr val="002060"/>
                </a:solidFill>
              </a:rPr>
              <a:t>www.ttanis.com</a:t>
            </a:r>
          </a:p>
        </p:txBody>
      </p:sp>
      <p:sp>
        <p:nvSpPr>
          <p:cNvPr id="6" name="CuadroTexto 5"/>
          <p:cNvSpPr txBox="1"/>
          <p:nvPr userDrawn="1"/>
        </p:nvSpPr>
        <p:spPr>
          <a:xfrm>
            <a:off x="8705576" y="6550224"/>
            <a:ext cx="2614818" cy="307777"/>
          </a:xfrm>
          <a:prstGeom prst="rect">
            <a:avLst/>
          </a:prstGeom>
          <a:noFill/>
        </p:spPr>
        <p:txBody>
          <a:bodyPr wrap="none" rtlCol="0">
            <a:spAutoFit/>
          </a:bodyPr>
          <a:lstStyle/>
          <a:p>
            <a:r>
              <a:rPr lang="es-MX" sz="1400" dirty="0">
                <a:solidFill>
                  <a:srgbClr val="002060"/>
                </a:solidFill>
              </a:rPr>
              <a:t>david.velazquez@ttanis.com</a:t>
            </a:r>
          </a:p>
        </p:txBody>
      </p:sp>
      <p:pic>
        <p:nvPicPr>
          <p:cNvPr id="13" name="Imagen 12">
            <a:extLst>
              <a:ext uri="{FF2B5EF4-FFF2-40B4-BE49-F238E27FC236}">
                <a16:creationId xmlns:a16="http://schemas.microsoft.com/office/drawing/2014/main" id="{699694FD-D037-1B07-9E98-F40D2E202B5A}"/>
              </a:ext>
            </a:extLst>
          </p:cNvPr>
          <p:cNvPicPr>
            <a:picLocks noChangeAspect="1"/>
          </p:cNvPicPr>
          <p:nvPr userDrawn="1"/>
        </p:nvPicPr>
        <p:blipFill>
          <a:blip r:embed="rId2"/>
          <a:stretch>
            <a:fillRect/>
          </a:stretch>
        </p:blipFill>
        <p:spPr>
          <a:xfrm>
            <a:off x="1183025" y="1722713"/>
            <a:ext cx="9825949" cy="3412574"/>
          </a:xfrm>
          <a:prstGeom prst="rect">
            <a:avLst/>
          </a:prstGeom>
        </p:spPr>
      </p:pic>
    </p:spTree>
    <p:extLst>
      <p:ext uri="{BB962C8B-B14F-4D97-AF65-F5344CB8AC3E}">
        <p14:creationId xmlns:p14="http://schemas.microsoft.com/office/powerpoint/2010/main" val="217862678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210370" name="Rectangle 2"/>
          <p:cNvSpPr>
            <a:spLocks noGrp="1" noChangeArrowheads="1"/>
          </p:cNvSpPr>
          <p:nvPr>
            <p:ph type="ctrTitle" hasCustomPrompt="1"/>
          </p:nvPr>
        </p:nvSpPr>
        <p:spPr>
          <a:xfrm>
            <a:off x="569337" y="3856730"/>
            <a:ext cx="11040000" cy="1868877"/>
          </a:xfrm>
          <a:prstGeom prst="rect">
            <a:avLst/>
          </a:prstGeom>
        </p:spPr>
        <p:txBody>
          <a:bodyPr anchor="ctr">
            <a:noAutofit/>
          </a:bodyPr>
          <a:lstStyle>
            <a:lvl1pPr algn="ctr">
              <a:defRPr sz="4800" b="1">
                <a:ln>
                  <a:solidFill>
                    <a:srgbClr val="001A66"/>
                  </a:solidFill>
                </a:ln>
                <a:solidFill>
                  <a:srgbClr val="001A66"/>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2" name="CuadroTexto 1"/>
          <p:cNvSpPr txBox="1"/>
          <p:nvPr userDrawn="1"/>
        </p:nvSpPr>
        <p:spPr>
          <a:xfrm>
            <a:off x="0" y="6538773"/>
            <a:ext cx="1540550" cy="307777"/>
          </a:xfrm>
          <a:prstGeom prst="rect">
            <a:avLst/>
          </a:prstGeom>
          <a:noFill/>
        </p:spPr>
        <p:txBody>
          <a:bodyPr wrap="none" rtlCol="0">
            <a:spAutoFit/>
          </a:bodyPr>
          <a:lstStyle/>
          <a:p>
            <a:r>
              <a:rPr lang="es-MX" sz="1400" dirty="0">
                <a:solidFill>
                  <a:srgbClr val="002060"/>
                </a:solidFill>
              </a:rPr>
              <a:t>www.ttanis.com</a:t>
            </a:r>
          </a:p>
        </p:txBody>
      </p:sp>
      <p:sp>
        <p:nvSpPr>
          <p:cNvPr id="8" name="CuadroTexto 7"/>
          <p:cNvSpPr txBox="1"/>
          <p:nvPr userDrawn="1"/>
        </p:nvSpPr>
        <p:spPr>
          <a:xfrm>
            <a:off x="8705576" y="6513720"/>
            <a:ext cx="2614818" cy="307777"/>
          </a:xfrm>
          <a:prstGeom prst="rect">
            <a:avLst/>
          </a:prstGeom>
          <a:noFill/>
        </p:spPr>
        <p:txBody>
          <a:bodyPr wrap="none" rtlCol="0">
            <a:spAutoFit/>
          </a:bodyPr>
          <a:lstStyle/>
          <a:p>
            <a:r>
              <a:rPr lang="es-MX" sz="1400" dirty="0">
                <a:solidFill>
                  <a:srgbClr val="002060"/>
                </a:solidFill>
              </a:rPr>
              <a:t>david.velazquez@ttanis.com</a:t>
            </a:r>
          </a:p>
        </p:txBody>
      </p:sp>
      <p:pic>
        <p:nvPicPr>
          <p:cNvPr id="9" name="Imagen 8">
            <a:extLst>
              <a:ext uri="{FF2B5EF4-FFF2-40B4-BE49-F238E27FC236}">
                <a16:creationId xmlns:a16="http://schemas.microsoft.com/office/drawing/2014/main" id="{E62E650F-00F2-CD83-03FA-EA7569552398}"/>
              </a:ext>
            </a:extLst>
          </p:cNvPr>
          <p:cNvPicPr>
            <a:picLocks noChangeAspect="1"/>
          </p:cNvPicPr>
          <p:nvPr userDrawn="1"/>
        </p:nvPicPr>
        <p:blipFill>
          <a:blip r:embed="rId2"/>
          <a:stretch>
            <a:fillRect/>
          </a:stretch>
        </p:blipFill>
        <p:spPr>
          <a:xfrm>
            <a:off x="2665610" y="1046236"/>
            <a:ext cx="6860780" cy="2382764"/>
          </a:xfrm>
          <a:prstGeom prst="rect">
            <a:avLst/>
          </a:prstGeom>
        </p:spPr>
      </p:pic>
    </p:spTree>
    <p:extLst>
      <p:ext uri="{BB962C8B-B14F-4D97-AF65-F5344CB8AC3E}">
        <p14:creationId xmlns:p14="http://schemas.microsoft.com/office/powerpoint/2010/main" val="2233113801"/>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210370" name="Rectangle 2"/>
          <p:cNvSpPr>
            <a:spLocks noGrp="1" noChangeArrowheads="1"/>
          </p:cNvSpPr>
          <p:nvPr>
            <p:ph type="ctrTitle" hasCustomPrompt="1"/>
          </p:nvPr>
        </p:nvSpPr>
        <p:spPr>
          <a:xfrm>
            <a:off x="585380" y="3016332"/>
            <a:ext cx="11040000" cy="1440000"/>
          </a:xfrm>
          <a:prstGeom prst="rect">
            <a:avLst/>
          </a:prstGeom>
        </p:spPr>
        <p:txBody>
          <a:bodyPr anchor="ctr"/>
          <a:lstStyle>
            <a:lvl1pPr algn="ctr">
              <a:defRPr b="1">
                <a:solidFill>
                  <a:srgbClr val="001A66"/>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6" name="Rectangle 3"/>
          <p:cNvSpPr>
            <a:spLocks noGrp="1" noChangeArrowheads="1"/>
          </p:cNvSpPr>
          <p:nvPr>
            <p:ph type="subTitle" idx="1"/>
          </p:nvPr>
        </p:nvSpPr>
        <p:spPr>
          <a:xfrm>
            <a:off x="582188" y="4858879"/>
            <a:ext cx="11040000" cy="1620000"/>
          </a:xfrm>
          <a:prstGeom prst="rect">
            <a:avLst/>
          </a:prstGeom>
        </p:spPr>
        <p:txBody>
          <a:bodyPr>
            <a:normAutofit/>
          </a:bodyPr>
          <a:lstStyle>
            <a:lvl1pPr marL="0" indent="0" algn="ctr">
              <a:buFontTx/>
              <a:buNone/>
              <a:defRPr sz="2000" b="1">
                <a:solidFill>
                  <a:schemeClr val="tx1"/>
                </a:solidFill>
              </a:defRPr>
            </a:lvl1pPr>
          </a:lstStyle>
          <a:p>
            <a:r>
              <a:rPr lang="en-US" dirty="0"/>
              <a:t>Click to edit Master subtitle style</a:t>
            </a:r>
          </a:p>
        </p:txBody>
      </p:sp>
      <p:sp>
        <p:nvSpPr>
          <p:cNvPr id="2" name="CuadroTexto 1"/>
          <p:cNvSpPr txBox="1"/>
          <p:nvPr userDrawn="1"/>
        </p:nvSpPr>
        <p:spPr>
          <a:xfrm>
            <a:off x="0" y="6538773"/>
            <a:ext cx="1540550" cy="307777"/>
          </a:xfrm>
          <a:prstGeom prst="rect">
            <a:avLst/>
          </a:prstGeom>
          <a:noFill/>
        </p:spPr>
        <p:txBody>
          <a:bodyPr wrap="none" rtlCol="0">
            <a:spAutoFit/>
          </a:bodyPr>
          <a:lstStyle/>
          <a:p>
            <a:r>
              <a:rPr lang="es-MX" sz="1400" dirty="0">
                <a:solidFill>
                  <a:srgbClr val="002060"/>
                </a:solidFill>
              </a:rPr>
              <a:t>www.ttanis.com</a:t>
            </a:r>
          </a:p>
        </p:txBody>
      </p:sp>
      <p:sp>
        <p:nvSpPr>
          <p:cNvPr id="8" name="CuadroTexto 7"/>
          <p:cNvSpPr txBox="1"/>
          <p:nvPr userDrawn="1"/>
        </p:nvSpPr>
        <p:spPr>
          <a:xfrm>
            <a:off x="8705576" y="6513720"/>
            <a:ext cx="2614818" cy="307777"/>
          </a:xfrm>
          <a:prstGeom prst="rect">
            <a:avLst/>
          </a:prstGeom>
          <a:noFill/>
        </p:spPr>
        <p:txBody>
          <a:bodyPr wrap="none" rtlCol="0">
            <a:spAutoFit/>
          </a:bodyPr>
          <a:lstStyle/>
          <a:p>
            <a:r>
              <a:rPr lang="es-MX" sz="1400" dirty="0">
                <a:solidFill>
                  <a:srgbClr val="002060"/>
                </a:solidFill>
              </a:rPr>
              <a:t>david.velazquez@ttanis.com</a:t>
            </a:r>
          </a:p>
        </p:txBody>
      </p:sp>
      <p:pic>
        <p:nvPicPr>
          <p:cNvPr id="4" name="Imagen 3">
            <a:extLst>
              <a:ext uri="{FF2B5EF4-FFF2-40B4-BE49-F238E27FC236}">
                <a16:creationId xmlns:a16="http://schemas.microsoft.com/office/drawing/2014/main" id="{495CA2F2-74C7-C625-C5B8-475D07A6462E}"/>
              </a:ext>
            </a:extLst>
          </p:cNvPr>
          <p:cNvPicPr>
            <a:picLocks noChangeAspect="1"/>
          </p:cNvPicPr>
          <p:nvPr userDrawn="1"/>
        </p:nvPicPr>
        <p:blipFill>
          <a:blip r:embed="rId2"/>
          <a:stretch>
            <a:fillRect/>
          </a:stretch>
        </p:blipFill>
        <p:spPr>
          <a:xfrm>
            <a:off x="2674990" y="379121"/>
            <a:ext cx="6860780" cy="2382764"/>
          </a:xfrm>
          <a:prstGeom prst="rect">
            <a:avLst/>
          </a:prstGeom>
        </p:spPr>
      </p:pic>
    </p:spTree>
    <p:extLst>
      <p:ext uri="{BB962C8B-B14F-4D97-AF65-F5344CB8AC3E}">
        <p14:creationId xmlns:p14="http://schemas.microsoft.com/office/powerpoint/2010/main" val="164204211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8" name="Rectangle 2"/>
          <p:cNvSpPr>
            <a:spLocks noGrp="1" noChangeArrowheads="1"/>
          </p:cNvSpPr>
          <p:nvPr>
            <p:ph type="ctrTitle"/>
          </p:nvPr>
        </p:nvSpPr>
        <p:spPr>
          <a:xfrm>
            <a:off x="569337" y="3631262"/>
            <a:ext cx="11040000" cy="1868877"/>
          </a:xfrm>
          <a:prstGeom prst="rect">
            <a:avLst/>
          </a:prstGeom>
        </p:spPr>
        <p:txBody>
          <a:bodyPr anchor="t">
            <a:noAutofit/>
          </a:bodyPr>
          <a:lstStyle>
            <a:lvl1pPr algn="ctr">
              <a:defRPr sz="4000" b="1">
                <a:solidFill>
                  <a:srgbClr val="000066"/>
                </a:solidFill>
                <a:latin typeface="Arial Black" panose="020B0A04020102020204" pitchFamily="34" charset="0"/>
              </a:defRPr>
            </a:lvl1pPr>
          </a:lstStyle>
          <a:p>
            <a:r>
              <a:rPr lang="en-US" dirty="0"/>
              <a:t>Click to edit Master title style</a:t>
            </a:r>
          </a:p>
        </p:txBody>
      </p:sp>
      <p:pic>
        <p:nvPicPr>
          <p:cNvPr id="2" name="Gráfico 1">
            <a:extLst>
              <a:ext uri="{FF2B5EF4-FFF2-40B4-BE49-F238E27FC236}">
                <a16:creationId xmlns:a16="http://schemas.microsoft.com/office/drawing/2014/main" id="{5E01549D-99EB-800B-2091-A0783D82EF77}"/>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2050" t="10036" r="12007" b="10108"/>
          <a:stretch/>
        </p:blipFill>
        <p:spPr>
          <a:xfrm>
            <a:off x="4825705" y="555210"/>
            <a:ext cx="2540590" cy="2671528"/>
          </a:xfrm>
          <a:prstGeom prst="rect">
            <a:avLst/>
          </a:prstGeom>
        </p:spPr>
      </p:pic>
    </p:spTree>
    <p:extLst>
      <p:ext uri="{BB962C8B-B14F-4D97-AF65-F5344CB8AC3E}">
        <p14:creationId xmlns:p14="http://schemas.microsoft.com/office/powerpoint/2010/main" val="1864742571"/>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8" name="2 Marcador de texto"/>
          <p:cNvSpPr>
            <a:spLocks noGrp="1"/>
          </p:cNvSpPr>
          <p:nvPr>
            <p:ph type="body" sz="half" idx="1"/>
          </p:nvPr>
        </p:nvSpPr>
        <p:spPr>
          <a:xfrm>
            <a:off x="331335" y="3176337"/>
            <a:ext cx="11520000" cy="3384468"/>
          </a:xfrm>
          <a:prstGeom prst="rect">
            <a:avLst/>
          </a:prstGeom>
        </p:spPr>
        <p:txBody>
          <a:bodyPr/>
          <a:lstStyle>
            <a:lvl1pPr marL="0" indent="0">
              <a:buFontTx/>
              <a:buNone/>
              <a:defRPr sz="2800"/>
            </a:lvl1pPr>
            <a:lvl2pPr marL="457200" indent="0">
              <a:buFontTx/>
              <a:buNone/>
              <a:defRPr sz="2400"/>
            </a:lvl2pPr>
            <a:lvl3pPr marL="914400" indent="0">
              <a:buFontTx/>
              <a:buNone/>
              <a:defRPr sz="2000"/>
            </a:lvl3pPr>
            <a:lvl4pPr marL="1371600" indent="0">
              <a:buFontTx/>
              <a:buNone/>
              <a:defRPr sz="1800"/>
            </a:lvl4pPr>
            <a:lvl5pPr marL="1828800" indent="0">
              <a:buFontTx/>
              <a:buNone/>
              <a:defRPr sz="16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pic>
        <p:nvPicPr>
          <p:cNvPr id="3" name="Imagen 2">
            <a:extLst>
              <a:ext uri="{FF2B5EF4-FFF2-40B4-BE49-F238E27FC236}">
                <a16:creationId xmlns:a16="http://schemas.microsoft.com/office/drawing/2014/main" id="{97CA3436-9378-720B-C7B2-AAE828C23621}"/>
              </a:ext>
            </a:extLst>
          </p:cNvPr>
          <p:cNvPicPr>
            <a:picLocks noChangeAspect="1"/>
          </p:cNvPicPr>
          <p:nvPr userDrawn="1"/>
        </p:nvPicPr>
        <p:blipFill>
          <a:blip r:embed="rId2"/>
          <a:stretch>
            <a:fillRect/>
          </a:stretch>
        </p:blipFill>
        <p:spPr>
          <a:xfrm>
            <a:off x="2660945" y="379121"/>
            <a:ext cx="6860780" cy="2382764"/>
          </a:xfrm>
          <a:prstGeom prst="rect">
            <a:avLst/>
          </a:prstGeom>
        </p:spPr>
      </p:pic>
    </p:spTree>
    <p:extLst>
      <p:ext uri="{BB962C8B-B14F-4D97-AF65-F5344CB8AC3E}">
        <p14:creationId xmlns:p14="http://schemas.microsoft.com/office/powerpoint/2010/main" val="371831232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40017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6AA34F-3671-45B3-A8A0-4036F4692DD0}"/>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A869438E-B290-4334-B492-E5BEACCF43D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D594981D-BE16-44B8-9496-A8ADCF47872B}"/>
              </a:ext>
            </a:extLst>
          </p:cNvPr>
          <p:cNvSpPr>
            <a:spLocks noGrp="1"/>
          </p:cNvSpPr>
          <p:nvPr>
            <p:ph type="dt" sz="half" idx="10"/>
          </p:nvPr>
        </p:nvSpPr>
        <p:spPr/>
        <p:txBody>
          <a:bodyPr/>
          <a:lstStyle/>
          <a:p>
            <a:fld id="{BAA53C17-4F2D-4F73-9A9F-B0482B31BB62}" type="datetimeFigureOut">
              <a:rPr lang="es-419" smtClean="0"/>
              <a:t>29/4/2025</a:t>
            </a:fld>
            <a:endParaRPr lang="es-419"/>
          </a:p>
        </p:txBody>
      </p:sp>
      <p:sp>
        <p:nvSpPr>
          <p:cNvPr id="5" name="Marcador de pie de página 4">
            <a:extLst>
              <a:ext uri="{FF2B5EF4-FFF2-40B4-BE49-F238E27FC236}">
                <a16:creationId xmlns:a16="http://schemas.microsoft.com/office/drawing/2014/main" id="{153B1965-A14E-47D3-93C9-6BE243388145}"/>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9314D155-802B-4492-966F-26C72C44C5D6}"/>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18980725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231555-F1C0-470E-94F3-EAB569CBCA5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C8A13912-ADF3-49FE-A747-A63868898A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287CE195-AF23-40D3-971B-F0B99EA5A3B7}"/>
              </a:ext>
            </a:extLst>
          </p:cNvPr>
          <p:cNvSpPr>
            <a:spLocks noGrp="1"/>
          </p:cNvSpPr>
          <p:nvPr>
            <p:ph type="dt" sz="half" idx="10"/>
          </p:nvPr>
        </p:nvSpPr>
        <p:spPr/>
        <p:txBody>
          <a:bodyPr/>
          <a:lstStyle/>
          <a:p>
            <a:fld id="{BAA53C17-4F2D-4F73-9A9F-B0482B31BB62}" type="datetimeFigureOut">
              <a:rPr lang="es-419" smtClean="0"/>
              <a:t>29/4/2025</a:t>
            </a:fld>
            <a:endParaRPr lang="es-419"/>
          </a:p>
        </p:txBody>
      </p:sp>
      <p:sp>
        <p:nvSpPr>
          <p:cNvPr id="5" name="Marcador de pie de página 4">
            <a:extLst>
              <a:ext uri="{FF2B5EF4-FFF2-40B4-BE49-F238E27FC236}">
                <a16:creationId xmlns:a16="http://schemas.microsoft.com/office/drawing/2014/main" id="{281E315A-235F-47CB-9B0F-D46A1D558C3F}"/>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E6E48E32-3783-4316-9246-C2EB703ADD91}"/>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664786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86002D6-FE39-48A3-8350-99996DFBA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B84F9629-C2D7-4A0C-80BB-3C4A0EA253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4FFF2DCC-A7E5-4997-8E4B-155ACD72EF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A53C17-4F2D-4F73-9A9F-B0482B31BB62}" type="datetimeFigureOut">
              <a:rPr lang="es-419" smtClean="0"/>
              <a:t>29/4/2025</a:t>
            </a:fld>
            <a:endParaRPr lang="es-419"/>
          </a:p>
        </p:txBody>
      </p:sp>
      <p:sp>
        <p:nvSpPr>
          <p:cNvPr id="5" name="Marcador de pie de página 4">
            <a:extLst>
              <a:ext uri="{FF2B5EF4-FFF2-40B4-BE49-F238E27FC236}">
                <a16:creationId xmlns:a16="http://schemas.microsoft.com/office/drawing/2014/main" id="{F3C9B812-038A-49DE-8E22-CF165112D3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419"/>
          </a:p>
        </p:txBody>
      </p:sp>
      <p:sp>
        <p:nvSpPr>
          <p:cNvPr id="6" name="Marcador de número de diapositiva 5">
            <a:extLst>
              <a:ext uri="{FF2B5EF4-FFF2-40B4-BE49-F238E27FC236}">
                <a16:creationId xmlns:a16="http://schemas.microsoft.com/office/drawing/2014/main" id="{EA14749F-F143-490D-ABB8-BF2886C5E9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BC754A-7DF7-432E-B680-18D09EBE8055}" type="slidenum">
              <a:rPr lang="es-419" smtClean="0"/>
              <a:t>‹Nº›</a:t>
            </a:fld>
            <a:endParaRPr lang="es-419"/>
          </a:p>
        </p:txBody>
      </p:sp>
    </p:spTree>
    <p:extLst>
      <p:ext uri="{BB962C8B-B14F-4D97-AF65-F5344CB8AC3E}">
        <p14:creationId xmlns:p14="http://schemas.microsoft.com/office/powerpoint/2010/main" val="2222757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MX" dirty="0"/>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B33CB1CA-6D1A-4B84-B3B7-3F7C84B916DB}" type="slidenum">
              <a:rPr lang="es-MX" smtClean="0"/>
              <a:pPr/>
              <a:t>‹Nº›</a:t>
            </a:fld>
            <a:endParaRPr lang="es-MX" dirty="0"/>
          </a:p>
        </p:txBody>
      </p:sp>
      <p:sp>
        <p:nvSpPr>
          <p:cNvPr id="7" name="Rectangle 2"/>
          <p:cNvSpPr>
            <a:spLocks noGrp="1" noChangeArrowheads="1"/>
          </p:cNvSpPr>
          <p:nvPr>
            <p:ph type="title"/>
          </p:nvPr>
        </p:nvSpPr>
        <p:spPr bwMode="auto">
          <a:xfrm>
            <a:off x="1585383" y="152400"/>
            <a:ext cx="10272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8" name="Rectangle 3"/>
          <p:cNvSpPr>
            <a:spLocks noGrp="1" noChangeArrowheads="1"/>
          </p:cNvSpPr>
          <p:nvPr>
            <p:ph type="body" idx="1"/>
          </p:nvPr>
        </p:nvSpPr>
        <p:spPr bwMode="auto">
          <a:xfrm>
            <a:off x="316675" y="1270658"/>
            <a:ext cx="11520000" cy="529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667998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065817" y="366362"/>
            <a:ext cx="8030933" cy="662781"/>
          </a:xfrm>
        </p:spPr>
        <p:txBody>
          <a:bodyPr>
            <a:noAutofit/>
          </a:bodyPr>
          <a:lstStyle/>
          <a:p>
            <a:pPr algn="ctr"/>
            <a:r>
              <a:rPr lang="es-419" sz="3600" b="1" dirty="0">
                <a:solidFill>
                  <a:schemeClr val="bg1"/>
                </a:solidFill>
                <a:latin typeface="Montserrat" panose="00000500000000000000" pitchFamily="2" charset="0"/>
              </a:rPr>
              <a:t>Puntos a considerar en el diseño de la trayectoria tipo I (J)</a:t>
            </a:r>
          </a:p>
        </p:txBody>
      </p:sp>
      <p:pic>
        <p:nvPicPr>
          <p:cNvPr id="5" name="Marcador de contenido 4">
            <a:extLst>
              <a:ext uri="{FF2B5EF4-FFF2-40B4-BE49-F238E27FC236}">
                <a16:creationId xmlns:a16="http://schemas.microsoft.com/office/drawing/2014/main" id="{FCE37153-2C2E-4477-8438-C04E50EBF971}"/>
              </a:ext>
            </a:extLst>
          </p:cNvPr>
          <p:cNvPicPr>
            <a:picLocks noGrp="1" noChangeAspect="1"/>
          </p:cNvPicPr>
          <p:nvPr>
            <p:ph idx="1"/>
          </p:nvPr>
        </p:nvPicPr>
        <p:blipFill>
          <a:blip r:embed="rId2"/>
          <a:stretch>
            <a:fillRect/>
          </a:stretch>
        </p:blipFill>
        <p:spPr>
          <a:xfrm>
            <a:off x="3535807" y="1520827"/>
            <a:ext cx="3206930" cy="4351338"/>
          </a:xfrm>
        </p:spPr>
      </p:pic>
      <p:cxnSp>
        <p:nvCxnSpPr>
          <p:cNvPr id="6" name="Conector recto de flecha 5">
            <a:extLst>
              <a:ext uri="{FF2B5EF4-FFF2-40B4-BE49-F238E27FC236}">
                <a16:creationId xmlns:a16="http://schemas.microsoft.com/office/drawing/2014/main" id="{F42787C9-6BF1-4588-B9D2-22FF0FED0AFC}"/>
              </a:ext>
            </a:extLst>
          </p:cNvPr>
          <p:cNvCxnSpPr>
            <a:cxnSpLocks/>
          </p:cNvCxnSpPr>
          <p:nvPr/>
        </p:nvCxnSpPr>
        <p:spPr>
          <a:xfrm flipV="1">
            <a:off x="4529673" y="4127848"/>
            <a:ext cx="2582327" cy="2"/>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7A75FB1C-09F3-4290-A3D4-2702F4688D9A}"/>
              </a:ext>
            </a:extLst>
          </p:cNvPr>
          <p:cNvSpPr txBox="1"/>
          <p:nvPr/>
        </p:nvSpPr>
        <p:spPr>
          <a:xfrm>
            <a:off x="6935748" y="3850586"/>
            <a:ext cx="4579977" cy="646331"/>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1.- Coordenadas UTM de superficie: Norte/Sur </a:t>
            </a:r>
            <a:r>
              <a:rPr lang="es-419" sz="1800" kern="1200" dirty="0">
                <a:solidFill>
                  <a:srgbClr val="FFCF00"/>
                </a:solidFill>
                <a:effectLst/>
                <a:latin typeface="Montserrat" panose="00000500000000000000" pitchFamily="2" charset="0"/>
                <a:ea typeface="+mn-ea"/>
                <a:cs typeface="+mn-cs"/>
              </a:rPr>
              <a:t>(N/S) </a:t>
            </a:r>
            <a:r>
              <a:rPr lang="es-419" dirty="0">
                <a:solidFill>
                  <a:srgbClr val="FFCF00"/>
                </a:solidFill>
                <a:latin typeface="Montserrat" panose="00000500000000000000" pitchFamily="2" charset="0"/>
              </a:rPr>
              <a:t>Y Este/Oeste </a:t>
            </a:r>
            <a:r>
              <a:rPr lang="es-419" sz="1800" kern="1200" dirty="0">
                <a:solidFill>
                  <a:srgbClr val="FFCF00"/>
                </a:solidFill>
                <a:effectLst/>
                <a:latin typeface="Montserrat" panose="00000500000000000000" pitchFamily="2" charset="0"/>
                <a:ea typeface="+mn-ea"/>
                <a:cs typeface="+mn-cs"/>
              </a:rPr>
              <a:t>(E/W)</a:t>
            </a:r>
            <a:endParaRPr lang="es-419" dirty="0">
              <a:solidFill>
                <a:srgbClr val="FFCF00"/>
              </a:solidFill>
              <a:latin typeface="Montserrat" panose="00000500000000000000" pitchFamily="2" charset="0"/>
            </a:endParaRPr>
          </a:p>
        </p:txBody>
      </p:sp>
      <p:cxnSp>
        <p:nvCxnSpPr>
          <p:cNvPr id="9" name="Conector recto de flecha 8">
            <a:extLst>
              <a:ext uri="{FF2B5EF4-FFF2-40B4-BE49-F238E27FC236}">
                <a16:creationId xmlns:a16="http://schemas.microsoft.com/office/drawing/2014/main" id="{C7CCBB9E-2055-463E-A721-FC6F8AAB2A6F}"/>
              </a:ext>
            </a:extLst>
          </p:cNvPr>
          <p:cNvCxnSpPr>
            <a:cxnSpLocks/>
          </p:cNvCxnSpPr>
          <p:nvPr/>
        </p:nvCxnSpPr>
        <p:spPr>
          <a:xfrm>
            <a:off x="6516077" y="5702650"/>
            <a:ext cx="595923"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A82BFA58-AF7C-4097-9F0E-FDD325B0775A}"/>
              </a:ext>
            </a:extLst>
          </p:cNvPr>
          <p:cNvSpPr txBox="1"/>
          <p:nvPr/>
        </p:nvSpPr>
        <p:spPr>
          <a:xfrm>
            <a:off x="7000828" y="5477735"/>
            <a:ext cx="4293759" cy="646331"/>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2.- Coordenadas UTM de objetivo: Norte/Sur </a:t>
            </a:r>
            <a:r>
              <a:rPr lang="es-419" sz="1800" kern="1200" dirty="0">
                <a:solidFill>
                  <a:srgbClr val="FFCF00"/>
                </a:solidFill>
                <a:effectLst/>
                <a:latin typeface="Montserrat" panose="00000500000000000000" pitchFamily="2" charset="0"/>
                <a:ea typeface="+mn-ea"/>
                <a:cs typeface="+mn-cs"/>
              </a:rPr>
              <a:t>(N/S)</a:t>
            </a:r>
            <a:r>
              <a:rPr lang="es-419" dirty="0">
                <a:solidFill>
                  <a:srgbClr val="FFCF00"/>
                </a:solidFill>
                <a:latin typeface="Montserrat" panose="00000500000000000000" pitchFamily="2" charset="0"/>
              </a:rPr>
              <a:t> Y Este/Oeste </a:t>
            </a:r>
            <a:r>
              <a:rPr lang="es-419" sz="1800" kern="1200" dirty="0">
                <a:solidFill>
                  <a:srgbClr val="FFCF00"/>
                </a:solidFill>
                <a:effectLst/>
                <a:latin typeface="Montserrat" panose="00000500000000000000" pitchFamily="2" charset="0"/>
                <a:ea typeface="+mn-ea"/>
                <a:cs typeface="+mn-cs"/>
              </a:rPr>
              <a:t>(E/W)</a:t>
            </a:r>
            <a:endParaRPr lang="es-419" dirty="0">
              <a:solidFill>
                <a:srgbClr val="FFCF00"/>
              </a:solidFill>
              <a:latin typeface="Montserrat" panose="00000500000000000000" pitchFamily="2" charset="0"/>
            </a:endParaRPr>
          </a:p>
        </p:txBody>
      </p:sp>
      <p:cxnSp>
        <p:nvCxnSpPr>
          <p:cNvPr id="13" name="Conector recto 12">
            <a:extLst>
              <a:ext uri="{FF2B5EF4-FFF2-40B4-BE49-F238E27FC236}">
                <a16:creationId xmlns:a16="http://schemas.microsoft.com/office/drawing/2014/main" id="{F1D4B2B7-5149-481F-9000-E5BB7E89F675}"/>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E5893F41-3716-4367-9560-A9FE965C602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27F1093C-F0CE-4D6A-936B-FAF25F47464F}"/>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6B461E8B-684B-4B66-BCFC-AB0795D0548E}"/>
              </a:ext>
            </a:extLst>
          </p:cNvPr>
          <p:cNvCxnSpPr>
            <a:cxnSpLocks/>
          </p:cNvCxnSpPr>
          <p:nvPr/>
        </p:nvCxnSpPr>
        <p:spPr>
          <a:xfrm flipH="1">
            <a:off x="3242739" y="4263308"/>
            <a:ext cx="94826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0FAAFC12-5A74-4AA7-AFA6-9AC3AC35A516}"/>
              </a:ext>
            </a:extLst>
          </p:cNvPr>
          <p:cNvSpPr txBox="1"/>
          <p:nvPr/>
        </p:nvSpPr>
        <p:spPr>
          <a:xfrm>
            <a:off x="220146" y="3948616"/>
            <a:ext cx="3141128" cy="646331"/>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4.- Profundidad vertical al objetivo (TVD)</a:t>
            </a:r>
          </a:p>
        </p:txBody>
      </p:sp>
      <p:sp>
        <p:nvSpPr>
          <p:cNvPr id="20" name="Arco 19">
            <a:extLst>
              <a:ext uri="{FF2B5EF4-FFF2-40B4-BE49-F238E27FC236}">
                <a16:creationId xmlns:a16="http://schemas.microsoft.com/office/drawing/2014/main" id="{648AE7C6-968A-4CE0-935F-D0D10DC7E5E7}"/>
              </a:ext>
            </a:extLst>
          </p:cNvPr>
          <p:cNvSpPr/>
          <p:nvPr/>
        </p:nvSpPr>
        <p:spPr>
          <a:xfrm rot="11457301">
            <a:off x="4444370" y="4626740"/>
            <a:ext cx="736597" cy="646331"/>
          </a:xfrm>
          <a:prstGeom prst="arc">
            <a:avLst/>
          </a:prstGeom>
          <a:ln w="28575">
            <a:solidFill>
              <a:srgbClr val="FFCF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419"/>
          </a:p>
        </p:txBody>
      </p:sp>
      <p:cxnSp>
        <p:nvCxnSpPr>
          <p:cNvPr id="21" name="Conector recto 20">
            <a:extLst>
              <a:ext uri="{FF2B5EF4-FFF2-40B4-BE49-F238E27FC236}">
                <a16:creationId xmlns:a16="http://schemas.microsoft.com/office/drawing/2014/main" id="{25754289-5F13-4EF2-8A9F-97BD9321D004}"/>
              </a:ext>
            </a:extLst>
          </p:cNvPr>
          <p:cNvCxnSpPr>
            <a:cxnSpLocks/>
          </p:cNvCxnSpPr>
          <p:nvPr/>
        </p:nvCxnSpPr>
        <p:spPr>
          <a:xfrm>
            <a:off x="4368806" y="486582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DED9774D-BF7E-4353-A255-203F7279C117}"/>
              </a:ext>
            </a:extLst>
          </p:cNvPr>
          <p:cNvCxnSpPr>
            <a:cxnSpLocks/>
          </p:cNvCxnSpPr>
          <p:nvPr/>
        </p:nvCxnSpPr>
        <p:spPr>
          <a:xfrm flipV="1">
            <a:off x="4749807" y="5179095"/>
            <a:ext cx="0" cy="150684"/>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A892E8DA-6065-476A-AD08-F68337BA0BFD}"/>
              </a:ext>
            </a:extLst>
          </p:cNvPr>
          <p:cNvCxnSpPr>
            <a:cxnSpLocks/>
          </p:cNvCxnSpPr>
          <p:nvPr/>
        </p:nvCxnSpPr>
        <p:spPr>
          <a:xfrm flipH="1">
            <a:off x="3242739" y="5149813"/>
            <a:ext cx="128693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21CBFBC1-AE4E-4391-8CBD-27927E880778}"/>
              </a:ext>
            </a:extLst>
          </p:cNvPr>
          <p:cNvSpPr txBox="1"/>
          <p:nvPr/>
        </p:nvSpPr>
        <p:spPr>
          <a:xfrm>
            <a:off x="247483" y="4802792"/>
            <a:ext cx="3141128" cy="1200329"/>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5.- Ritmo de incremento del ángulo para la construcción de la curva (BUR)</a:t>
            </a:r>
          </a:p>
        </p:txBody>
      </p:sp>
      <p:cxnSp>
        <p:nvCxnSpPr>
          <p:cNvPr id="30" name="Conector recto de flecha 29">
            <a:extLst>
              <a:ext uri="{FF2B5EF4-FFF2-40B4-BE49-F238E27FC236}">
                <a16:creationId xmlns:a16="http://schemas.microsoft.com/office/drawing/2014/main" id="{944416A9-7676-4188-89A7-8DEED0C67867}"/>
              </a:ext>
            </a:extLst>
          </p:cNvPr>
          <p:cNvCxnSpPr>
            <a:cxnSpLocks/>
          </p:cNvCxnSpPr>
          <p:nvPr/>
        </p:nvCxnSpPr>
        <p:spPr>
          <a:xfrm>
            <a:off x="4521206" y="4802792"/>
            <a:ext cx="259079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DDC1BA93-6EAA-45C5-9387-30D661258AA4}"/>
              </a:ext>
            </a:extLst>
          </p:cNvPr>
          <p:cNvSpPr txBox="1"/>
          <p:nvPr/>
        </p:nvSpPr>
        <p:spPr>
          <a:xfrm>
            <a:off x="7021959" y="4555305"/>
            <a:ext cx="3950841" cy="369332"/>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3.- Inicio de la desviación (KOP)</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38" name="CuadroTexto 37">
            <a:extLst>
              <a:ext uri="{FF2B5EF4-FFF2-40B4-BE49-F238E27FC236}">
                <a16:creationId xmlns:a16="http://schemas.microsoft.com/office/drawing/2014/main" id="{366C6426-319D-433E-B085-F74FEC6A9266}"/>
              </a:ext>
            </a:extLst>
          </p:cNvPr>
          <p:cNvSpPr txBox="1"/>
          <p:nvPr/>
        </p:nvSpPr>
        <p:spPr>
          <a:xfrm>
            <a:off x="4360340" y="3943182"/>
            <a:ext cx="245530" cy="369332"/>
          </a:xfrm>
          <a:prstGeom prst="rect">
            <a:avLst/>
          </a:prstGeom>
          <a:noFill/>
        </p:spPr>
        <p:txBody>
          <a:bodyPr wrap="square" rtlCol="0">
            <a:spAutoFit/>
          </a:bodyPr>
          <a:lstStyle/>
          <a:p>
            <a:r>
              <a:rPr lang="es-419" b="1" dirty="0">
                <a:solidFill>
                  <a:srgbClr val="FFCF00"/>
                </a:solidFill>
              </a:rPr>
              <a:t>X</a:t>
            </a:r>
          </a:p>
        </p:txBody>
      </p:sp>
      <p:sp>
        <p:nvSpPr>
          <p:cNvPr id="39" name="CuadroTexto 38">
            <a:extLst>
              <a:ext uri="{FF2B5EF4-FFF2-40B4-BE49-F238E27FC236}">
                <a16:creationId xmlns:a16="http://schemas.microsoft.com/office/drawing/2014/main" id="{5FB8C54E-E114-48B0-966A-471326435125}"/>
              </a:ext>
            </a:extLst>
          </p:cNvPr>
          <p:cNvSpPr txBox="1"/>
          <p:nvPr/>
        </p:nvSpPr>
        <p:spPr>
          <a:xfrm>
            <a:off x="4399588" y="4619863"/>
            <a:ext cx="130323" cy="369332"/>
          </a:xfrm>
          <a:prstGeom prst="rect">
            <a:avLst/>
          </a:prstGeom>
          <a:noFill/>
        </p:spPr>
        <p:txBody>
          <a:bodyPr wrap="square" rtlCol="0">
            <a:spAutoFit/>
          </a:bodyPr>
          <a:lstStyle/>
          <a:p>
            <a:r>
              <a:rPr lang="es-419" b="1" dirty="0">
                <a:solidFill>
                  <a:srgbClr val="FFCF00"/>
                </a:solidFill>
              </a:rPr>
              <a:t>X</a:t>
            </a:r>
          </a:p>
        </p:txBody>
      </p:sp>
      <p:sp>
        <p:nvSpPr>
          <p:cNvPr id="40" name="CuadroTexto 39">
            <a:extLst>
              <a:ext uri="{FF2B5EF4-FFF2-40B4-BE49-F238E27FC236}">
                <a16:creationId xmlns:a16="http://schemas.microsoft.com/office/drawing/2014/main" id="{FEB9138B-F795-4380-A3A3-72CDF4AE402C}"/>
              </a:ext>
            </a:extLst>
          </p:cNvPr>
          <p:cNvSpPr txBox="1"/>
          <p:nvPr/>
        </p:nvSpPr>
        <p:spPr>
          <a:xfrm>
            <a:off x="6345629" y="5521371"/>
            <a:ext cx="245530" cy="369332"/>
          </a:xfrm>
          <a:prstGeom prst="rect">
            <a:avLst/>
          </a:prstGeom>
          <a:noFill/>
        </p:spPr>
        <p:txBody>
          <a:bodyPr wrap="square" rtlCol="0">
            <a:spAutoFit/>
          </a:bodyPr>
          <a:lstStyle/>
          <a:p>
            <a:r>
              <a:rPr lang="es-419" b="1" dirty="0">
                <a:solidFill>
                  <a:srgbClr val="FFCF00"/>
                </a:solidFill>
              </a:rPr>
              <a:t>X</a:t>
            </a:r>
          </a:p>
        </p:txBody>
      </p:sp>
    </p:spTree>
    <p:extLst>
      <p:ext uri="{BB962C8B-B14F-4D97-AF65-F5344CB8AC3E}">
        <p14:creationId xmlns:p14="http://schemas.microsoft.com/office/powerpoint/2010/main" val="1847673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0202DB6-49EC-4315-862B-36D51C287FC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sp>
        <p:nvSpPr>
          <p:cNvPr id="6" name="Marcador de contenido 2">
            <a:extLst>
              <a:ext uri="{FF2B5EF4-FFF2-40B4-BE49-F238E27FC236}">
                <a16:creationId xmlns:a16="http://schemas.microsoft.com/office/drawing/2014/main" id="{635C2261-5BA7-42FB-BA9D-C223CE15CBC7}"/>
              </a:ext>
            </a:extLst>
          </p:cNvPr>
          <p:cNvSpPr txBox="1">
            <a:spLocks/>
          </p:cNvSpPr>
          <p:nvPr/>
        </p:nvSpPr>
        <p:spPr bwMode="auto">
          <a:xfrm>
            <a:off x="154103" y="867717"/>
            <a:ext cx="12232827" cy="529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1</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de interés para utilizarlo como coordenada N/S Y E/W de superficie (UTM)**: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Este punto es desde donde se empieza a perforar, puede referenciarse la mesa rotaria, boca de pozo, </a:t>
            </a:r>
            <a:r>
              <a:rPr kumimoji="0" lang="es-419" sz="1400" b="0"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etc</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deben de ser coordenadas UTM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2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al cual se quiere llegar perforando, estas serán las coordenadas N/S Y E/W del objetivo (UTM)**: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la trayectoria tipo j, las coordenadas de objetivo serian hasta donde se quiere perforar o bien el </a:t>
            </a:r>
            <a:r>
              <a:rPr kumimoji="0" lang="es-419" sz="1400" b="0"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yacimieno</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aquí no se contempla una ‘distancia extra’</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3</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la profundidad para el KOP (m)**: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A esta profundidad es en donde se empieza a incrementar el ángulo o construir la curva, es decir, desde donde la perforación completamente vertical se empieza a desviar o incrementar ángulo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4</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vertical al objetivo (m)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este tipo de pozo la TVD se toma hasta el yacimiento, o bien, el punto elegido en el inciso 2, esta profundidad no toma en cuenta el desplazamiento en x, únicamente sobre el eje 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5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un ritmo de incremento ‘BUR’ (°/30m) **:</a:t>
            </a:r>
            <a:b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Como su nombre lo indica este parámetro establece la tasa con la cual se va a realizar un aumento de ángulo cada 30 m, este aumento en la inclinación genera problemas en la perforación mientras mayor sea el ritmo</a:t>
            </a:r>
          </a:p>
          <a:p>
            <a:pPr marL="342900" marR="0" lvl="0" indent="-342900" algn="l" defTabSz="914400" rtl="0" eaLnBrk="1" fontAlgn="base" latinLnBrk="0" hangingPunct="1">
              <a:lnSpc>
                <a:spcPct val="100000"/>
              </a:lnSpc>
              <a:spcBef>
                <a:spcPct val="20000"/>
              </a:spcBef>
              <a:spcAft>
                <a:spcPct val="0"/>
              </a:spcAft>
              <a:buClrTx/>
              <a:buSzTx/>
              <a:buFont typeface="Arial" pitchFamily="34" charset="0"/>
              <a:buChar char="•"/>
              <a:tabLst/>
              <a:defRPr/>
            </a:pPr>
            <a:r>
              <a:rPr kumimoji="0" lang="es-419" sz="1400" b="1" i="0" u="sng"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Consideraciones antes de Calcular</a:t>
            </a:r>
          </a:p>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defRPr/>
            </a:pP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**Coordenadas**: `</a:t>
            </a:r>
            <a:r>
              <a:rPr kumimoji="0" lang="es-419" sz="1400" b="1"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Nt</a:t>
            </a: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a:t>
            </a:r>
            <a:r>
              <a:rPr kumimoji="0" lang="es-419" sz="1400" b="1"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Ns</a:t>
            </a: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o `Et ≠ Es` para evitar `DH = 0` (división por cero en `At`).</a:t>
            </a: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**KOP y TVD**: `TVD &gt; KOP ≥ 0` para una trayectoria físicamente posible.</a:t>
            </a: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**BUR**: `0 &lt; BUR ≤ 10` (valores altos pueden generar curvas imposibles).</a:t>
            </a: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**Entradas numéricas**: Solo números decimales positivos o negativos según corresponda.</a:t>
            </a: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**Coherencia geométrica**: `DH` y `TVD - KOP` deben ser compatibles con `BUR` para evitar errores en funciones             	trigonométricas.</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endPar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p:txBody>
      </p:sp>
      <p:sp>
        <p:nvSpPr>
          <p:cNvPr id="9" name="Título 1">
            <a:extLst>
              <a:ext uri="{FF2B5EF4-FFF2-40B4-BE49-F238E27FC236}">
                <a16:creationId xmlns:a16="http://schemas.microsoft.com/office/drawing/2014/main" id="{62BC449B-3004-4C46-835B-E7A44C2A2A3F}"/>
              </a:ext>
            </a:extLst>
          </p:cNvPr>
          <p:cNvSpPr>
            <a:spLocks noGrp="1"/>
          </p:cNvSpPr>
          <p:nvPr>
            <p:ph type="title"/>
          </p:nvPr>
        </p:nvSpPr>
        <p:spPr>
          <a:xfrm>
            <a:off x="0" y="0"/>
            <a:ext cx="11453001" cy="792163"/>
          </a:xfrm>
        </p:spPr>
        <p:txBody>
          <a:bodyPr/>
          <a:lstStyle/>
          <a:p>
            <a:r>
              <a:rPr lang="es-419" dirty="0">
                <a:solidFill>
                  <a:schemeClr val="bg1"/>
                </a:solidFill>
                <a:latin typeface="Montserrat" pitchFamily="2" charset="0"/>
              </a:rPr>
              <a:t>Manual para el diseño del pozo tipo j </a:t>
            </a:r>
          </a:p>
        </p:txBody>
      </p:sp>
    </p:spTree>
    <p:extLst>
      <p:ext uri="{BB962C8B-B14F-4D97-AF65-F5344CB8AC3E}">
        <p14:creationId xmlns:p14="http://schemas.microsoft.com/office/powerpoint/2010/main" val="1140826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630F43-8DDD-426A-B757-78852C514A8B}"/>
              </a:ext>
            </a:extLst>
          </p:cNvPr>
          <p:cNvSpPr>
            <a:spLocks noGrp="1"/>
          </p:cNvSpPr>
          <p:nvPr>
            <p:ph type="title"/>
          </p:nvPr>
        </p:nvSpPr>
        <p:spPr>
          <a:xfrm>
            <a:off x="316675" y="117702"/>
            <a:ext cx="10509846" cy="792000"/>
          </a:xfrm>
        </p:spPr>
        <p:txBody>
          <a:bodyPr/>
          <a:lstStyle/>
          <a:p>
            <a:r>
              <a:rPr lang="es-419" dirty="0">
                <a:solidFill>
                  <a:schemeClr val="bg1"/>
                </a:solidFill>
                <a:latin typeface="Montserrat" pitchFamily="2" charset="0"/>
              </a:rPr>
              <a:t>Manual para el diseño del pozo tipo j </a:t>
            </a:r>
          </a:p>
        </p:txBody>
      </p:sp>
      <p:sp>
        <p:nvSpPr>
          <p:cNvPr id="3" name="Marcador de contenido 2">
            <a:extLst>
              <a:ext uri="{FF2B5EF4-FFF2-40B4-BE49-F238E27FC236}">
                <a16:creationId xmlns:a16="http://schemas.microsoft.com/office/drawing/2014/main" id="{9E3DC13B-CE23-444F-9C35-7F7B6E97EDC7}"/>
              </a:ext>
            </a:extLst>
          </p:cNvPr>
          <p:cNvSpPr>
            <a:spLocks noGrp="1"/>
          </p:cNvSpPr>
          <p:nvPr>
            <p:ph idx="1"/>
          </p:nvPr>
        </p:nvSpPr>
        <p:spPr>
          <a:xfrm>
            <a:off x="316675" y="909702"/>
            <a:ext cx="11520000" cy="5292000"/>
          </a:xfrm>
        </p:spPr>
        <p:txBody>
          <a:bodyPr>
            <a:normAutofit/>
          </a:bodyPr>
          <a:lstStyle/>
          <a:p>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Requisitos de Instalación</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**Sistema Operativo**: Windows.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**Espacio en Disco**:(~50 MB).</a:t>
            </a:r>
          </a:p>
          <a:p>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**Ingresar Datos**: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El formulario del lado derecho solicita </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ciertas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entradas, estas son:</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N/S UTM en objetivo</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norte/sur del objetivo (UTM).</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N/S UTM en superficie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norte de la superficie (UTM).</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E/W UTM en objetivo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este de la superficie (UTM).</a:t>
            </a:r>
          </a:p>
          <a:p>
            <a:pPr marL="457200" lvl="1" indent="0">
              <a:buNone/>
            </a:pPr>
            <a:r>
              <a:rPr lang="es-419" sz="1400" dirty="0">
                <a:solidFill>
                  <a:schemeClr val="bg1"/>
                </a:solidFill>
                <a:latin typeface="Montserrat" pitchFamily="2" charset="0"/>
                <a:ea typeface="Calibri" panose="020F0502020204030204" pitchFamily="34" charset="0"/>
                <a:cs typeface="Times New Roman" panose="02020603050405020304" pitchFamily="18" charset="0"/>
              </a:rPr>
              <a:t>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E/W UTM en superficie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este de la superficie (UTM).</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inicio de desviación (KOP)`: Profundidad de inicio de curvatura (metros).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Ritmo de incremento /30 m (BUR)`: Tasa de incremento (grados por 30 metros).</a:t>
            </a:r>
          </a:p>
          <a:p>
            <a:pPr marL="457200" lvl="1" indent="0">
              <a:buNone/>
            </a:pP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Ritmo de reducción /30 m (DOR)`: Tasa de reducción (grados por 30 metros). **n/a** </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Profundidad vertical al objetivo`: Es la distancia vertical desde el punto de referencia de profundidad, hasta un punto          en la trayectoria del pozo(metros).</a:t>
            </a:r>
          </a:p>
          <a:p>
            <a:pPr marL="457200" lvl="1" indent="0">
              <a:buNone/>
            </a:pP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Distancia después de la curva`:  Distancia a seguir perforando </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al alcanzar las coordenadas del objetivo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metros). </a:t>
            </a:r>
          </a:p>
          <a:p>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**Consideraciones en el diseño:</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endParaRPr lang="es-419" sz="1400" dirty="0">
              <a:solidFill>
                <a:schemeClr val="bg1"/>
              </a:solidFill>
              <a:effectLst/>
              <a:latin typeface="Montserrat" pitchFamily="2" charset="0"/>
              <a:ea typeface="Calibri" panose="020F0502020204030204" pitchFamily="34" charset="0"/>
              <a:cs typeface="Times New Roman" panose="02020603050405020304" pitchFamily="18" charset="0"/>
            </a:endParaRPr>
          </a:p>
          <a:p>
            <a:endParaRPr lang="es-419" sz="1400" dirty="0">
              <a:solidFill>
                <a:schemeClr val="bg1"/>
              </a:solidFill>
              <a:latin typeface="Montserrat" pitchFamily="2" charset="0"/>
            </a:endParaRPr>
          </a:p>
        </p:txBody>
      </p:sp>
      <p:sp>
        <p:nvSpPr>
          <p:cNvPr id="4" name="Marcador de número de diapositiva 3">
            <a:extLst>
              <a:ext uri="{FF2B5EF4-FFF2-40B4-BE49-F238E27FC236}">
                <a16:creationId xmlns:a16="http://schemas.microsoft.com/office/drawing/2014/main" id="{2F2CAB68-C3FE-447E-950C-8A94F2EBE32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5" name="Tabla 5">
            <a:extLst>
              <a:ext uri="{FF2B5EF4-FFF2-40B4-BE49-F238E27FC236}">
                <a16:creationId xmlns:a16="http://schemas.microsoft.com/office/drawing/2014/main" id="{C054591C-1143-4FCE-BCF1-FFD3D8E7939B}"/>
              </a:ext>
            </a:extLst>
          </p:cNvPr>
          <p:cNvGraphicFramePr>
            <a:graphicFrameLocks noGrp="1"/>
          </p:cNvGraphicFramePr>
          <p:nvPr/>
        </p:nvGraphicFramePr>
        <p:xfrm>
          <a:off x="15114" y="4645282"/>
          <a:ext cx="13412538" cy="2200688"/>
        </p:xfrm>
        <a:graphic>
          <a:graphicData uri="http://schemas.openxmlformats.org/drawingml/2006/table">
            <a:tbl>
              <a:tblPr firstRow="1" bandRow="1">
                <a:tableStyleId>{5C22544A-7EE6-4342-B048-85BDC9FD1C3A}</a:tableStyleId>
              </a:tblPr>
              <a:tblGrid>
                <a:gridCol w="1731386">
                  <a:extLst>
                    <a:ext uri="{9D8B030D-6E8A-4147-A177-3AD203B41FA5}">
                      <a16:colId xmlns:a16="http://schemas.microsoft.com/office/drawing/2014/main" val="687043137"/>
                    </a:ext>
                  </a:extLst>
                </a:gridCol>
                <a:gridCol w="1952928">
                  <a:extLst>
                    <a:ext uri="{9D8B030D-6E8A-4147-A177-3AD203B41FA5}">
                      <a16:colId xmlns:a16="http://schemas.microsoft.com/office/drawing/2014/main" val="1040610360"/>
                    </a:ext>
                  </a:extLst>
                </a:gridCol>
                <a:gridCol w="1816360">
                  <a:extLst>
                    <a:ext uri="{9D8B030D-6E8A-4147-A177-3AD203B41FA5}">
                      <a16:colId xmlns:a16="http://schemas.microsoft.com/office/drawing/2014/main" val="1017981720"/>
                    </a:ext>
                  </a:extLst>
                </a:gridCol>
                <a:gridCol w="7911864">
                  <a:extLst>
                    <a:ext uri="{9D8B030D-6E8A-4147-A177-3AD203B41FA5}">
                      <a16:colId xmlns:a16="http://schemas.microsoft.com/office/drawing/2014/main" val="1101319048"/>
                    </a:ext>
                  </a:extLst>
                </a:gridCol>
              </a:tblGrid>
              <a:tr h="297725">
                <a:tc>
                  <a:txBody>
                    <a:bodyPr/>
                    <a:lstStyle/>
                    <a:p>
                      <a:pPr algn="ctr"/>
                      <a:r>
                        <a:rPr lang="es-419" dirty="0"/>
                        <a:t>Parámetro</a:t>
                      </a:r>
                    </a:p>
                  </a:txBody>
                  <a:tcPr/>
                </a:tc>
                <a:tc>
                  <a:txBody>
                    <a:bodyPr/>
                    <a:lstStyle/>
                    <a:p>
                      <a:pPr algn="ctr"/>
                      <a:r>
                        <a:rPr lang="es-419" dirty="0"/>
                        <a:t>Límite Mínimo</a:t>
                      </a:r>
                    </a:p>
                  </a:txBody>
                  <a:tcPr/>
                </a:tc>
                <a:tc>
                  <a:txBody>
                    <a:bodyPr/>
                    <a:lstStyle/>
                    <a:p>
                      <a:pPr algn="ctr"/>
                      <a:r>
                        <a:rPr lang="es-419" dirty="0"/>
                        <a:t>Limite Máximo</a:t>
                      </a:r>
                    </a:p>
                  </a:txBody>
                  <a:tcPr/>
                </a:tc>
                <a:tc>
                  <a:txBody>
                    <a:bodyPr/>
                    <a:lstStyle/>
                    <a:p>
                      <a:r>
                        <a:rPr lang="es-419" dirty="0"/>
                        <a:t>Observación</a:t>
                      </a:r>
                    </a:p>
                  </a:txBody>
                  <a:tcPr/>
                </a:tc>
                <a:extLst>
                  <a:ext uri="{0D108BD9-81ED-4DB2-BD59-A6C34878D82A}">
                    <a16:rowId xmlns:a16="http://schemas.microsoft.com/office/drawing/2014/main" val="3982943832"/>
                  </a:ext>
                </a:extLst>
              </a:tr>
              <a:tr h="297725">
                <a:tc>
                  <a:txBody>
                    <a:bodyPr/>
                    <a:lstStyle/>
                    <a:p>
                      <a:pPr algn="ctr"/>
                      <a:r>
                        <a:rPr lang="es-419" sz="1800" kern="1200" dirty="0">
                          <a:solidFill>
                            <a:schemeClr val="dk1"/>
                          </a:solidFill>
                          <a:effectLst/>
                          <a:latin typeface="+mn-lt"/>
                          <a:ea typeface="+mn-ea"/>
                          <a:cs typeface="+mn-cs"/>
                        </a:rPr>
                        <a:t>BUR (°/30 m) </a:t>
                      </a:r>
                      <a:endParaRPr lang="es-419" dirty="0"/>
                    </a:p>
                  </a:txBody>
                  <a:tcPr/>
                </a:tc>
                <a:tc>
                  <a:txBody>
                    <a:bodyPr/>
                    <a:lstStyle/>
                    <a:p>
                      <a:pPr algn="ctr"/>
                      <a:r>
                        <a:rPr lang="es-419" dirty="0"/>
                        <a:t>1</a:t>
                      </a:r>
                    </a:p>
                  </a:txBody>
                  <a:tcPr/>
                </a:tc>
                <a:tc>
                  <a:txBody>
                    <a:bodyPr/>
                    <a:lstStyle/>
                    <a:p>
                      <a:pPr algn="ctr"/>
                      <a:r>
                        <a:rPr lang="es-419" dirty="0"/>
                        <a:t>4</a:t>
                      </a:r>
                    </a:p>
                  </a:txBody>
                  <a:tcPr/>
                </a:tc>
                <a:tc>
                  <a:txBody>
                    <a:bodyPr/>
                    <a:lstStyle/>
                    <a:p>
                      <a:r>
                        <a:rPr lang="es-419" dirty="0"/>
                        <a:t>Valores altos de BUR generan un alta severidad </a:t>
                      </a:r>
                    </a:p>
                  </a:txBody>
                  <a:tcPr/>
                </a:tc>
                <a:extLst>
                  <a:ext uri="{0D108BD9-81ED-4DB2-BD59-A6C34878D82A}">
                    <a16:rowId xmlns:a16="http://schemas.microsoft.com/office/drawing/2014/main" val="1294705684"/>
                  </a:ext>
                </a:extLst>
              </a:tr>
              <a:tr h="297725">
                <a:tc>
                  <a:txBody>
                    <a:bodyPr/>
                    <a:lstStyle/>
                    <a:p>
                      <a:pPr algn="ctr"/>
                      <a:r>
                        <a:rPr lang="es-419" sz="1800" kern="1200" dirty="0" err="1">
                          <a:solidFill>
                            <a:schemeClr val="dk1"/>
                          </a:solidFill>
                          <a:effectLst/>
                          <a:latin typeface="+mn-lt"/>
                          <a:ea typeface="+mn-ea"/>
                          <a:cs typeface="+mn-cs"/>
                        </a:rPr>
                        <a:t>Rc</a:t>
                      </a:r>
                      <a:r>
                        <a:rPr lang="es-419" sz="1800" kern="1200" dirty="0">
                          <a:solidFill>
                            <a:schemeClr val="dk1"/>
                          </a:solidFill>
                          <a:effectLst/>
                          <a:latin typeface="+mn-lt"/>
                          <a:ea typeface="+mn-ea"/>
                          <a:cs typeface="+mn-cs"/>
                        </a:rPr>
                        <a:t> (m)</a:t>
                      </a:r>
                      <a:endParaRPr lang="es-419" dirty="0"/>
                    </a:p>
                  </a:txBody>
                  <a:tcPr/>
                </a:tc>
                <a:tc>
                  <a:txBody>
                    <a:bodyPr/>
                    <a:lstStyle/>
                    <a:p>
                      <a:pPr algn="ctr"/>
                      <a:r>
                        <a:rPr lang="es-419" dirty="0"/>
                        <a:t>214</a:t>
                      </a:r>
                    </a:p>
                  </a:txBody>
                  <a:tcPr/>
                </a:tc>
                <a:tc>
                  <a:txBody>
                    <a:bodyPr/>
                    <a:lstStyle/>
                    <a:p>
                      <a:pPr algn="ctr"/>
                      <a:r>
                        <a:rPr lang="es-419" dirty="0"/>
                        <a:t>1709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dirty="0"/>
                        <a:t>Derivado de los valores de BUR [1, 8]</a:t>
                      </a:r>
                    </a:p>
                  </a:txBody>
                  <a:tcPr/>
                </a:tc>
                <a:extLst>
                  <a:ext uri="{0D108BD9-81ED-4DB2-BD59-A6C34878D82A}">
                    <a16:rowId xmlns:a16="http://schemas.microsoft.com/office/drawing/2014/main" val="3550442053"/>
                  </a:ext>
                </a:extLst>
              </a:tr>
              <a:tr h="297725">
                <a:tc>
                  <a:txBody>
                    <a:bodyPr/>
                    <a:lstStyle/>
                    <a:p>
                      <a:pPr algn="ctr"/>
                      <a:r>
                        <a:rPr lang="es-419" sz="1800" kern="1200" dirty="0">
                          <a:solidFill>
                            <a:schemeClr val="dk1"/>
                          </a:solidFill>
                          <a:effectLst/>
                          <a:latin typeface="+mn-lt"/>
                          <a:ea typeface="+mn-ea"/>
                          <a:cs typeface="+mn-cs"/>
                        </a:rPr>
                        <a:t>DH (m) </a:t>
                      </a:r>
                      <a:endParaRPr lang="es-419" dirty="0"/>
                    </a:p>
                  </a:txBody>
                  <a:tcPr/>
                </a:tc>
                <a:tc>
                  <a:txBody>
                    <a:bodyPr/>
                    <a:lstStyle/>
                    <a:p>
                      <a:pPr algn="ctr"/>
                      <a:r>
                        <a:rPr lang="es-419" dirty="0"/>
                        <a:t>10</a:t>
                      </a:r>
                    </a:p>
                  </a:txBody>
                  <a:tcPr/>
                </a:tc>
                <a:tc>
                  <a:txBody>
                    <a:bodyPr/>
                    <a:lstStyle/>
                    <a:p>
                      <a:pPr algn="ctr"/>
                      <a:r>
                        <a:rPr lang="es-419" dirty="0"/>
                        <a:t>2*</a:t>
                      </a:r>
                      <a:r>
                        <a:rPr lang="es-419" dirty="0" err="1"/>
                        <a:t>Rc</a:t>
                      </a:r>
                      <a:endParaRPr lang="es-419" dirty="0"/>
                    </a:p>
                  </a:txBody>
                  <a:tcPr/>
                </a:tc>
                <a:tc>
                  <a:txBody>
                    <a:bodyPr/>
                    <a:lstStyle/>
                    <a:p>
                      <a:r>
                        <a:rPr lang="es-419" dirty="0"/>
                        <a:t>Evitar DH &gt; 2Rc para garantizar curva J completa.</a:t>
                      </a:r>
                    </a:p>
                  </a:txBody>
                  <a:tcPr/>
                </a:tc>
                <a:extLst>
                  <a:ext uri="{0D108BD9-81ED-4DB2-BD59-A6C34878D82A}">
                    <a16:rowId xmlns:a16="http://schemas.microsoft.com/office/drawing/2014/main" val="1141950760"/>
                  </a:ext>
                </a:extLst>
              </a:tr>
              <a:tr h="297725">
                <a:tc>
                  <a:txBody>
                    <a:bodyPr/>
                    <a:lstStyle/>
                    <a:p>
                      <a:pPr algn="ctr"/>
                      <a:r>
                        <a:rPr lang="es-419" sz="1800" kern="1200" dirty="0">
                          <a:solidFill>
                            <a:schemeClr val="dk1"/>
                          </a:solidFill>
                          <a:effectLst/>
                          <a:latin typeface="+mn-lt"/>
                          <a:ea typeface="+mn-ea"/>
                          <a:cs typeface="+mn-cs"/>
                        </a:rPr>
                        <a:t>KOP (m) </a:t>
                      </a:r>
                      <a:endParaRPr lang="es-419" dirty="0"/>
                    </a:p>
                  </a:txBody>
                  <a:tcPr/>
                </a:tc>
                <a:tc>
                  <a:txBody>
                    <a:bodyPr/>
                    <a:lstStyle/>
                    <a:p>
                      <a:pPr algn="ctr"/>
                      <a:r>
                        <a:rPr lang="es-419" dirty="0"/>
                        <a:t>0</a:t>
                      </a:r>
                    </a:p>
                  </a:txBody>
                  <a:tcPr/>
                </a:tc>
                <a:tc>
                  <a:txBody>
                    <a:bodyPr/>
                    <a:lstStyle/>
                    <a:p>
                      <a:pPr algn="ctr"/>
                      <a:r>
                        <a:rPr lang="es-419" dirty="0"/>
                        <a:t>TVD -30m</a:t>
                      </a:r>
                    </a:p>
                  </a:txBody>
                  <a:tcPr/>
                </a:tc>
                <a:tc>
                  <a:txBody>
                    <a:bodyPr/>
                    <a:lstStyle/>
                    <a:p>
                      <a:r>
                        <a:rPr lang="es-419" dirty="0"/>
                        <a:t>Dejar al menos 10m de tangente </a:t>
                      </a:r>
                    </a:p>
                  </a:txBody>
                  <a:tcPr/>
                </a:tc>
                <a:extLst>
                  <a:ext uri="{0D108BD9-81ED-4DB2-BD59-A6C34878D82A}">
                    <a16:rowId xmlns:a16="http://schemas.microsoft.com/office/drawing/2014/main" val="3114039486"/>
                  </a:ext>
                </a:extLst>
              </a:tr>
              <a:tr h="371888">
                <a:tc>
                  <a:txBody>
                    <a:bodyPr/>
                    <a:lstStyle/>
                    <a:p>
                      <a:pPr algn="ctr"/>
                      <a:r>
                        <a:rPr lang="es-419" sz="1800" kern="1200" dirty="0">
                          <a:solidFill>
                            <a:schemeClr val="dk1"/>
                          </a:solidFill>
                          <a:effectLst/>
                          <a:latin typeface="+mn-lt"/>
                          <a:ea typeface="+mn-ea"/>
                          <a:cs typeface="+mn-cs"/>
                        </a:rPr>
                        <a:t>TVD (m) </a:t>
                      </a:r>
                      <a:endParaRPr lang="es-419" dirty="0"/>
                    </a:p>
                  </a:txBody>
                  <a:tcPr/>
                </a:tc>
                <a:tc>
                  <a:txBody>
                    <a:bodyPr/>
                    <a:lstStyle/>
                    <a:p>
                      <a:pPr algn="ctr"/>
                      <a:r>
                        <a:rPr lang="es-419" dirty="0"/>
                        <a:t>KOP + 30m</a:t>
                      </a:r>
                    </a:p>
                  </a:txBody>
                  <a:tcPr/>
                </a:tc>
                <a:tc>
                  <a:txBody>
                    <a:bodyPr/>
                    <a:lstStyle/>
                    <a:p>
                      <a:pPr algn="ctr"/>
                      <a:r>
                        <a:rPr lang="es-419" dirty="0"/>
                        <a:t>-------</a:t>
                      </a:r>
                    </a:p>
                  </a:txBody>
                  <a:tcPr/>
                </a:tc>
                <a:tc>
                  <a:txBody>
                    <a:bodyPr/>
                    <a:lstStyle/>
                    <a:p>
                      <a:r>
                        <a:rPr lang="es-419" dirty="0"/>
                        <a:t>La profundidad vertical verdadera en un pozo direccional debe de ser mayor al KOP</a:t>
                      </a:r>
                    </a:p>
                  </a:txBody>
                  <a:tcPr/>
                </a:tc>
                <a:extLst>
                  <a:ext uri="{0D108BD9-81ED-4DB2-BD59-A6C34878D82A}">
                    <a16:rowId xmlns:a16="http://schemas.microsoft.com/office/drawing/2014/main" val="1837358385"/>
                  </a:ext>
                </a:extLst>
              </a:tr>
            </a:tbl>
          </a:graphicData>
        </a:graphic>
      </p:graphicFrame>
    </p:spTree>
    <p:extLst>
      <p:ext uri="{BB962C8B-B14F-4D97-AF65-F5344CB8AC3E}">
        <p14:creationId xmlns:p14="http://schemas.microsoft.com/office/powerpoint/2010/main" val="929907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3F380F-B192-4CC0-BA28-12921E3676BB}"/>
              </a:ext>
            </a:extLst>
          </p:cNvPr>
          <p:cNvSpPr>
            <a:spLocks noGrp="1"/>
          </p:cNvSpPr>
          <p:nvPr>
            <p:ph type="title"/>
          </p:nvPr>
        </p:nvSpPr>
        <p:spPr>
          <a:xfrm>
            <a:off x="-820559" y="597568"/>
            <a:ext cx="13794467" cy="792000"/>
          </a:xfrm>
        </p:spPr>
        <p:txBody>
          <a:bodyPr/>
          <a:lstStyle/>
          <a:p>
            <a:r>
              <a:rPr lang="es-419" sz="4400" dirty="0">
                <a:solidFill>
                  <a:schemeClr val="bg1"/>
                </a:solidFill>
                <a:effectLst/>
                <a:latin typeface="Montserrat" pitchFamily="2" charset="0"/>
                <a:ea typeface="Calibri" panose="020F0502020204030204" pitchFamily="34" charset="0"/>
                <a:cs typeface="Times New Roman" panose="02020603050405020304" pitchFamily="18" charset="0"/>
              </a:rPr>
              <a:t>Lógica de las Fórmulas y Condiciones para Resultados Válidos</a:t>
            </a:r>
            <a:br>
              <a:rPr lang="es-419" sz="4400" dirty="0">
                <a:solidFill>
                  <a:schemeClr val="bg1"/>
                </a:solidFill>
                <a:effectLst/>
                <a:latin typeface="Montserrat" pitchFamily="2" charset="0"/>
                <a:ea typeface="Calibri" panose="020F0502020204030204" pitchFamily="34" charset="0"/>
                <a:cs typeface="Times New Roman" panose="02020603050405020304" pitchFamily="18" charset="0"/>
              </a:rPr>
            </a:br>
            <a:endParaRPr lang="es-419" dirty="0">
              <a:latin typeface="Montserrat" pitchFamily="2" charset="0"/>
            </a:endParaRPr>
          </a:p>
        </p:txBody>
      </p:sp>
      <p:sp>
        <p:nvSpPr>
          <p:cNvPr id="3" name="Marcador de contenido 2">
            <a:extLst>
              <a:ext uri="{FF2B5EF4-FFF2-40B4-BE49-F238E27FC236}">
                <a16:creationId xmlns:a16="http://schemas.microsoft.com/office/drawing/2014/main" id="{B2F4DD16-6430-4017-A7D0-3AEF0441BA74}"/>
              </a:ext>
            </a:extLst>
          </p:cNvPr>
          <p:cNvSpPr>
            <a:spLocks noGrp="1"/>
          </p:cNvSpPr>
          <p:nvPr>
            <p:ph idx="1"/>
          </p:nvPr>
        </p:nvSpPr>
        <p:spPr>
          <a:xfrm>
            <a:off x="15881" y="1559422"/>
            <a:ext cx="11520000" cy="5292000"/>
          </a:xfrm>
        </p:spPr>
        <p:txBody>
          <a:bodyPr>
            <a:normAutofit/>
          </a:bodyPr>
          <a:lstStyle/>
          <a:p>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**Azimut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Usa `atan(Ex /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Nx</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con ajustes por cuadrante para determinar la dirección.</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a:t>
            </a:r>
            <a:r>
              <a:rPr lang="es-419" sz="1400"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Condición: `</a:t>
            </a:r>
            <a:r>
              <a:rPr lang="es-419" sz="1400" b="1" dirty="0" err="1">
                <a:solidFill>
                  <a:srgbClr val="FFCF00"/>
                </a:solidFill>
                <a:effectLst/>
                <a:latin typeface="Montserrat" pitchFamily="2" charset="0"/>
                <a:ea typeface="Calibri" panose="020F0502020204030204" pitchFamily="34" charset="0"/>
                <a:cs typeface="Times New Roman" panose="02020603050405020304" pitchFamily="18" charset="0"/>
              </a:rPr>
              <a:t>Nx</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 ≠ 0` o `Ex ≠ 0`</a:t>
            </a:r>
            <a:r>
              <a:rPr lang="es-419" sz="1400" b="1" dirty="0">
                <a:solidFill>
                  <a:schemeClr val="bg1"/>
                </a:solidFill>
                <a:effectLst/>
                <a:latin typeface="Montserrat" pitchFamily="2" charset="0"/>
                <a:ea typeface="Calibri" panose="020F0502020204030204" pitchFamily="34" charset="0"/>
                <a:cs typeface="Times New Roman" panose="02020603050405020304" pitchFamily="18" charset="0"/>
              </a:rPr>
              <a:t>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(si ambos son cero, no hay desplazamiento horizontal).</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**Radio de Curvatura (</a:t>
            </a:r>
            <a:r>
              <a:rPr lang="es-419" sz="1400" b="1" u="sng" dirty="0" err="1">
                <a:solidFill>
                  <a:srgbClr val="FFCF00"/>
                </a:solidFill>
                <a:effectLst/>
                <a:latin typeface="Montserrat" pitchFamily="2" charset="0"/>
                <a:ea typeface="Calibri" panose="020F0502020204030204" pitchFamily="34" charset="0"/>
                <a:cs typeface="Times New Roman" panose="02020603050405020304" pitchFamily="18" charset="0"/>
              </a:rPr>
              <a:t>Rc</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Derivado de `BUR`: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Rc</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(180 / π) * (1 / BUR) * 30`.</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Condición: `BUR &gt; 0`.</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**Ángulo Máximo (</a:t>
            </a:r>
            <a:r>
              <a:rPr lang="es-419" sz="1400" b="1" u="sng" dirty="0" err="1">
                <a:solidFill>
                  <a:srgbClr val="FFCF00"/>
                </a:solidFill>
                <a:effectLst/>
                <a:latin typeface="Montserrat" pitchFamily="2" charset="0"/>
                <a:ea typeface="Calibri" panose="020F0502020204030204" pitchFamily="34" charset="0"/>
                <a:cs typeface="Times New Roman" panose="02020603050405020304" pitchFamily="18" charset="0"/>
              </a:rPr>
              <a:t>Angm</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Calcula la inclinación máxima basada en la geometría de la curva.</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Condiciones: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Rc</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&gt; DH`: Usa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asin</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y `atan`,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asegurando `</a:t>
            </a:r>
            <a:r>
              <a:rPr lang="es-419" sz="1400" b="1" dirty="0" err="1">
                <a:solidFill>
                  <a:srgbClr val="FFCF00"/>
                </a:solidFill>
                <a:effectLst/>
                <a:latin typeface="Montserrat" pitchFamily="2" charset="0"/>
                <a:ea typeface="Calibri" panose="020F0502020204030204" pitchFamily="34" charset="0"/>
                <a:cs typeface="Times New Roman" panose="02020603050405020304" pitchFamily="18" charset="0"/>
              </a:rPr>
              <a:t>Rc</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 / </a:t>
            </a:r>
            <a:r>
              <a:rPr lang="es-419" sz="1400" b="1" dirty="0" err="1">
                <a:solidFill>
                  <a:srgbClr val="FFCF00"/>
                </a:solidFill>
                <a:effectLst/>
                <a:latin typeface="Montserrat" pitchFamily="2" charset="0"/>
                <a:ea typeface="Calibri" panose="020F0502020204030204" pitchFamily="34" charset="0"/>
                <a:cs typeface="Times New Roman" panose="02020603050405020304" pitchFamily="18" charset="0"/>
              </a:rPr>
              <a:t>sqrt</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(a² + b²) ≤ 1`.</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Rc</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&lt; DH`: Usa `acos` y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asin</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asegurando argumentos dentro de [-1, 1].</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**Trayectoria**:</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Usa el método de mínima curvatura para calcular desplazamientos incrementalmente.</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Condición: `</a:t>
            </a:r>
            <a:r>
              <a:rPr lang="es-419" sz="1400" b="1" dirty="0" err="1">
                <a:solidFill>
                  <a:srgbClr val="FFCF00"/>
                </a:solidFill>
                <a:effectLst/>
                <a:latin typeface="Montserrat" pitchFamily="2" charset="0"/>
                <a:ea typeface="Calibri" panose="020F0502020204030204" pitchFamily="34" charset="0"/>
                <a:cs typeface="Times New Roman" panose="02020603050405020304" pitchFamily="18" charset="0"/>
              </a:rPr>
              <a:t>Dla</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 debe ser calculable (ángulos y azimuts coherentes).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br>
              <a:rPr lang="es-419" sz="1400" b="1" dirty="0">
                <a:solidFill>
                  <a:schemeClr val="bg1"/>
                </a:solidFill>
                <a:effectLst/>
                <a:latin typeface="Montserrat" pitchFamily="2" charset="0"/>
                <a:ea typeface="Calibri" panose="020F0502020204030204" pitchFamily="34" charset="0"/>
                <a:cs typeface="Times New Roman" panose="02020603050405020304" pitchFamily="18" charset="0"/>
              </a:rPr>
            </a:br>
            <a:endParaRPr lang="es-419" sz="1400" b="1" dirty="0">
              <a:solidFill>
                <a:schemeClr val="bg1"/>
              </a:solidFill>
              <a:effectLst/>
              <a:latin typeface="Montserrat" pitchFamily="2" charset="0"/>
              <a:ea typeface="Calibri" panose="020F0502020204030204" pitchFamily="34" charset="0"/>
              <a:cs typeface="Times New Roman" panose="02020603050405020304" pitchFamily="18" charset="0"/>
            </a:endParaRPr>
          </a:p>
          <a:p>
            <a:pPr marL="0" indent="0">
              <a:buNone/>
            </a:pPr>
            <a:endParaRPr lang="es-419" sz="1400" dirty="0">
              <a:solidFill>
                <a:schemeClr val="bg1"/>
              </a:solidFill>
              <a:effectLst/>
              <a:latin typeface="Montserrat" pitchFamily="2" charset="0"/>
              <a:ea typeface="Calibri" panose="020F0502020204030204" pitchFamily="34" charset="0"/>
              <a:cs typeface="Times New Roman" panose="02020603050405020304" pitchFamily="18" charset="0"/>
            </a:endParaRPr>
          </a:p>
          <a:p>
            <a:endParaRPr lang="es-419" sz="1400" dirty="0">
              <a:solidFill>
                <a:schemeClr val="bg1"/>
              </a:solidFill>
              <a:latin typeface="Montserrat" pitchFamily="2" charset="0"/>
            </a:endParaRPr>
          </a:p>
        </p:txBody>
      </p:sp>
      <p:sp>
        <p:nvSpPr>
          <p:cNvPr id="4" name="Marcador de número de diapositiva 3">
            <a:extLst>
              <a:ext uri="{FF2B5EF4-FFF2-40B4-BE49-F238E27FC236}">
                <a16:creationId xmlns:a16="http://schemas.microsoft.com/office/drawing/2014/main" id="{10B82126-4612-4273-9BA2-1DFDA196B60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5" name="Tabla 5">
            <a:extLst>
              <a:ext uri="{FF2B5EF4-FFF2-40B4-BE49-F238E27FC236}">
                <a16:creationId xmlns:a16="http://schemas.microsoft.com/office/drawing/2014/main" id="{044F170C-9B1E-4BCB-B7BF-D0BF7630A583}"/>
              </a:ext>
            </a:extLst>
          </p:cNvPr>
          <p:cNvGraphicFramePr>
            <a:graphicFrameLocks/>
          </p:cNvGraphicFramePr>
          <p:nvPr/>
        </p:nvGraphicFramePr>
        <p:xfrm>
          <a:off x="198954" y="4796156"/>
          <a:ext cx="11520486" cy="1925320"/>
        </p:xfrm>
        <a:graphic>
          <a:graphicData uri="http://schemas.openxmlformats.org/drawingml/2006/table">
            <a:tbl>
              <a:tblPr firstRow="1" bandRow="1">
                <a:tableStyleId>{5C22544A-7EE6-4342-B048-85BDC9FD1C3A}</a:tableStyleId>
              </a:tblPr>
              <a:tblGrid>
                <a:gridCol w="2018213">
                  <a:extLst>
                    <a:ext uri="{9D8B030D-6E8A-4147-A177-3AD203B41FA5}">
                      <a16:colId xmlns:a16="http://schemas.microsoft.com/office/drawing/2014/main" val="1559856961"/>
                    </a:ext>
                  </a:extLst>
                </a:gridCol>
                <a:gridCol w="4211053">
                  <a:extLst>
                    <a:ext uri="{9D8B030D-6E8A-4147-A177-3AD203B41FA5}">
                      <a16:colId xmlns:a16="http://schemas.microsoft.com/office/drawing/2014/main" val="3074565177"/>
                    </a:ext>
                  </a:extLst>
                </a:gridCol>
                <a:gridCol w="5291220">
                  <a:extLst>
                    <a:ext uri="{9D8B030D-6E8A-4147-A177-3AD203B41FA5}">
                      <a16:colId xmlns:a16="http://schemas.microsoft.com/office/drawing/2014/main" val="1443907404"/>
                    </a:ext>
                  </a:extLst>
                </a:gridCol>
              </a:tblGrid>
              <a:tr h="370840">
                <a:tc>
                  <a:txBody>
                    <a:bodyPr/>
                    <a:lstStyle/>
                    <a:p>
                      <a:r>
                        <a:rPr lang="es-419" dirty="0"/>
                        <a:t>Error</a:t>
                      </a:r>
                    </a:p>
                  </a:txBody>
                  <a:tcPr/>
                </a:tc>
                <a:tc>
                  <a:txBody>
                    <a:bodyPr/>
                    <a:lstStyle/>
                    <a:p>
                      <a:r>
                        <a:rPr lang="es-419" dirty="0"/>
                        <a:t>Causa</a:t>
                      </a:r>
                    </a:p>
                  </a:txBody>
                  <a:tcPr/>
                </a:tc>
                <a:tc>
                  <a:txBody>
                    <a:bodyPr/>
                    <a:lstStyle/>
                    <a:p>
                      <a:r>
                        <a:rPr lang="es-419" dirty="0"/>
                        <a:t>Prevención</a:t>
                      </a:r>
                    </a:p>
                  </a:txBody>
                  <a:tcPr/>
                </a:tc>
                <a:extLst>
                  <a:ext uri="{0D108BD9-81ED-4DB2-BD59-A6C34878D82A}">
                    <a16:rowId xmlns:a16="http://schemas.microsoft.com/office/drawing/2014/main" val="2124604815"/>
                  </a:ext>
                </a:extLst>
              </a:tr>
              <a:tr h="370840">
                <a:tc>
                  <a:txBody>
                    <a:bodyPr/>
                    <a:lstStyle/>
                    <a:p>
                      <a:r>
                        <a:rPr lang="es-419" dirty="0" err="1"/>
                        <a:t>ValueError</a:t>
                      </a:r>
                      <a:r>
                        <a:rPr lang="es-419" dirty="0"/>
                        <a:t> </a:t>
                      </a:r>
                    </a:p>
                  </a:txBody>
                  <a:tcPr/>
                </a:tc>
                <a:tc>
                  <a:txBody>
                    <a:bodyPr/>
                    <a:lstStyle/>
                    <a:p>
                      <a:r>
                        <a:rPr lang="es-419" dirty="0"/>
                        <a:t>Entrada no numérica (letras, símbolos, </a:t>
                      </a:r>
                      <a:r>
                        <a:rPr lang="es-419" dirty="0" err="1"/>
                        <a:t>etc</a:t>
                      </a:r>
                      <a:r>
                        <a:rPr lang="es-419" dirty="0"/>
                        <a:t>)</a:t>
                      </a:r>
                    </a:p>
                  </a:txBody>
                  <a:tcPr/>
                </a:tc>
                <a:tc>
                  <a:txBody>
                    <a:bodyPr/>
                    <a:lstStyle/>
                    <a:p>
                      <a:r>
                        <a:rPr lang="es-419" dirty="0"/>
                        <a:t>Verificar los datos ingresados antes de presionar el botón de calcular</a:t>
                      </a:r>
                    </a:p>
                  </a:txBody>
                  <a:tcPr/>
                </a:tc>
                <a:extLst>
                  <a:ext uri="{0D108BD9-81ED-4DB2-BD59-A6C34878D82A}">
                    <a16:rowId xmlns:a16="http://schemas.microsoft.com/office/drawing/2014/main" val="4123058861"/>
                  </a:ext>
                </a:extLst>
              </a:tr>
              <a:tr h="370840">
                <a:tc>
                  <a:txBody>
                    <a:bodyPr/>
                    <a:lstStyle/>
                    <a:p>
                      <a:r>
                        <a:rPr lang="es-419" dirty="0" err="1"/>
                        <a:t>ZeroDivisionError</a:t>
                      </a:r>
                      <a:r>
                        <a:rPr lang="es-419" dirty="0"/>
                        <a:t> / </a:t>
                      </a:r>
                      <a:r>
                        <a:rPr lang="es-419" dirty="0" err="1"/>
                        <a:t>Float</a:t>
                      </a:r>
                      <a:r>
                        <a:rPr lang="es-419" dirty="0"/>
                        <a:t> </a:t>
                      </a:r>
                      <a:r>
                        <a:rPr lang="es-419" dirty="0" err="1"/>
                        <a:t>division</a:t>
                      </a:r>
                      <a:r>
                        <a:rPr lang="es-419" dirty="0"/>
                        <a:t> </a:t>
                      </a:r>
                      <a:r>
                        <a:rPr lang="es-419" dirty="0" err="1"/>
                        <a:t>by</a:t>
                      </a:r>
                      <a:r>
                        <a:rPr lang="es-419" dirty="0"/>
                        <a:t> </a:t>
                      </a:r>
                      <a:r>
                        <a:rPr lang="es-419" dirty="0" err="1"/>
                        <a:t>zero</a:t>
                      </a:r>
                      <a:endParaRPr lang="es-419" dirty="0"/>
                    </a:p>
                  </a:txBody>
                  <a:tcPr/>
                </a:tc>
                <a:tc>
                  <a:txBody>
                    <a:bodyPr/>
                    <a:lstStyle/>
                    <a:p>
                      <a:r>
                        <a:rPr lang="es-419" dirty="0"/>
                        <a:t>División para cero, BUR= 0</a:t>
                      </a:r>
                    </a:p>
                  </a:txBody>
                  <a:tcPr/>
                </a:tc>
                <a:tc>
                  <a:txBody>
                    <a:bodyPr/>
                    <a:lstStyle/>
                    <a:p>
                      <a:r>
                        <a:rPr lang="es-419" dirty="0"/>
                        <a:t>Verificar que las coordenadas no sean las mismas (objetivo/superficie), valores no validos de BUR O DOR, ‘</a:t>
                      </a:r>
                      <a:r>
                        <a:rPr lang="es-419" sz="1800" kern="1200" dirty="0">
                          <a:solidFill>
                            <a:schemeClr val="dk1"/>
                          </a:solidFill>
                          <a:effectLst/>
                          <a:latin typeface="+mn-lt"/>
                          <a:ea typeface="+mn-ea"/>
                          <a:cs typeface="+mn-cs"/>
                        </a:rPr>
                        <a:t>KOP &gt; TVD’</a:t>
                      </a:r>
                      <a:endParaRPr lang="es-419" dirty="0"/>
                    </a:p>
                  </a:txBody>
                  <a:tcPr/>
                </a:tc>
                <a:extLst>
                  <a:ext uri="{0D108BD9-81ED-4DB2-BD59-A6C34878D82A}">
                    <a16:rowId xmlns:a16="http://schemas.microsoft.com/office/drawing/2014/main" val="3360591314"/>
                  </a:ext>
                </a:extLst>
              </a:tr>
            </a:tbl>
          </a:graphicData>
        </a:graphic>
      </p:graphicFrame>
    </p:spTree>
    <p:extLst>
      <p:ext uri="{BB962C8B-B14F-4D97-AF65-F5344CB8AC3E}">
        <p14:creationId xmlns:p14="http://schemas.microsoft.com/office/powerpoint/2010/main" val="648626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5C76228C-A74D-44D7-8590-3E96095D07C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11" name="Tabla 11">
            <a:extLst>
              <a:ext uri="{FF2B5EF4-FFF2-40B4-BE49-F238E27FC236}">
                <a16:creationId xmlns:a16="http://schemas.microsoft.com/office/drawing/2014/main" id="{69610D02-6AF5-41D2-8CDE-D23D433FB926}"/>
              </a:ext>
            </a:extLst>
          </p:cNvPr>
          <p:cNvGraphicFramePr>
            <a:graphicFrameLocks noGrp="1"/>
          </p:cNvGraphicFramePr>
          <p:nvPr>
            <p:ph idx="1"/>
          </p:nvPr>
        </p:nvGraphicFramePr>
        <p:xfrm>
          <a:off x="335758" y="163787"/>
          <a:ext cx="11520484" cy="6557689"/>
        </p:xfrm>
        <a:graphic>
          <a:graphicData uri="http://schemas.openxmlformats.org/drawingml/2006/table">
            <a:tbl>
              <a:tblPr firstRow="1" bandRow="1">
                <a:tableStyleId>{5C22544A-7EE6-4342-B048-85BDC9FD1C3A}</a:tableStyleId>
              </a:tblPr>
              <a:tblGrid>
                <a:gridCol w="2880121">
                  <a:extLst>
                    <a:ext uri="{9D8B030D-6E8A-4147-A177-3AD203B41FA5}">
                      <a16:colId xmlns:a16="http://schemas.microsoft.com/office/drawing/2014/main" val="4208083234"/>
                    </a:ext>
                  </a:extLst>
                </a:gridCol>
                <a:gridCol w="4661426">
                  <a:extLst>
                    <a:ext uri="{9D8B030D-6E8A-4147-A177-3AD203B41FA5}">
                      <a16:colId xmlns:a16="http://schemas.microsoft.com/office/drawing/2014/main" val="2654289028"/>
                    </a:ext>
                  </a:extLst>
                </a:gridCol>
                <a:gridCol w="2604977">
                  <a:extLst>
                    <a:ext uri="{9D8B030D-6E8A-4147-A177-3AD203B41FA5}">
                      <a16:colId xmlns:a16="http://schemas.microsoft.com/office/drawing/2014/main" val="2983594487"/>
                    </a:ext>
                  </a:extLst>
                </a:gridCol>
                <a:gridCol w="1373960">
                  <a:extLst>
                    <a:ext uri="{9D8B030D-6E8A-4147-A177-3AD203B41FA5}">
                      <a16:colId xmlns:a16="http://schemas.microsoft.com/office/drawing/2014/main" val="1592572262"/>
                    </a:ext>
                  </a:extLst>
                </a:gridCol>
              </a:tblGrid>
              <a:tr h="522649">
                <a:tc>
                  <a:txBody>
                    <a:bodyPr/>
                    <a:lstStyle/>
                    <a:p>
                      <a:pPr algn="ctr"/>
                      <a:r>
                        <a:rPr lang="es-419" dirty="0"/>
                        <a:t>Entrada</a:t>
                      </a:r>
                    </a:p>
                  </a:txBody>
                  <a:tcPr/>
                </a:tc>
                <a:tc>
                  <a:txBody>
                    <a:bodyPr/>
                    <a:lstStyle/>
                    <a:p>
                      <a:pPr algn="ctr"/>
                      <a:r>
                        <a:rPr lang="es-419" dirty="0"/>
                        <a:t>Descripción</a:t>
                      </a:r>
                    </a:p>
                  </a:txBody>
                  <a:tcPr/>
                </a:tc>
                <a:tc>
                  <a:txBody>
                    <a:bodyPr/>
                    <a:lstStyle/>
                    <a:p>
                      <a:pPr algn="ctr"/>
                      <a:r>
                        <a:rPr lang="es-419" dirty="0"/>
                        <a:t>Formato</a:t>
                      </a:r>
                    </a:p>
                  </a:txBody>
                  <a:tcPr/>
                </a:tc>
                <a:tc>
                  <a:txBody>
                    <a:bodyPr/>
                    <a:lstStyle/>
                    <a:p>
                      <a:pPr algn="ctr"/>
                      <a:r>
                        <a:rPr lang="es-419" dirty="0"/>
                        <a:t>Ejemplo</a:t>
                      </a:r>
                    </a:p>
                  </a:txBody>
                  <a:tcPr/>
                </a:tc>
                <a:extLst>
                  <a:ext uri="{0D108BD9-81ED-4DB2-BD59-A6C34878D82A}">
                    <a16:rowId xmlns:a16="http://schemas.microsoft.com/office/drawing/2014/main" val="2558853852"/>
                  </a:ext>
                </a:extLst>
              </a:tr>
              <a:tr h="522649">
                <a:tc>
                  <a:txBody>
                    <a:bodyPr/>
                    <a:lstStyle/>
                    <a:p>
                      <a:pPr algn="ctr"/>
                      <a:r>
                        <a:rPr lang="es-419" dirty="0"/>
                        <a:t>Coordenadas N/S al final de la trayectoria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norte/sur de la superficie en unidades UTM</a:t>
                      </a:r>
                    </a:p>
                  </a:txBody>
                  <a:tcPr/>
                </a:tc>
                <a:tc>
                  <a:txBody>
                    <a:bodyPr/>
                    <a:lstStyle/>
                    <a:p>
                      <a:pPr algn="ctr"/>
                      <a:r>
                        <a:rPr lang="es-419" dirty="0"/>
                        <a:t>Numero decimal </a:t>
                      </a:r>
                    </a:p>
                  </a:txBody>
                  <a:tcPr/>
                </a:tc>
                <a:tc>
                  <a:txBody>
                    <a:bodyPr/>
                    <a:lstStyle/>
                    <a:p>
                      <a:pPr algn="ctr"/>
                      <a:r>
                        <a:rPr lang="es-419" dirty="0">
                          <a:solidFill>
                            <a:schemeClr val="tx1"/>
                          </a:solidFill>
                        </a:rPr>
                        <a:t>2266949.85</a:t>
                      </a:r>
                    </a:p>
                  </a:txBody>
                  <a:tcPr/>
                </a:tc>
                <a:extLst>
                  <a:ext uri="{0D108BD9-81ED-4DB2-BD59-A6C34878D82A}">
                    <a16:rowId xmlns:a16="http://schemas.microsoft.com/office/drawing/2014/main" val="2583935723"/>
                  </a:ext>
                </a:extLst>
              </a:tr>
              <a:tr h="261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N/S de la superficie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norte/sur de la superficie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2265949.85</a:t>
                      </a:r>
                    </a:p>
                  </a:txBody>
                  <a:tcPr/>
                </a:tc>
                <a:extLst>
                  <a:ext uri="{0D108BD9-81ED-4DB2-BD59-A6C34878D82A}">
                    <a16:rowId xmlns:a16="http://schemas.microsoft.com/office/drawing/2014/main" val="3017457318"/>
                  </a:ext>
                </a:extLst>
              </a:tr>
              <a:tr h="522649">
                <a:tc>
                  <a:txBody>
                    <a:bodyPr/>
                    <a:lstStyle/>
                    <a:p>
                      <a:pPr algn="ctr"/>
                      <a:r>
                        <a:rPr lang="es-419" dirty="0"/>
                        <a:t>Coordenadas E/W al final de la trayectoria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este/oeste del objetivo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654949.6</a:t>
                      </a:r>
                    </a:p>
                  </a:txBody>
                  <a:tcPr/>
                </a:tc>
                <a:extLst>
                  <a:ext uri="{0D108BD9-81ED-4DB2-BD59-A6C34878D82A}">
                    <a16:rowId xmlns:a16="http://schemas.microsoft.com/office/drawing/2014/main" val="2939152690"/>
                  </a:ext>
                </a:extLst>
              </a:tr>
              <a:tr h="5226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E/W de la superficie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este/oeste de la superficie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654449.6</a:t>
                      </a:r>
                    </a:p>
                  </a:txBody>
                  <a:tcPr/>
                </a:tc>
                <a:extLst>
                  <a:ext uri="{0D108BD9-81ED-4DB2-BD59-A6C34878D82A}">
                    <a16:rowId xmlns:a16="http://schemas.microsoft.com/office/drawing/2014/main" val="708623386"/>
                  </a:ext>
                </a:extLst>
              </a:tr>
              <a:tr h="522649">
                <a:tc>
                  <a:txBody>
                    <a:bodyPr/>
                    <a:lstStyle/>
                    <a:p>
                      <a:pPr algn="ctr"/>
                      <a:r>
                        <a:rPr lang="es-419" dirty="0"/>
                        <a:t>Ritmo de incremento/ 30m (BUR)</a:t>
                      </a:r>
                    </a:p>
                  </a:txBody>
                  <a:tcPr/>
                </a:tc>
                <a:tc>
                  <a:txBody>
                    <a:bodyPr/>
                    <a:lstStyle/>
                    <a:p>
                      <a:pPr algn="ctr"/>
                      <a:r>
                        <a:rPr lang="es-419" dirty="0"/>
                        <a:t>Tasa de incremento de ángulo cada 30 m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2.5</a:t>
                      </a:r>
                    </a:p>
                  </a:txBody>
                  <a:tcPr/>
                </a:tc>
                <a:extLst>
                  <a:ext uri="{0D108BD9-81ED-4DB2-BD59-A6C34878D82A}">
                    <a16:rowId xmlns:a16="http://schemas.microsoft.com/office/drawing/2014/main" val="3371900986"/>
                  </a:ext>
                </a:extLst>
              </a:tr>
              <a:tr h="522649">
                <a:tc>
                  <a:txBody>
                    <a:bodyPr/>
                    <a:lstStyle/>
                    <a:p>
                      <a:pPr algn="ctr"/>
                      <a:r>
                        <a:rPr lang="es-419" dirty="0"/>
                        <a:t>Ritmo de reducción/ 30m (DOR)</a:t>
                      </a:r>
                    </a:p>
                  </a:txBody>
                  <a:tcPr/>
                </a:tc>
                <a:tc>
                  <a:txBody>
                    <a:bodyPr/>
                    <a:lstStyle/>
                    <a:p>
                      <a:pPr algn="ctr"/>
                      <a:r>
                        <a:rPr lang="es-419" dirty="0"/>
                        <a:t>Tasa de incremento de ángulo cada 30 m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2.5</a:t>
                      </a:r>
                    </a:p>
                  </a:txBody>
                  <a:tcPr/>
                </a:tc>
                <a:extLst>
                  <a:ext uri="{0D108BD9-81ED-4DB2-BD59-A6C34878D82A}">
                    <a16:rowId xmlns:a16="http://schemas.microsoft.com/office/drawing/2014/main" val="1408805311"/>
                  </a:ext>
                </a:extLst>
              </a:tr>
              <a:tr h="522649">
                <a:tc>
                  <a:txBody>
                    <a:bodyPr/>
                    <a:lstStyle/>
                    <a:p>
                      <a:pPr algn="ctr"/>
                      <a:r>
                        <a:rPr lang="es-419" dirty="0"/>
                        <a:t>Inicio de desviación (KOP) 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Profundidad del inicio de la curvatura (metros)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300</a:t>
                      </a:r>
                    </a:p>
                  </a:txBody>
                  <a:tcPr/>
                </a:tc>
                <a:extLst>
                  <a:ext uri="{0D108BD9-81ED-4DB2-BD59-A6C34878D82A}">
                    <a16:rowId xmlns:a16="http://schemas.microsoft.com/office/drawing/2014/main" val="3382278837"/>
                  </a:ext>
                </a:extLst>
              </a:tr>
              <a:tr h="522649">
                <a:tc>
                  <a:txBody>
                    <a:bodyPr/>
                    <a:lstStyle/>
                    <a:p>
                      <a:pPr algn="ctr"/>
                      <a:r>
                        <a:rPr lang="es-419" dirty="0"/>
                        <a:t>Profundidad vertical al objetivo (TVD) m:</a:t>
                      </a:r>
                    </a:p>
                  </a:txBody>
                  <a:tcPr/>
                </a:tc>
                <a:tc>
                  <a:txBody>
                    <a:bodyPr/>
                    <a:lstStyle/>
                    <a:p>
                      <a:pPr algn="ctr"/>
                      <a:r>
                        <a:rPr lang="es-419" dirty="0"/>
                        <a:t>Profundidad solamente contemplando desplazamiento vertical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1500</a:t>
                      </a:r>
                    </a:p>
                  </a:txBody>
                  <a:tcPr/>
                </a:tc>
                <a:extLst>
                  <a:ext uri="{0D108BD9-81ED-4DB2-BD59-A6C34878D82A}">
                    <a16:rowId xmlns:a16="http://schemas.microsoft.com/office/drawing/2014/main" val="537697030"/>
                  </a:ext>
                </a:extLst>
              </a:tr>
              <a:tr h="522649">
                <a:tc>
                  <a:txBody>
                    <a:bodyPr/>
                    <a:lstStyle/>
                    <a:p>
                      <a:pPr algn="ctr"/>
                      <a:r>
                        <a:rPr lang="es-419" dirty="0"/>
                        <a:t>Distancia después de la curva/decremento m:</a:t>
                      </a:r>
                    </a:p>
                  </a:txBody>
                  <a:tcPr/>
                </a:tc>
                <a:tc>
                  <a:txBody>
                    <a:bodyPr/>
                    <a:lstStyle/>
                    <a:p>
                      <a:pPr algn="ctr"/>
                      <a:r>
                        <a:rPr lang="es-419" dirty="0"/>
                        <a:t>Distancia a la cual se mantiene el ángulo creado después de pasar por las coordenadas del objetivo en pozo II y III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 </a:t>
                      </a:r>
                    </a:p>
                    <a:p>
                      <a:pPr algn="ctr"/>
                      <a:endParaRPr lang="es-419" dirty="0"/>
                    </a:p>
                  </a:txBody>
                  <a:tcPr/>
                </a:tc>
                <a:tc>
                  <a:txBody>
                    <a:bodyPr/>
                    <a:lstStyle/>
                    <a:p>
                      <a:pPr algn="ctr"/>
                      <a:r>
                        <a:rPr lang="es-419" dirty="0">
                          <a:solidFill>
                            <a:schemeClr val="tx1"/>
                          </a:solidFill>
                        </a:rPr>
                        <a:t>200</a:t>
                      </a:r>
                    </a:p>
                  </a:txBody>
                  <a:tcPr/>
                </a:tc>
                <a:extLst>
                  <a:ext uri="{0D108BD9-81ED-4DB2-BD59-A6C34878D82A}">
                    <a16:rowId xmlns:a16="http://schemas.microsoft.com/office/drawing/2014/main" val="2248396114"/>
                  </a:ext>
                </a:extLst>
              </a:tr>
            </a:tbl>
          </a:graphicData>
        </a:graphic>
      </p:graphicFrame>
    </p:spTree>
    <p:extLst>
      <p:ext uri="{BB962C8B-B14F-4D97-AF65-F5344CB8AC3E}">
        <p14:creationId xmlns:p14="http://schemas.microsoft.com/office/powerpoint/2010/main" val="404618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E35A2BC-3039-48A0-84F6-8DEBE0388599}"/>
              </a:ext>
            </a:extLst>
          </p:cNvPr>
          <p:cNvPicPr>
            <a:picLocks noChangeAspect="1"/>
          </p:cNvPicPr>
          <p:nvPr/>
        </p:nvPicPr>
        <p:blipFill>
          <a:blip r:embed="rId2"/>
          <a:stretch>
            <a:fillRect/>
          </a:stretch>
        </p:blipFill>
        <p:spPr>
          <a:xfrm>
            <a:off x="3544660" y="1520827"/>
            <a:ext cx="3189223" cy="4351338"/>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3992336" y="366362"/>
            <a:ext cx="8202534" cy="662781"/>
          </a:xfrm>
        </p:spPr>
        <p:txBody>
          <a:bodyPr vert="horz" lIns="91440" tIns="45720" rIns="91440" bIns="45720" rtlCol="0" anchor="ctr">
            <a:noAutofit/>
          </a:bodyPr>
          <a:lstStyle/>
          <a:p>
            <a:pPr algn="ctr"/>
            <a:r>
              <a:rPr lang="es-419" sz="3600" b="1" dirty="0">
                <a:solidFill>
                  <a:schemeClr val="bg1"/>
                </a:solidFill>
                <a:latin typeface="Montserrat" panose="00000500000000000000" pitchFamily="2" charset="0"/>
              </a:rPr>
              <a:t>Puntos a considerar en el diseño de la trayectoria tipo II (S)</a:t>
            </a:r>
          </a:p>
        </p:txBody>
      </p:sp>
      <p:cxnSp>
        <p:nvCxnSpPr>
          <p:cNvPr id="6" name="Conector recto de flecha 5">
            <a:extLst>
              <a:ext uri="{FF2B5EF4-FFF2-40B4-BE49-F238E27FC236}">
                <a16:creationId xmlns:a16="http://schemas.microsoft.com/office/drawing/2014/main" id="{F42787C9-6BF1-4588-B9D2-22FF0FED0AFC}"/>
              </a:ext>
            </a:extLst>
          </p:cNvPr>
          <p:cNvCxnSpPr>
            <a:cxnSpLocks/>
          </p:cNvCxnSpPr>
          <p:nvPr/>
        </p:nvCxnSpPr>
        <p:spPr>
          <a:xfrm flipV="1">
            <a:off x="4661651" y="3929883"/>
            <a:ext cx="2582327" cy="2"/>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7A75FB1C-09F3-4290-A3D4-2702F4688D9A}"/>
              </a:ext>
            </a:extLst>
          </p:cNvPr>
          <p:cNvSpPr txBox="1"/>
          <p:nvPr/>
        </p:nvSpPr>
        <p:spPr>
          <a:xfrm>
            <a:off x="7042679" y="3616977"/>
            <a:ext cx="4596871" cy="646331"/>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1.- Coordenadas UTM de superficie: Norte/Sur </a:t>
            </a:r>
            <a:r>
              <a:rPr lang="es-419" sz="1800" kern="1200" dirty="0">
                <a:solidFill>
                  <a:srgbClr val="FFCF00"/>
                </a:solidFill>
                <a:effectLst/>
                <a:latin typeface="Montserrat" panose="00000500000000000000" pitchFamily="2" charset="0"/>
                <a:ea typeface="+mn-ea"/>
                <a:cs typeface="+mn-cs"/>
              </a:rPr>
              <a:t>(N/S)</a:t>
            </a:r>
            <a:r>
              <a:rPr lang="es-419" dirty="0">
                <a:solidFill>
                  <a:srgbClr val="FFCF00"/>
                </a:solidFill>
                <a:latin typeface="Montserrat" panose="00000500000000000000" pitchFamily="2" charset="0"/>
              </a:rPr>
              <a:t> Y Este/Oeste </a:t>
            </a:r>
            <a:r>
              <a:rPr lang="es-419" sz="1800" kern="1200" dirty="0">
                <a:solidFill>
                  <a:srgbClr val="FFCF00"/>
                </a:solidFill>
                <a:effectLst/>
                <a:latin typeface="Montserrat" panose="00000500000000000000" pitchFamily="2" charset="0"/>
                <a:ea typeface="+mn-ea"/>
                <a:cs typeface="+mn-cs"/>
              </a:rPr>
              <a:t>(E/W)</a:t>
            </a:r>
            <a:endParaRPr lang="es-419" dirty="0">
              <a:solidFill>
                <a:srgbClr val="FFCF00"/>
              </a:solidFill>
              <a:latin typeface="Montserrat" panose="00000500000000000000" pitchFamily="2" charset="0"/>
            </a:endParaRPr>
          </a:p>
        </p:txBody>
      </p:sp>
      <p:cxnSp>
        <p:nvCxnSpPr>
          <p:cNvPr id="9" name="Conector recto de flecha 8">
            <a:extLst>
              <a:ext uri="{FF2B5EF4-FFF2-40B4-BE49-F238E27FC236}">
                <a16:creationId xmlns:a16="http://schemas.microsoft.com/office/drawing/2014/main" id="{C7CCBB9E-2055-463E-A721-FC6F8AAB2A6F}"/>
              </a:ext>
            </a:extLst>
          </p:cNvPr>
          <p:cNvCxnSpPr>
            <a:cxnSpLocks/>
          </p:cNvCxnSpPr>
          <p:nvPr/>
        </p:nvCxnSpPr>
        <p:spPr>
          <a:xfrm>
            <a:off x="5750351" y="5273884"/>
            <a:ext cx="665551" cy="4147"/>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A82BFA58-AF7C-4097-9F0E-FDD325B0775A}"/>
              </a:ext>
            </a:extLst>
          </p:cNvPr>
          <p:cNvSpPr txBox="1"/>
          <p:nvPr/>
        </p:nvSpPr>
        <p:spPr>
          <a:xfrm>
            <a:off x="6234924" y="5146146"/>
            <a:ext cx="4302195" cy="646331"/>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2.- Coordenadas UTM de objetivo: Norte/Sur </a:t>
            </a:r>
            <a:r>
              <a:rPr lang="es-419" sz="1800" kern="1200" dirty="0">
                <a:solidFill>
                  <a:srgbClr val="FFCF00"/>
                </a:solidFill>
                <a:effectLst/>
                <a:latin typeface="Montserrat" panose="00000500000000000000" pitchFamily="2" charset="0"/>
                <a:ea typeface="+mn-ea"/>
                <a:cs typeface="+mn-cs"/>
              </a:rPr>
              <a:t>(N/S) </a:t>
            </a:r>
            <a:r>
              <a:rPr lang="es-419" dirty="0">
                <a:solidFill>
                  <a:srgbClr val="FFCF00"/>
                </a:solidFill>
                <a:latin typeface="Montserrat" panose="00000500000000000000" pitchFamily="2" charset="0"/>
              </a:rPr>
              <a:t>Y Este/Oeste </a:t>
            </a:r>
            <a:r>
              <a:rPr lang="es-419" sz="1800" kern="1200" dirty="0">
                <a:solidFill>
                  <a:srgbClr val="FFCF00"/>
                </a:solidFill>
                <a:effectLst/>
                <a:latin typeface="Montserrat" panose="00000500000000000000" pitchFamily="2" charset="0"/>
                <a:ea typeface="+mn-ea"/>
                <a:cs typeface="+mn-cs"/>
              </a:rPr>
              <a:t>(E/W)</a:t>
            </a:r>
            <a:endParaRPr lang="es-419" dirty="0">
              <a:solidFill>
                <a:srgbClr val="FFCF00"/>
              </a:solidFill>
              <a:latin typeface="Montserrat" panose="00000500000000000000" pitchFamily="2" charset="0"/>
            </a:endParaRPr>
          </a:p>
        </p:txBody>
      </p:sp>
      <p:grpSp>
        <p:nvGrpSpPr>
          <p:cNvPr id="23" name="Grupo 22">
            <a:extLst>
              <a:ext uri="{FF2B5EF4-FFF2-40B4-BE49-F238E27FC236}">
                <a16:creationId xmlns:a16="http://schemas.microsoft.com/office/drawing/2014/main" id="{675380BA-9FDD-4588-89A3-D68B7214AC5D}"/>
              </a:ext>
            </a:extLst>
          </p:cNvPr>
          <p:cNvGrpSpPr/>
          <p:nvPr/>
        </p:nvGrpSpPr>
        <p:grpSpPr>
          <a:xfrm>
            <a:off x="4161102" y="3899245"/>
            <a:ext cx="152400" cy="1364053"/>
            <a:chOff x="4114803" y="4127848"/>
            <a:chExt cx="152400" cy="1620000"/>
          </a:xfrm>
        </p:grpSpPr>
        <p:cxnSp>
          <p:nvCxnSpPr>
            <p:cNvPr id="13" name="Conector recto 12">
              <a:extLst>
                <a:ext uri="{FF2B5EF4-FFF2-40B4-BE49-F238E27FC236}">
                  <a16:creationId xmlns:a16="http://schemas.microsoft.com/office/drawing/2014/main" id="{F1D4B2B7-5149-481F-9000-E5BB7E89F675}"/>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E5893F41-3716-4367-9560-A9FE965C602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27F1093C-F0CE-4D6A-936B-FAF25F47464F}"/>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17" name="Conector recto de flecha 16">
            <a:extLst>
              <a:ext uri="{FF2B5EF4-FFF2-40B4-BE49-F238E27FC236}">
                <a16:creationId xmlns:a16="http://schemas.microsoft.com/office/drawing/2014/main" id="{6B461E8B-684B-4B66-BCFC-AB0795D0548E}"/>
              </a:ext>
            </a:extLst>
          </p:cNvPr>
          <p:cNvCxnSpPr>
            <a:cxnSpLocks/>
          </p:cNvCxnSpPr>
          <p:nvPr/>
        </p:nvCxnSpPr>
        <p:spPr>
          <a:xfrm flipH="1">
            <a:off x="3242739" y="4034708"/>
            <a:ext cx="994565"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0FAAFC12-5A74-4AA7-AFA6-9AC3AC35A516}"/>
              </a:ext>
            </a:extLst>
          </p:cNvPr>
          <p:cNvSpPr txBox="1"/>
          <p:nvPr/>
        </p:nvSpPr>
        <p:spPr>
          <a:xfrm>
            <a:off x="403532" y="3524778"/>
            <a:ext cx="3141128" cy="646331"/>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4.- Profundidad vertical al objetivo (TVD)</a:t>
            </a:r>
          </a:p>
        </p:txBody>
      </p:sp>
      <p:grpSp>
        <p:nvGrpSpPr>
          <p:cNvPr id="18" name="Grupo 17">
            <a:extLst>
              <a:ext uri="{FF2B5EF4-FFF2-40B4-BE49-F238E27FC236}">
                <a16:creationId xmlns:a16="http://schemas.microsoft.com/office/drawing/2014/main" id="{CF35FB25-321D-4591-81A9-D4A24BFCDB23}"/>
              </a:ext>
            </a:extLst>
          </p:cNvPr>
          <p:cNvGrpSpPr/>
          <p:nvPr/>
        </p:nvGrpSpPr>
        <p:grpSpPr>
          <a:xfrm>
            <a:off x="4461067" y="4434027"/>
            <a:ext cx="690876" cy="507454"/>
            <a:chOff x="4368806" y="4626740"/>
            <a:chExt cx="812161" cy="703039"/>
          </a:xfrm>
        </p:grpSpPr>
        <p:sp>
          <p:nvSpPr>
            <p:cNvPr id="20" name="Arco 19">
              <a:extLst>
                <a:ext uri="{FF2B5EF4-FFF2-40B4-BE49-F238E27FC236}">
                  <a16:creationId xmlns:a16="http://schemas.microsoft.com/office/drawing/2014/main" id="{648AE7C6-968A-4CE0-935F-D0D10DC7E5E7}"/>
                </a:ext>
              </a:extLst>
            </p:cNvPr>
            <p:cNvSpPr/>
            <p:nvPr/>
          </p:nvSpPr>
          <p:spPr>
            <a:xfrm rot="11457301">
              <a:off x="4444370" y="4626740"/>
              <a:ext cx="736597" cy="646331"/>
            </a:xfrm>
            <a:prstGeom prst="arc">
              <a:avLst/>
            </a:prstGeom>
            <a:ln w="28575">
              <a:solidFill>
                <a:srgbClr val="FFCF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419"/>
            </a:p>
          </p:txBody>
        </p:sp>
        <p:cxnSp>
          <p:nvCxnSpPr>
            <p:cNvPr id="21" name="Conector recto 20">
              <a:extLst>
                <a:ext uri="{FF2B5EF4-FFF2-40B4-BE49-F238E27FC236}">
                  <a16:creationId xmlns:a16="http://schemas.microsoft.com/office/drawing/2014/main" id="{25754289-5F13-4EF2-8A9F-97BD9321D004}"/>
                </a:ext>
              </a:extLst>
            </p:cNvPr>
            <p:cNvCxnSpPr>
              <a:cxnSpLocks/>
            </p:cNvCxnSpPr>
            <p:nvPr/>
          </p:nvCxnSpPr>
          <p:spPr>
            <a:xfrm>
              <a:off x="4368806" y="486582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DED9774D-BF7E-4353-A255-203F7279C117}"/>
                </a:ext>
              </a:extLst>
            </p:cNvPr>
            <p:cNvCxnSpPr>
              <a:cxnSpLocks/>
            </p:cNvCxnSpPr>
            <p:nvPr/>
          </p:nvCxnSpPr>
          <p:spPr>
            <a:xfrm flipV="1">
              <a:off x="4749807" y="5179095"/>
              <a:ext cx="0" cy="150684"/>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24" name="Conector recto de flecha 23">
            <a:extLst>
              <a:ext uri="{FF2B5EF4-FFF2-40B4-BE49-F238E27FC236}">
                <a16:creationId xmlns:a16="http://schemas.microsoft.com/office/drawing/2014/main" id="{A892E8DA-6065-476A-AD08-F68337BA0BFD}"/>
              </a:ext>
            </a:extLst>
          </p:cNvPr>
          <p:cNvCxnSpPr>
            <a:cxnSpLocks/>
          </p:cNvCxnSpPr>
          <p:nvPr/>
        </p:nvCxnSpPr>
        <p:spPr>
          <a:xfrm flipH="1">
            <a:off x="3242739" y="4744232"/>
            <a:ext cx="128693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21CBFBC1-AE4E-4391-8CBD-27927E880778}"/>
              </a:ext>
            </a:extLst>
          </p:cNvPr>
          <p:cNvSpPr txBox="1"/>
          <p:nvPr/>
        </p:nvSpPr>
        <p:spPr>
          <a:xfrm>
            <a:off x="326726" y="4193065"/>
            <a:ext cx="3148992" cy="1200329"/>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5.- Ritmo de incremento del ángulo para la construcción de la curva (BUR)</a:t>
            </a:r>
          </a:p>
        </p:txBody>
      </p:sp>
      <p:cxnSp>
        <p:nvCxnSpPr>
          <p:cNvPr id="30" name="Conector recto de flecha 29">
            <a:extLst>
              <a:ext uri="{FF2B5EF4-FFF2-40B4-BE49-F238E27FC236}">
                <a16:creationId xmlns:a16="http://schemas.microsoft.com/office/drawing/2014/main" id="{944416A9-7676-4188-89A7-8DEED0C67867}"/>
              </a:ext>
            </a:extLst>
          </p:cNvPr>
          <p:cNvCxnSpPr>
            <a:cxnSpLocks/>
          </p:cNvCxnSpPr>
          <p:nvPr/>
        </p:nvCxnSpPr>
        <p:spPr>
          <a:xfrm>
            <a:off x="4662610" y="4519983"/>
            <a:ext cx="259079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DDC1BA93-6EAA-45C5-9387-30D661258AA4}"/>
              </a:ext>
            </a:extLst>
          </p:cNvPr>
          <p:cNvSpPr txBox="1"/>
          <p:nvPr/>
        </p:nvSpPr>
        <p:spPr>
          <a:xfrm>
            <a:off x="7137714" y="4262934"/>
            <a:ext cx="3972028" cy="369332"/>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3.- Inicio de la desviación (KOP)</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grpSp>
        <p:nvGrpSpPr>
          <p:cNvPr id="28" name="Grupo 27">
            <a:extLst>
              <a:ext uri="{FF2B5EF4-FFF2-40B4-BE49-F238E27FC236}">
                <a16:creationId xmlns:a16="http://schemas.microsoft.com/office/drawing/2014/main" id="{FCD5949F-3FD1-4938-BDD8-479C1E419F21}"/>
              </a:ext>
            </a:extLst>
          </p:cNvPr>
          <p:cNvGrpSpPr/>
          <p:nvPr/>
        </p:nvGrpSpPr>
        <p:grpSpPr>
          <a:xfrm rot="10800000">
            <a:off x="5286340" y="4896086"/>
            <a:ext cx="690876" cy="507454"/>
            <a:chOff x="4368806" y="4626740"/>
            <a:chExt cx="812161" cy="703039"/>
          </a:xfrm>
        </p:grpSpPr>
        <p:sp>
          <p:nvSpPr>
            <p:cNvPr id="29" name="Arco 28">
              <a:extLst>
                <a:ext uri="{FF2B5EF4-FFF2-40B4-BE49-F238E27FC236}">
                  <a16:creationId xmlns:a16="http://schemas.microsoft.com/office/drawing/2014/main" id="{7E636774-D9FA-4485-A748-22E308A62A99}"/>
                </a:ext>
              </a:extLst>
            </p:cNvPr>
            <p:cNvSpPr/>
            <p:nvPr/>
          </p:nvSpPr>
          <p:spPr>
            <a:xfrm rot="11457301">
              <a:off x="4444370" y="4626740"/>
              <a:ext cx="736597" cy="646331"/>
            </a:xfrm>
            <a:prstGeom prst="arc">
              <a:avLst/>
            </a:prstGeom>
            <a:ln w="28575">
              <a:solidFill>
                <a:srgbClr val="FFCF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419"/>
            </a:p>
          </p:txBody>
        </p:sp>
        <p:cxnSp>
          <p:nvCxnSpPr>
            <p:cNvPr id="31" name="Conector recto 30">
              <a:extLst>
                <a:ext uri="{FF2B5EF4-FFF2-40B4-BE49-F238E27FC236}">
                  <a16:creationId xmlns:a16="http://schemas.microsoft.com/office/drawing/2014/main" id="{56CFBE61-4956-4749-99D9-2DA00ADC57E6}"/>
                </a:ext>
              </a:extLst>
            </p:cNvPr>
            <p:cNvCxnSpPr>
              <a:cxnSpLocks/>
            </p:cNvCxnSpPr>
            <p:nvPr/>
          </p:nvCxnSpPr>
          <p:spPr>
            <a:xfrm>
              <a:off x="4368806" y="486582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9D434706-0D8D-4776-98D1-AAF0C3A87155}"/>
                </a:ext>
              </a:extLst>
            </p:cNvPr>
            <p:cNvCxnSpPr>
              <a:cxnSpLocks/>
            </p:cNvCxnSpPr>
            <p:nvPr/>
          </p:nvCxnSpPr>
          <p:spPr>
            <a:xfrm flipV="1">
              <a:off x="4749807" y="5179095"/>
              <a:ext cx="0" cy="150684"/>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sp>
        <p:nvSpPr>
          <p:cNvPr id="34" name="CuadroTexto 33">
            <a:extLst>
              <a:ext uri="{FF2B5EF4-FFF2-40B4-BE49-F238E27FC236}">
                <a16:creationId xmlns:a16="http://schemas.microsoft.com/office/drawing/2014/main" id="{808090F7-DDF6-42E6-BC7A-B81EBBE400A2}"/>
              </a:ext>
            </a:extLst>
          </p:cNvPr>
          <p:cNvSpPr txBox="1"/>
          <p:nvPr/>
        </p:nvSpPr>
        <p:spPr>
          <a:xfrm>
            <a:off x="6678819" y="4596357"/>
            <a:ext cx="5000438" cy="646331"/>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6.- Ritmo de decremento del ángulo para la construcción de la curva (DOR)</a:t>
            </a:r>
          </a:p>
        </p:txBody>
      </p:sp>
      <p:cxnSp>
        <p:nvCxnSpPr>
          <p:cNvPr id="36" name="Conector recto de flecha 35">
            <a:extLst>
              <a:ext uri="{FF2B5EF4-FFF2-40B4-BE49-F238E27FC236}">
                <a16:creationId xmlns:a16="http://schemas.microsoft.com/office/drawing/2014/main" id="{6C53B781-0A39-4730-82A7-BEE9C4533AE6}"/>
              </a:ext>
            </a:extLst>
          </p:cNvPr>
          <p:cNvCxnSpPr>
            <a:cxnSpLocks/>
          </p:cNvCxnSpPr>
          <p:nvPr/>
        </p:nvCxnSpPr>
        <p:spPr>
          <a:xfrm>
            <a:off x="5861632" y="5058245"/>
            <a:ext cx="1382346"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grpSp>
        <p:nvGrpSpPr>
          <p:cNvPr id="41" name="Grupo 40">
            <a:extLst>
              <a:ext uri="{FF2B5EF4-FFF2-40B4-BE49-F238E27FC236}">
                <a16:creationId xmlns:a16="http://schemas.microsoft.com/office/drawing/2014/main" id="{BF185FF2-2C22-4222-AC7C-B241D21F3922}"/>
              </a:ext>
            </a:extLst>
          </p:cNvPr>
          <p:cNvGrpSpPr/>
          <p:nvPr/>
        </p:nvGrpSpPr>
        <p:grpSpPr>
          <a:xfrm>
            <a:off x="5447238" y="5301398"/>
            <a:ext cx="172160" cy="376649"/>
            <a:chOff x="4114803" y="4127848"/>
            <a:chExt cx="152400" cy="1620000"/>
          </a:xfrm>
        </p:grpSpPr>
        <p:cxnSp>
          <p:nvCxnSpPr>
            <p:cNvPr id="42" name="Conector recto 41">
              <a:extLst>
                <a:ext uri="{FF2B5EF4-FFF2-40B4-BE49-F238E27FC236}">
                  <a16:creationId xmlns:a16="http://schemas.microsoft.com/office/drawing/2014/main" id="{210258D5-FEC8-44B7-A957-6EB2B52273A3}"/>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D07593DC-DB66-45D1-BC0C-E22C83CC2A4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38C18685-D972-4902-ACAB-046F48E79E91}"/>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45" name="Conector recto de flecha 44">
            <a:extLst>
              <a:ext uri="{FF2B5EF4-FFF2-40B4-BE49-F238E27FC236}">
                <a16:creationId xmlns:a16="http://schemas.microsoft.com/office/drawing/2014/main" id="{2538720D-987D-4C49-A6FA-27BACA6B0E20}"/>
              </a:ext>
            </a:extLst>
          </p:cNvPr>
          <p:cNvCxnSpPr>
            <a:cxnSpLocks/>
          </p:cNvCxnSpPr>
          <p:nvPr/>
        </p:nvCxnSpPr>
        <p:spPr>
          <a:xfrm flipH="1">
            <a:off x="3242739" y="5545561"/>
            <a:ext cx="2290581"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AE7E63B8-203C-4A03-9176-1F022681CED6}"/>
              </a:ext>
            </a:extLst>
          </p:cNvPr>
          <p:cNvSpPr txBox="1"/>
          <p:nvPr/>
        </p:nvSpPr>
        <p:spPr>
          <a:xfrm>
            <a:off x="367829" y="5346847"/>
            <a:ext cx="3141128" cy="369332"/>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7.- Profundidad extra</a:t>
            </a:r>
          </a:p>
        </p:txBody>
      </p:sp>
      <p:sp>
        <p:nvSpPr>
          <p:cNvPr id="48" name="CuadroTexto 47">
            <a:extLst>
              <a:ext uri="{FF2B5EF4-FFF2-40B4-BE49-F238E27FC236}">
                <a16:creationId xmlns:a16="http://schemas.microsoft.com/office/drawing/2014/main" id="{347DB719-A1F4-4D0B-940E-D9D4DD226FEA}"/>
              </a:ext>
            </a:extLst>
          </p:cNvPr>
          <p:cNvSpPr txBox="1"/>
          <p:nvPr/>
        </p:nvSpPr>
        <p:spPr>
          <a:xfrm>
            <a:off x="6311489" y="1710112"/>
            <a:ext cx="5261385" cy="1200329"/>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 En esta trayectoria se toma como coordenada de objetivo el punto en donde finaliza la curva, así como la TVD se toma hasta ese punto (final del decremento)</a:t>
            </a:r>
          </a:p>
        </p:txBody>
      </p:sp>
      <p:sp>
        <p:nvSpPr>
          <p:cNvPr id="51" name="CuadroTexto 50">
            <a:extLst>
              <a:ext uri="{FF2B5EF4-FFF2-40B4-BE49-F238E27FC236}">
                <a16:creationId xmlns:a16="http://schemas.microsoft.com/office/drawing/2014/main" id="{D5B73E95-AF45-42A5-9759-1C8F793FAB48}"/>
              </a:ext>
            </a:extLst>
          </p:cNvPr>
          <p:cNvSpPr txBox="1"/>
          <p:nvPr/>
        </p:nvSpPr>
        <p:spPr>
          <a:xfrm>
            <a:off x="4525887" y="3755476"/>
            <a:ext cx="245530" cy="369332"/>
          </a:xfrm>
          <a:prstGeom prst="rect">
            <a:avLst/>
          </a:prstGeom>
          <a:noFill/>
        </p:spPr>
        <p:txBody>
          <a:bodyPr wrap="square" rtlCol="0">
            <a:spAutoFit/>
          </a:bodyPr>
          <a:lstStyle/>
          <a:p>
            <a:r>
              <a:rPr lang="es-419" b="1" dirty="0">
                <a:solidFill>
                  <a:srgbClr val="FFCF00"/>
                </a:solidFill>
              </a:rPr>
              <a:t>X</a:t>
            </a:r>
          </a:p>
        </p:txBody>
      </p:sp>
      <p:sp>
        <p:nvSpPr>
          <p:cNvPr id="52" name="CuadroTexto 51">
            <a:extLst>
              <a:ext uri="{FF2B5EF4-FFF2-40B4-BE49-F238E27FC236}">
                <a16:creationId xmlns:a16="http://schemas.microsoft.com/office/drawing/2014/main" id="{FFDC28E6-CC3B-4DEA-B33C-E72C4C73917C}"/>
              </a:ext>
            </a:extLst>
          </p:cNvPr>
          <p:cNvSpPr txBox="1"/>
          <p:nvPr/>
        </p:nvSpPr>
        <p:spPr>
          <a:xfrm>
            <a:off x="4535412" y="4346026"/>
            <a:ext cx="245530" cy="369332"/>
          </a:xfrm>
          <a:prstGeom prst="rect">
            <a:avLst/>
          </a:prstGeom>
          <a:noFill/>
        </p:spPr>
        <p:txBody>
          <a:bodyPr wrap="square" rtlCol="0">
            <a:spAutoFit/>
          </a:bodyPr>
          <a:lstStyle/>
          <a:p>
            <a:r>
              <a:rPr lang="es-419" b="1" dirty="0">
                <a:solidFill>
                  <a:srgbClr val="FFCF00"/>
                </a:solidFill>
              </a:rPr>
              <a:t>X</a:t>
            </a:r>
          </a:p>
        </p:txBody>
      </p:sp>
      <p:sp>
        <p:nvSpPr>
          <p:cNvPr id="53" name="CuadroTexto 52">
            <a:extLst>
              <a:ext uri="{FF2B5EF4-FFF2-40B4-BE49-F238E27FC236}">
                <a16:creationId xmlns:a16="http://schemas.microsoft.com/office/drawing/2014/main" id="{A6ED6E24-B3B0-490F-8A59-F6BBBB9F0E7B}"/>
              </a:ext>
            </a:extLst>
          </p:cNvPr>
          <p:cNvSpPr txBox="1"/>
          <p:nvPr/>
        </p:nvSpPr>
        <p:spPr>
          <a:xfrm>
            <a:off x="5621262" y="5108026"/>
            <a:ext cx="245530" cy="369332"/>
          </a:xfrm>
          <a:prstGeom prst="rect">
            <a:avLst/>
          </a:prstGeom>
          <a:noFill/>
        </p:spPr>
        <p:txBody>
          <a:bodyPr wrap="square" rtlCol="0">
            <a:spAutoFit/>
          </a:bodyPr>
          <a:lstStyle/>
          <a:p>
            <a:r>
              <a:rPr lang="es-419" b="1" dirty="0">
                <a:solidFill>
                  <a:srgbClr val="FFCF00"/>
                </a:solidFill>
              </a:rPr>
              <a:t>X</a:t>
            </a:r>
          </a:p>
        </p:txBody>
      </p:sp>
    </p:spTree>
    <p:extLst>
      <p:ext uri="{BB962C8B-B14F-4D97-AF65-F5344CB8AC3E}">
        <p14:creationId xmlns:p14="http://schemas.microsoft.com/office/powerpoint/2010/main" val="952396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0202DB6-49EC-4315-862B-36D51C287FC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sp>
        <p:nvSpPr>
          <p:cNvPr id="6" name="Marcador de contenido 2">
            <a:extLst>
              <a:ext uri="{FF2B5EF4-FFF2-40B4-BE49-F238E27FC236}">
                <a16:creationId xmlns:a16="http://schemas.microsoft.com/office/drawing/2014/main" id="{635C2261-5BA7-42FB-BA9D-C223CE15CBC7}"/>
              </a:ext>
            </a:extLst>
          </p:cNvPr>
          <p:cNvSpPr txBox="1">
            <a:spLocks/>
          </p:cNvSpPr>
          <p:nvPr/>
        </p:nvSpPr>
        <p:spPr bwMode="auto">
          <a:xfrm>
            <a:off x="154103" y="867717"/>
            <a:ext cx="12232827" cy="529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1</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de interés para utilizarlo como coordenada N/S Y E/W de superficie (UTM)**: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Este punto es desde donde se empieza a perforar, puede referenciarse la mesa rotaria, boca de pozo, </a:t>
            </a:r>
            <a:r>
              <a:rPr kumimoji="0" lang="es-419" sz="1400" b="0"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etc</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deben de ser coordenadas UTM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2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en el cual se termina de verticalizar la segunda curva, estas serán las coordenadas N/S Y E/W del objetivo (UTM)**: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la trayectoria tipo S, las coordenadas de objetivo serian las que marquen el punto en donde la segunda curva se termine de construir, es decir, cuando la inclinación se reduzca a cero, aquí  se contempla una ‘distancia extra’, esta es la distancia a la cual se seguirá perforando verticalmente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3</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la profundidad para el KOP (m)**: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A esta profundidad es en donde se empieza a incrementar el ángulo o construir la curva, es decir, desde donde la perforación completamente vertical se empieza a desviar o incrementar ángulo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4</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vertical al objetivo (m)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este tipo de pozo la TVD al igual que en las coordenadas del objetivo, se toma en el punto en el cual se termina de reducir el ángulo en la sección de decremento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5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un ritmo de incremento ‘BUR’ (°/30m) **:</a:t>
            </a:r>
            <a:b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Como su nombre lo indica este parámetro establece la tasa con la cual se va a realizar un aumento de ángulo cada 30 m, este aumento en la inclinación genera problemas en la perforación mientras mayor sea el ritmo</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6</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un ritmo de reducción/decremento ‘DOR’ (°/30m)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Este parámetro es el que define la tasa con la cual ese </a:t>
            </a:r>
            <a:r>
              <a:rPr kumimoji="0" lang="es-419" sz="1400" b="0"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angulo</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que se construyo y se mantuvo en la sección tangente se va a reducir hasta cero, comúnmente toma el mismo valor que del BUR, pero no es obligatorio</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endPar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p:txBody>
      </p:sp>
      <p:sp>
        <p:nvSpPr>
          <p:cNvPr id="9" name="Título 1">
            <a:extLst>
              <a:ext uri="{FF2B5EF4-FFF2-40B4-BE49-F238E27FC236}">
                <a16:creationId xmlns:a16="http://schemas.microsoft.com/office/drawing/2014/main" id="{62BC449B-3004-4C46-835B-E7A44C2A2A3F}"/>
              </a:ext>
            </a:extLst>
          </p:cNvPr>
          <p:cNvSpPr>
            <a:spLocks noGrp="1"/>
          </p:cNvSpPr>
          <p:nvPr>
            <p:ph type="title"/>
          </p:nvPr>
        </p:nvSpPr>
        <p:spPr>
          <a:xfrm>
            <a:off x="0" y="0"/>
            <a:ext cx="11453001" cy="792163"/>
          </a:xfrm>
        </p:spPr>
        <p:txBody>
          <a:bodyPr/>
          <a:lstStyle/>
          <a:p>
            <a:r>
              <a:rPr lang="es-419" dirty="0">
                <a:solidFill>
                  <a:schemeClr val="bg1"/>
                </a:solidFill>
                <a:latin typeface="Montserrat" pitchFamily="2" charset="0"/>
              </a:rPr>
              <a:t>Manual para el diseño del pozo tipo S </a:t>
            </a:r>
          </a:p>
        </p:txBody>
      </p:sp>
    </p:spTree>
    <p:extLst>
      <p:ext uri="{BB962C8B-B14F-4D97-AF65-F5344CB8AC3E}">
        <p14:creationId xmlns:p14="http://schemas.microsoft.com/office/powerpoint/2010/main" val="948777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0202DB6-49EC-4315-862B-36D51C287FC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sp>
        <p:nvSpPr>
          <p:cNvPr id="6" name="Marcador de contenido 2">
            <a:extLst>
              <a:ext uri="{FF2B5EF4-FFF2-40B4-BE49-F238E27FC236}">
                <a16:creationId xmlns:a16="http://schemas.microsoft.com/office/drawing/2014/main" id="{635C2261-5BA7-42FB-BA9D-C223CE15CBC7}"/>
              </a:ext>
            </a:extLst>
          </p:cNvPr>
          <p:cNvSpPr txBox="1">
            <a:spLocks/>
          </p:cNvSpPr>
          <p:nvPr/>
        </p:nvSpPr>
        <p:spPr bwMode="auto">
          <a:xfrm>
            <a:off x="154103" y="867717"/>
            <a:ext cx="12232827" cy="529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7</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extra (m)**: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-Al verticalizar la segunda curva (poner inclinación a 0°) se puede requerir prolongar esa perforación netamente vertical, esta distancia la cual se cubrirá perforando es la que definimos como profundidad extra, esta profundidad al ser puramente vertical se puede añadir al reporte de la TVD o bien solo en los MD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**Consideraciones en el diseño:</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endPar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1" i="0" u="sng" strike="noStrike" kern="1200" cap="none" spc="0" normalizeH="0" baseline="0" noProof="0" dirty="0">
                <a:ln>
                  <a:noFill/>
                </a:ln>
                <a:solidFill>
                  <a:prstClr val="white"/>
                </a:solidFill>
                <a:effectLst/>
                <a:uLnTx/>
                <a:uFillTx/>
                <a:latin typeface="Montserrat" pitchFamily="2" charset="0"/>
                <a:ea typeface="+mn-ea"/>
                <a:cs typeface="+mn-cs"/>
              </a:rPr>
              <a:t>### Validaciones Antes de Calcular: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**Coordenadas**: `</a:t>
            </a:r>
            <a:r>
              <a:rPr kumimoji="0" lang="es-419" sz="1400" b="0" i="0" u="none" strike="noStrike" kern="1200" cap="none" spc="0" normalizeH="0" baseline="0" noProof="0" dirty="0" err="1">
                <a:ln>
                  <a:noFill/>
                </a:ln>
                <a:solidFill>
                  <a:prstClr val="white"/>
                </a:solidFill>
                <a:effectLst/>
                <a:uLnTx/>
                <a:uFillTx/>
                <a:latin typeface="Montserrat" pitchFamily="2" charset="0"/>
                <a:ea typeface="+mn-ea"/>
                <a:cs typeface="+mn-cs"/>
              </a:rPr>
              <a:t>Nt</a:t>
            </a: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 </a:t>
            </a:r>
            <a:r>
              <a:rPr kumimoji="0" lang="es-419" sz="1400" b="0" i="0" u="none" strike="noStrike" kern="1200" cap="none" spc="0" normalizeH="0" baseline="0" noProof="0" dirty="0" err="1">
                <a:ln>
                  <a:noFill/>
                </a:ln>
                <a:solidFill>
                  <a:prstClr val="white"/>
                </a:solidFill>
                <a:effectLst/>
                <a:uLnTx/>
                <a:uFillTx/>
                <a:latin typeface="Montserrat" pitchFamily="2" charset="0"/>
                <a:ea typeface="+mn-ea"/>
                <a:cs typeface="+mn-cs"/>
              </a:rPr>
              <a:t>Ns</a:t>
            </a: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o `Et ≠ Es` para evitar `DH = 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**KOP y TVD**: `TVD &gt; KOP ≥ 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**BUR y DOR**: `BUR &gt; 0`, `DOR &gt; 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a:t>
            </a:r>
            <a:r>
              <a:rPr kumimoji="0" lang="es-419" sz="1400" b="0" i="0" u="none" strike="noStrike" kern="1200" cap="none" spc="0" normalizeH="0" baseline="0" noProof="0" dirty="0" err="1">
                <a:ln>
                  <a:noFill/>
                </a:ln>
                <a:solidFill>
                  <a:prstClr val="white"/>
                </a:solidFill>
                <a:effectLst/>
                <a:uLnTx/>
                <a:uFillTx/>
                <a:latin typeface="Montserrat" pitchFamily="2" charset="0"/>
                <a:ea typeface="+mn-ea"/>
                <a:cs typeface="+mn-cs"/>
              </a:rPr>
              <a:t>ProfExt</a:t>
            </a: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a:t>
            </a:r>
            <a:r>
              <a:rPr kumimoji="0" lang="es-419" sz="1400" b="0" i="0" u="none" strike="noStrike" kern="1200" cap="none" spc="0" normalizeH="0" baseline="0" noProof="0" dirty="0" err="1">
                <a:ln>
                  <a:noFill/>
                </a:ln>
                <a:solidFill>
                  <a:prstClr val="white"/>
                </a:solidFill>
                <a:effectLst/>
                <a:uLnTx/>
                <a:uFillTx/>
                <a:latin typeface="Montserrat" pitchFamily="2" charset="0"/>
                <a:ea typeface="+mn-ea"/>
                <a:cs typeface="+mn-cs"/>
              </a:rPr>
              <a:t>ProfExt</a:t>
            </a: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 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**Coherencia geométrica**: `DH`, `TVD - KOP`, y `BUR` deben permitir una trayectoria tipo S (dos curvas).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**Entradas numéricas**: Solo números decimales.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p:txBody>
      </p:sp>
      <p:sp>
        <p:nvSpPr>
          <p:cNvPr id="9" name="Título 1">
            <a:extLst>
              <a:ext uri="{FF2B5EF4-FFF2-40B4-BE49-F238E27FC236}">
                <a16:creationId xmlns:a16="http://schemas.microsoft.com/office/drawing/2014/main" id="{62BC449B-3004-4C46-835B-E7A44C2A2A3F}"/>
              </a:ext>
            </a:extLst>
          </p:cNvPr>
          <p:cNvSpPr>
            <a:spLocks noGrp="1"/>
          </p:cNvSpPr>
          <p:nvPr>
            <p:ph type="title"/>
          </p:nvPr>
        </p:nvSpPr>
        <p:spPr>
          <a:xfrm>
            <a:off x="0" y="0"/>
            <a:ext cx="11453001" cy="792163"/>
          </a:xfrm>
        </p:spPr>
        <p:txBody>
          <a:bodyPr/>
          <a:lstStyle/>
          <a:p>
            <a:r>
              <a:rPr lang="es-419" dirty="0">
                <a:solidFill>
                  <a:schemeClr val="bg1"/>
                </a:solidFill>
                <a:latin typeface="Montserrat" pitchFamily="2" charset="0"/>
              </a:rPr>
              <a:t>Manual para el diseño del pozo tipo S </a:t>
            </a:r>
          </a:p>
        </p:txBody>
      </p:sp>
      <p:graphicFrame>
        <p:nvGraphicFramePr>
          <p:cNvPr id="2" name="Tabla 2">
            <a:extLst>
              <a:ext uri="{FF2B5EF4-FFF2-40B4-BE49-F238E27FC236}">
                <a16:creationId xmlns:a16="http://schemas.microsoft.com/office/drawing/2014/main" id="{7B6CCED2-C990-4AA9-87B6-FE64FA7EE850}"/>
              </a:ext>
            </a:extLst>
          </p:cNvPr>
          <p:cNvGraphicFramePr>
            <a:graphicFrameLocks noGrp="1"/>
          </p:cNvGraphicFramePr>
          <p:nvPr/>
        </p:nvGraphicFramePr>
        <p:xfrm>
          <a:off x="154103" y="2360919"/>
          <a:ext cx="11818678" cy="2494280"/>
        </p:xfrm>
        <a:graphic>
          <a:graphicData uri="http://schemas.openxmlformats.org/drawingml/2006/table">
            <a:tbl>
              <a:tblPr firstRow="1" bandRow="1">
                <a:tableStyleId>{5C22544A-7EE6-4342-B048-85BDC9FD1C3A}</a:tableStyleId>
              </a:tblPr>
              <a:tblGrid>
                <a:gridCol w="1579004">
                  <a:extLst>
                    <a:ext uri="{9D8B030D-6E8A-4147-A177-3AD203B41FA5}">
                      <a16:colId xmlns:a16="http://schemas.microsoft.com/office/drawing/2014/main" val="942446614"/>
                    </a:ext>
                  </a:extLst>
                </a:gridCol>
                <a:gridCol w="1626781">
                  <a:extLst>
                    <a:ext uri="{9D8B030D-6E8A-4147-A177-3AD203B41FA5}">
                      <a16:colId xmlns:a16="http://schemas.microsoft.com/office/drawing/2014/main" val="2277432546"/>
                    </a:ext>
                  </a:extLst>
                </a:gridCol>
                <a:gridCol w="1701210">
                  <a:extLst>
                    <a:ext uri="{9D8B030D-6E8A-4147-A177-3AD203B41FA5}">
                      <a16:colId xmlns:a16="http://schemas.microsoft.com/office/drawing/2014/main" val="4288467252"/>
                    </a:ext>
                  </a:extLst>
                </a:gridCol>
                <a:gridCol w="6911683">
                  <a:extLst>
                    <a:ext uri="{9D8B030D-6E8A-4147-A177-3AD203B41FA5}">
                      <a16:colId xmlns:a16="http://schemas.microsoft.com/office/drawing/2014/main" val="1398616337"/>
                    </a:ext>
                  </a:extLst>
                </a:gridCol>
              </a:tblGrid>
              <a:tr h="370840">
                <a:tc>
                  <a:txBody>
                    <a:bodyPr/>
                    <a:lstStyle/>
                    <a:p>
                      <a:r>
                        <a:rPr lang="es-419" dirty="0"/>
                        <a:t>Parámetro</a:t>
                      </a:r>
                    </a:p>
                  </a:txBody>
                  <a:tcPr/>
                </a:tc>
                <a:tc>
                  <a:txBody>
                    <a:bodyPr/>
                    <a:lstStyle/>
                    <a:p>
                      <a:r>
                        <a:rPr lang="es-419" dirty="0"/>
                        <a:t>Limite Mínimo </a:t>
                      </a:r>
                    </a:p>
                  </a:txBody>
                  <a:tcPr/>
                </a:tc>
                <a:tc>
                  <a:txBody>
                    <a:bodyPr/>
                    <a:lstStyle/>
                    <a:p>
                      <a:r>
                        <a:rPr lang="es-419" dirty="0"/>
                        <a:t>Limite Máximo </a:t>
                      </a:r>
                    </a:p>
                  </a:txBody>
                  <a:tcPr/>
                </a:tc>
                <a:tc>
                  <a:txBody>
                    <a:bodyPr/>
                    <a:lstStyle/>
                    <a:p>
                      <a:r>
                        <a:rPr lang="es-419" dirty="0"/>
                        <a:t>Observación </a:t>
                      </a:r>
                    </a:p>
                  </a:txBody>
                  <a:tcPr/>
                </a:tc>
                <a:extLst>
                  <a:ext uri="{0D108BD9-81ED-4DB2-BD59-A6C34878D82A}">
                    <a16:rowId xmlns:a16="http://schemas.microsoft.com/office/drawing/2014/main" val="2848165631"/>
                  </a:ext>
                </a:extLst>
              </a:tr>
              <a:tr h="370840">
                <a:tc>
                  <a:txBody>
                    <a:bodyPr/>
                    <a:lstStyle/>
                    <a:p>
                      <a:pPr algn="ctr"/>
                      <a:r>
                        <a:rPr lang="es-419" dirty="0"/>
                        <a:t>BUR (°/30 m)</a:t>
                      </a:r>
                    </a:p>
                  </a:txBody>
                  <a:tcPr/>
                </a:tc>
                <a:tc>
                  <a:txBody>
                    <a:bodyPr/>
                    <a:lstStyle/>
                    <a:p>
                      <a:pPr algn="ctr"/>
                      <a:r>
                        <a:rPr lang="es-419" dirty="0"/>
                        <a:t>1</a:t>
                      </a:r>
                    </a:p>
                  </a:txBody>
                  <a:tcPr/>
                </a:tc>
                <a:tc>
                  <a:txBody>
                    <a:bodyPr/>
                    <a:lstStyle/>
                    <a:p>
                      <a:pPr algn="ctr"/>
                      <a:r>
                        <a:rPr lang="es-419"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Valores altos de BUR generan un alta severidad </a:t>
                      </a:r>
                    </a:p>
                  </a:txBody>
                  <a:tcPr/>
                </a:tc>
                <a:extLst>
                  <a:ext uri="{0D108BD9-81ED-4DB2-BD59-A6C34878D82A}">
                    <a16:rowId xmlns:a16="http://schemas.microsoft.com/office/drawing/2014/main" val="1458011357"/>
                  </a:ext>
                </a:extLst>
              </a:tr>
              <a:tr h="370840">
                <a:tc>
                  <a:txBody>
                    <a:bodyPr/>
                    <a:lstStyle/>
                    <a:p>
                      <a:pPr algn="ctr"/>
                      <a:r>
                        <a:rPr lang="es-419" dirty="0"/>
                        <a:t>DOR (°/30 m)</a:t>
                      </a:r>
                    </a:p>
                  </a:txBody>
                  <a:tcPr/>
                </a:tc>
                <a:tc>
                  <a:txBody>
                    <a:bodyPr/>
                    <a:lstStyle/>
                    <a:p>
                      <a:pPr algn="ctr"/>
                      <a:r>
                        <a:rPr lang="es-419" dirty="0"/>
                        <a:t>1</a:t>
                      </a:r>
                    </a:p>
                  </a:txBody>
                  <a:tcPr/>
                </a:tc>
                <a:tc>
                  <a:txBody>
                    <a:bodyPr/>
                    <a:lstStyle/>
                    <a:p>
                      <a:pPr algn="ctr"/>
                      <a:r>
                        <a:rPr lang="es-419"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Valores altos de DOR generan un alta severidad </a:t>
                      </a:r>
                    </a:p>
                  </a:txBody>
                  <a:tcPr/>
                </a:tc>
                <a:extLst>
                  <a:ext uri="{0D108BD9-81ED-4DB2-BD59-A6C34878D82A}">
                    <a16:rowId xmlns:a16="http://schemas.microsoft.com/office/drawing/2014/main" val="25997170"/>
                  </a:ext>
                </a:extLst>
              </a:tr>
              <a:tr h="370840">
                <a:tc>
                  <a:txBody>
                    <a:bodyPr/>
                    <a:lstStyle/>
                    <a:p>
                      <a:pPr algn="ctr"/>
                      <a:r>
                        <a:rPr lang="es-419" dirty="0" err="1"/>
                        <a:t>Rca</a:t>
                      </a:r>
                      <a:r>
                        <a:rPr lang="es-419" dirty="0"/>
                        <a:t>/ </a:t>
                      </a:r>
                      <a:r>
                        <a:rPr lang="es-419" dirty="0" err="1"/>
                        <a:t>Rcb</a:t>
                      </a:r>
                      <a:endParaRPr lang="es-419" dirty="0"/>
                    </a:p>
                  </a:txBody>
                  <a:tcPr/>
                </a:tc>
                <a:tc>
                  <a:txBody>
                    <a:bodyPr/>
                    <a:lstStyle/>
                    <a:p>
                      <a:pPr algn="ctr"/>
                      <a:r>
                        <a:rPr lang="es-419" dirty="0"/>
                        <a:t>214</a:t>
                      </a:r>
                    </a:p>
                  </a:txBody>
                  <a:tcPr/>
                </a:tc>
                <a:tc>
                  <a:txBody>
                    <a:bodyPr/>
                    <a:lstStyle/>
                    <a:p>
                      <a:pPr algn="ctr"/>
                      <a:r>
                        <a:rPr lang="es-419" dirty="0"/>
                        <a:t>1709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Derivado de los valores de BUR y DOR [1, 8]</a:t>
                      </a:r>
                    </a:p>
                  </a:txBody>
                  <a:tcPr/>
                </a:tc>
                <a:extLst>
                  <a:ext uri="{0D108BD9-81ED-4DB2-BD59-A6C34878D82A}">
                    <a16:rowId xmlns:a16="http://schemas.microsoft.com/office/drawing/2014/main" val="2371873986"/>
                  </a:ext>
                </a:extLst>
              </a:tr>
              <a:tr h="370840">
                <a:tc>
                  <a:txBody>
                    <a:bodyPr/>
                    <a:lstStyle/>
                    <a:p>
                      <a:pPr algn="ctr"/>
                      <a:r>
                        <a:rPr lang="es-419" sz="1800" kern="1200" dirty="0">
                          <a:solidFill>
                            <a:schemeClr val="dk1"/>
                          </a:solidFill>
                          <a:effectLst/>
                          <a:latin typeface="+mn-lt"/>
                          <a:ea typeface="+mn-ea"/>
                          <a:cs typeface="+mn-cs"/>
                        </a:rPr>
                        <a:t>KOP (m) </a:t>
                      </a:r>
                      <a:endParaRPr lang="es-419" dirty="0"/>
                    </a:p>
                  </a:txBody>
                  <a:tcPr/>
                </a:tc>
                <a:tc>
                  <a:txBody>
                    <a:bodyPr/>
                    <a:lstStyle/>
                    <a:p>
                      <a:pPr algn="ctr"/>
                      <a:r>
                        <a:rPr lang="es-419" dirty="0"/>
                        <a:t>0</a:t>
                      </a:r>
                    </a:p>
                  </a:txBody>
                  <a:tcPr/>
                </a:tc>
                <a:tc>
                  <a:txBody>
                    <a:bodyPr/>
                    <a:lstStyle/>
                    <a:p>
                      <a:pPr algn="ctr"/>
                      <a:r>
                        <a:rPr lang="es-419" dirty="0"/>
                        <a:t>TVD -30m</a:t>
                      </a:r>
                    </a:p>
                  </a:txBody>
                  <a:tcPr/>
                </a:tc>
                <a:tc>
                  <a:txBody>
                    <a:bodyPr/>
                    <a:lstStyle/>
                    <a:p>
                      <a:pPr algn="ctr"/>
                      <a:r>
                        <a:rPr lang="es-419" dirty="0"/>
                        <a:t>Dejar al menos 10m de tangente </a:t>
                      </a:r>
                    </a:p>
                  </a:txBody>
                  <a:tcPr/>
                </a:tc>
                <a:extLst>
                  <a:ext uri="{0D108BD9-81ED-4DB2-BD59-A6C34878D82A}">
                    <a16:rowId xmlns:a16="http://schemas.microsoft.com/office/drawing/2014/main" val="1346742650"/>
                  </a:ext>
                </a:extLst>
              </a:tr>
              <a:tr h="438516">
                <a:tc>
                  <a:txBody>
                    <a:bodyPr/>
                    <a:lstStyle/>
                    <a:p>
                      <a:pPr algn="ctr"/>
                      <a:r>
                        <a:rPr lang="es-419" sz="1800" kern="1200" dirty="0">
                          <a:solidFill>
                            <a:schemeClr val="dk1"/>
                          </a:solidFill>
                          <a:effectLst/>
                          <a:latin typeface="+mn-lt"/>
                          <a:ea typeface="+mn-ea"/>
                          <a:cs typeface="+mn-cs"/>
                        </a:rPr>
                        <a:t>TVD (m) </a:t>
                      </a:r>
                      <a:endParaRPr lang="es-419" dirty="0"/>
                    </a:p>
                  </a:txBody>
                  <a:tcPr/>
                </a:tc>
                <a:tc>
                  <a:txBody>
                    <a:bodyPr/>
                    <a:lstStyle/>
                    <a:p>
                      <a:pPr algn="ctr"/>
                      <a:r>
                        <a:rPr lang="es-419" dirty="0"/>
                        <a:t>KOP + 30m</a:t>
                      </a:r>
                    </a:p>
                  </a:txBody>
                  <a:tcPr/>
                </a:tc>
                <a:tc>
                  <a:txBody>
                    <a:bodyPr/>
                    <a:lstStyle/>
                    <a:p>
                      <a:pPr algn="ctr"/>
                      <a:r>
                        <a:rPr lang="es-419" dirty="0"/>
                        <a:t>-------</a:t>
                      </a:r>
                    </a:p>
                  </a:txBody>
                  <a:tcPr/>
                </a:tc>
                <a:tc>
                  <a:txBody>
                    <a:bodyPr/>
                    <a:lstStyle/>
                    <a:p>
                      <a:pPr algn="ctr"/>
                      <a:r>
                        <a:rPr lang="es-419" dirty="0"/>
                        <a:t>La profundidad vertical verdadera en un pozo direccional debe de ser mayor al KOP</a:t>
                      </a:r>
                    </a:p>
                  </a:txBody>
                  <a:tcPr/>
                </a:tc>
                <a:extLst>
                  <a:ext uri="{0D108BD9-81ED-4DB2-BD59-A6C34878D82A}">
                    <a16:rowId xmlns:a16="http://schemas.microsoft.com/office/drawing/2014/main" val="999579543"/>
                  </a:ext>
                </a:extLst>
              </a:tr>
            </a:tbl>
          </a:graphicData>
        </a:graphic>
      </p:graphicFrame>
    </p:spTree>
    <p:extLst>
      <p:ext uri="{BB962C8B-B14F-4D97-AF65-F5344CB8AC3E}">
        <p14:creationId xmlns:p14="http://schemas.microsoft.com/office/powerpoint/2010/main" val="1267434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3F380F-B192-4CC0-BA28-12921E3676BB}"/>
              </a:ext>
            </a:extLst>
          </p:cNvPr>
          <p:cNvSpPr>
            <a:spLocks noGrp="1"/>
          </p:cNvSpPr>
          <p:nvPr>
            <p:ph type="title"/>
          </p:nvPr>
        </p:nvSpPr>
        <p:spPr>
          <a:xfrm>
            <a:off x="-820559" y="597568"/>
            <a:ext cx="13794467" cy="792000"/>
          </a:xfrm>
        </p:spPr>
        <p:txBody>
          <a:bodyPr/>
          <a:lstStyle/>
          <a:p>
            <a:r>
              <a:rPr lang="es-419" sz="4400" dirty="0">
                <a:solidFill>
                  <a:schemeClr val="bg1"/>
                </a:solidFill>
                <a:effectLst/>
                <a:latin typeface="Montserrat" pitchFamily="2" charset="0"/>
                <a:ea typeface="Calibri" panose="020F0502020204030204" pitchFamily="34" charset="0"/>
                <a:cs typeface="Times New Roman" panose="02020603050405020304" pitchFamily="18" charset="0"/>
              </a:rPr>
              <a:t>Lógica de las Fórmulas y Condiciones para Resultados Válidos</a:t>
            </a:r>
            <a:br>
              <a:rPr lang="es-419" sz="4400" dirty="0">
                <a:solidFill>
                  <a:schemeClr val="bg1"/>
                </a:solidFill>
                <a:effectLst/>
                <a:latin typeface="Montserrat" pitchFamily="2" charset="0"/>
                <a:ea typeface="Calibri" panose="020F0502020204030204" pitchFamily="34" charset="0"/>
                <a:cs typeface="Times New Roman" panose="02020603050405020304" pitchFamily="18" charset="0"/>
              </a:rPr>
            </a:br>
            <a:endParaRPr lang="es-419" dirty="0">
              <a:latin typeface="Montserrat" pitchFamily="2" charset="0"/>
            </a:endParaRPr>
          </a:p>
        </p:txBody>
      </p:sp>
      <p:sp>
        <p:nvSpPr>
          <p:cNvPr id="3" name="Marcador de contenido 2">
            <a:extLst>
              <a:ext uri="{FF2B5EF4-FFF2-40B4-BE49-F238E27FC236}">
                <a16:creationId xmlns:a16="http://schemas.microsoft.com/office/drawing/2014/main" id="{B2F4DD16-6430-4017-A7D0-3AEF0441BA74}"/>
              </a:ext>
            </a:extLst>
          </p:cNvPr>
          <p:cNvSpPr>
            <a:spLocks noGrp="1"/>
          </p:cNvSpPr>
          <p:nvPr>
            <p:ph idx="1"/>
          </p:nvPr>
        </p:nvSpPr>
        <p:spPr>
          <a:xfrm>
            <a:off x="15881" y="1559422"/>
            <a:ext cx="11520000" cy="5292000"/>
          </a:xfrm>
        </p:spPr>
        <p:txBody>
          <a:bodyPr>
            <a:normAutofit/>
          </a:bodyPr>
          <a:lstStyle/>
          <a:p>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**Azimut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Usa `atan(Ex /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Nx</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con ajustes por cuadrante para determinar la dirección.</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Condición: `</a:t>
            </a:r>
            <a:r>
              <a:rPr lang="es-419" sz="1400" b="1" dirty="0" err="1">
                <a:solidFill>
                  <a:srgbClr val="FFCF00"/>
                </a:solidFill>
                <a:effectLst/>
                <a:latin typeface="Montserrat" pitchFamily="2" charset="0"/>
                <a:ea typeface="Calibri" panose="020F0502020204030204" pitchFamily="34" charset="0"/>
                <a:cs typeface="Times New Roman" panose="02020603050405020304" pitchFamily="18" charset="0"/>
              </a:rPr>
              <a:t>Nx</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 ≠ 0` o `Ex ≠ 0`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(si ambos son cero, no hay desplazamiento horizontal).</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**Radios de Curvatura (</a:t>
            </a:r>
            <a:r>
              <a:rPr lang="es-419" sz="1400" b="1" u="sng" dirty="0" err="1">
                <a:solidFill>
                  <a:srgbClr val="FFCF00"/>
                </a:solidFill>
                <a:effectLst/>
                <a:latin typeface="Montserrat" pitchFamily="2" charset="0"/>
                <a:ea typeface="Calibri" panose="020F0502020204030204" pitchFamily="34" charset="0"/>
                <a:cs typeface="Times New Roman" panose="02020603050405020304" pitchFamily="18" charset="0"/>
              </a:rPr>
              <a:t>Rca</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err="1">
                <a:solidFill>
                  <a:srgbClr val="FFCF00"/>
                </a:solidFill>
                <a:effectLst/>
                <a:latin typeface="Montserrat" pitchFamily="2" charset="0"/>
                <a:ea typeface="Calibri" panose="020F0502020204030204" pitchFamily="34" charset="0"/>
                <a:cs typeface="Times New Roman" panose="02020603050405020304" pitchFamily="18" charset="0"/>
              </a:rPr>
              <a:t>Rcb</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Derivado de `BUR`: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Rca</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(180 / π) * (1 / BUR) * 30` y `DOR`: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Rcb</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(180 / π) * (1 / DOR) * 30`.</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Condición: `BUR &gt; 0` y `BUR &gt; 0`.</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**Ángulo Máximo (</a:t>
            </a:r>
            <a:r>
              <a:rPr lang="es-419" sz="1400" b="1" u="sng" dirty="0" err="1">
                <a:solidFill>
                  <a:srgbClr val="FFCF00"/>
                </a:solidFill>
                <a:effectLst/>
                <a:latin typeface="Montserrat" pitchFamily="2" charset="0"/>
                <a:ea typeface="Calibri" panose="020F0502020204030204" pitchFamily="34" charset="0"/>
                <a:cs typeface="Times New Roman" panose="02020603050405020304" pitchFamily="18" charset="0"/>
              </a:rPr>
              <a:t>Angm</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a:t>
            </a:r>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Depende de `</a:t>
            </a:r>
            <a:r>
              <a:rPr lang="es-MX" sz="1400" dirty="0" err="1">
                <a:solidFill>
                  <a:schemeClr val="bg1"/>
                </a:solidFill>
                <a:effectLst/>
                <a:latin typeface="Montserrat" pitchFamily="2" charset="0"/>
                <a:ea typeface="Calibri" panose="020F0502020204030204" pitchFamily="34" charset="0"/>
                <a:cs typeface="Times New Roman" panose="02020603050405020304" pitchFamily="18" charset="0"/>
              </a:rPr>
              <a:t>Rt</a:t>
            </a:r>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&gt; DH` o `</a:t>
            </a:r>
            <a:r>
              <a:rPr lang="es-MX" sz="1400" dirty="0" err="1">
                <a:solidFill>
                  <a:schemeClr val="bg1"/>
                </a:solidFill>
                <a:effectLst/>
                <a:latin typeface="Montserrat" pitchFamily="2" charset="0"/>
                <a:ea typeface="Calibri" panose="020F0502020204030204" pitchFamily="34" charset="0"/>
                <a:cs typeface="Times New Roman" panose="02020603050405020304" pitchFamily="18" charset="0"/>
              </a:rPr>
              <a:t>Rt</a:t>
            </a:r>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&lt; DH`.</a:t>
            </a:r>
          </a:p>
          <a:p>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MX"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Condiciones:</a:t>
            </a:r>
          </a:p>
          <a:p>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 Argumentos de `</a:t>
            </a:r>
            <a:r>
              <a:rPr lang="es-MX" sz="1400" dirty="0" err="1">
                <a:solidFill>
                  <a:schemeClr val="bg1"/>
                </a:solidFill>
                <a:effectLst/>
                <a:latin typeface="Montserrat" pitchFamily="2" charset="0"/>
                <a:ea typeface="Calibri" panose="020F0502020204030204" pitchFamily="34" charset="0"/>
                <a:cs typeface="Times New Roman" panose="02020603050405020304" pitchFamily="18" charset="0"/>
              </a:rPr>
              <a:t>asin</a:t>
            </a:r>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`acos` </a:t>
            </a:r>
            <a:r>
              <a:rPr lang="es-MX" sz="1400" b="1" dirty="0">
                <a:solidFill>
                  <a:srgbClr val="FFCF00"/>
                </a:solidFill>
                <a:effectLst/>
                <a:latin typeface="Montserrat" pitchFamily="2" charset="0"/>
                <a:ea typeface="Calibri" panose="020F0502020204030204" pitchFamily="34" charset="0"/>
                <a:cs typeface="Times New Roman" panose="02020603050405020304" pitchFamily="18" charset="0"/>
              </a:rPr>
              <a:t>deben estar en [-1, 1].</a:t>
            </a:r>
          </a:p>
          <a:p>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 `b = TVD - KOP ≠ 0`, `a`, `c`, `d` </a:t>
            </a:r>
            <a:r>
              <a:rPr lang="es-MX" sz="1400" b="1" dirty="0">
                <a:solidFill>
                  <a:srgbClr val="FFCF00"/>
                </a:solidFill>
                <a:effectLst/>
                <a:latin typeface="Montserrat" pitchFamily="2" charset="0"/>
                <a:ea typeface="Calibri" panose="020F0502020204030204" pitchFamily="34" charset="0"/>
                <a:cs typeface="Times New Roman" panose="02020603050405020304" pitchFamily="18" charset="0"/>
              </a:rPr>
              <a:t>deben evitar divisiones por cero</a:t>
            </a:r>
            <a:r>
              <a:rPr lang="es-MX" sz="1400" dirty="0">
                <a:solidFill>
                  <a:srgbClr val="FFCF00"/>
                </a:solidFill>
                <a:effectLst/>
                <a:latin typeface="Montserrat" pitchFamily="2" charset="0"/>
                <a:ea typeface="Calibri" panose="020F0502020204030204" pitchFamily="34" charset="0"/>
                <a:cs typeface="Times New Roman" panose="02020603050405020304" pitchFamily="18" charset="0"/>
              </a:rPr>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**Trayectoria**:</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Usa el método de mínima curvatura para calcular desplazamientos incrementalmente.</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Condición: `</a:t>
            </a:r>
            <a:r>
              <a:rPr lang="es-419" sz="1400" b="1" dirty="0" err="1">
                <a:solidFill>
                  <a:srgbClr val="FFCF00"/>
                </a:solidFill>
                <a:effectLst/>
                <a:latin typeface="Montserrat" pitchFamily="2" charset="0"/>
                <a:ea typeface="Calibri" panose="020F0502020204030204" pitchFamily="34" charset="0"/>
                <a:cs typeface="Times New Roman" panose="02020603050405020304" pitchFamily="18" charset="0"/>
              </a:rPr>
              <a:t>Dla</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 debe ser calculable (ángulos y azimuts coherentes).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br>
              <a:rPr lang="es-419" sz="1400" b="1" dirty="0">
                <a:solidFill>
                  <a:schemeClr val="bg1"/>
                </a:solidFill>
                <a:effectLst/>
                <a:latin typeface="Montserrat" pitchFamily="2" charset="0"/>
                <a:ea typeface="Calibri" panose="020F0502020204030204" pitchFamily="34" charset="0"/>
                <a:cs typeface="Times New Roman" panose="02020603050405020304" pitchFamily="18" charset="0"/>
              </a:rPr>
            </a:br>
            <a:endParaRPr lang="es-419" sz="1400" b="1" dirty="0">
              <a:solidFill>
                <a:schemeClr val="bg1"/>
              </a:solidFill>
              <a:effectLst/>
              <a:latin typeface="Montserrat" pitchFamily="2" charset="0"/>
              <a:ea typeface="Calibri" panose="020F0502020204030204" pitchFamily="34" charset="0"/>
              <a:cs typeface="Times New Roman" panose="02020603050405020304" pitchFamily="18" charset="0"/>
            </a:endParaRPr>
          </a:p>
          <a:p>
            <a:pPr marL="0" indent="0">
              <a:buNone/>
            </a:pPr>
            <a:endParaRPr lang="es-419" sz="1400" dirty="0">
              <a:solidFill>
                <a:schemeClr val="bg1"/>
              </a:solidFill>
              <a:effectLst/>
              <a:latin typeface="Montserrat" pitchFamily="2" charset="0"/>
              <a:ea typeface="Calibri" panose="020F0502020204030204" pitchFamily="34" charset="0"/>
              <a:cs typeface="Times New Roman" panose="02020603050405020304" pitchFamily="18" charset="0"/>
            </a:endParaRPr>
          </a:p>
          <a:p>
            <a:endParaRPr lang="es-419" sz="1400" dirty="0">
              <a:solidFill>
                <a:schemeClr val="bg1"/>
              </a:solidFill>
              <a:latin typeface="Montserrat" pitchFamily="2" charset="0"/>
            </a:endParaRPr>
          </a:p>
        </p:txBody>
      </p:sp>
      <p:sp>
        <p:nvSpPr>
          <p:cNvPr id="4" name="Marcador de número de diapositiva 3">
            <a:extLst>
              <a:ext uri="{FF2B5EF4-FFF2-40B4-BE49-F238E27FC236}">
                <a16:creationId xmlns:a16="http://schemas.microsoft.com/office/drawing/2014/main" id="{10B82126-4612-4273-9BA2-1DFDA196B60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5" name="Tabla 5">
            <a:extLst>
              <a:ext uri="{FF2B5EF4-FFF2-40B4-BE49-F238E27FC236}">
                <a16:creationId xmlns:a16="http://schemas.microsoft.com/office/drawing/2014/main" id="{044F170C-9B1E-4BCB-B7BF-D0BF7630A583}"/>
              </a:ext>
            </a:extLst>
          </p:cNvPr>
          <p:cNvGraphicFramePr>
            <a:graphicFrameLocks/>
          </p:cNvGraphicFramePr>
          <p:nvPr/>
        </p:nvGraphicFramePr>
        <p:xfrm>
          <a:off x="198954" y="4796156"/>
          <a:ext cx="11520486" cy="1925320"/>
        </p:xfrm>
        <a:graphic>
          <a:graphicData uri="http://schemas.openxmlformats.org/drawingml/2006/table">
            <a:tbl>
              <a:tblPr firstRow="1" bandRow="1">
                <a:tableStyleId>{5C22544A-7EE6-4342-B048-85BDC9FD1C3A}</a:tableStyleId>
              </a:tblPr>
              <a:tblGrid>
                <a:gridCol w="2018213">
                  <a:extLst>
                    <a:ext uri="{9D8B030D-6E8A-4147-A177-3AD203B41FA5}">
                      <a16:colId xmlns:a16="http://schemas.microsoft.com/office/drawing/2014/main" val="1559856961"/>
                    </a:ext>
                  </a:extLst>
                </a:gridCol>
                <a:gridCol w="4211053">
                  <a:extLst>
                    <a:ext uri="{9D8B030D-6E8A-4147-A177-3AD203B41FA5}">
                      <a16:colId xmlns:a16="http://schemas.microsoft.com/office/drawing/2014/main" val="3074565177"/>
                    </a:ext>
                  </a:extLst>
                </a:gridCol>
                <a:gridCol w="5291220">
                  <a:extLst>
                    <a:ext uri="{9D8B030D-6E8A-4147-A177-3AD203B41FA5}">
                      <a16:colId xmlns:a16="http://schemas.microsoft.com/office/drawing/2014/main" val="1443907404"/>
                    </a:ext>
                  </a:extLst>
                </a:gridCol>
              </a:tblGrid>
              <a:tr h="370840">
                <a:tc>
                  <a:txBody>
                    <a:bodyPr/>
                    <a:lstStyle/>
                    <a:p>
                      <a:r>
                        <a:rPr lang="es-419" dirty="0"/>
                        <a:t>Error</a:t>
                      </a:r>
                    </a:p>
                  </a:txBody>
                  <a:tcPr/>
                </a:tc>
                <a:tc>
                  <a:txBody>
                    <a:bodyPr/>
                    <a:lstStyle/>
                    <a:p>
                      <a:r>
                        <a:rPr lang="es-419" dirty="0"/>
                        <a:t>Causa</a:t>
                      </a:r>
                    </a:p>
                  </a:txBody>
                  <a:tcPr/>
                </a:tc>
                <a:tc>
                  <a:txBody>
                    <a:bodyPr/>
                    <a:lstStyle/>
                    <a:p>
                      <a:r>
                        <a:rPr lang="es-419" dirty="0"/>
                        <a:t>Prevención</a:t>
                      </a:r>
                    </a:p>
                  </a:txBody>
                  <a:tcPr/>
                </a:tc>
                <a:extLst>
                  <a:ext uri="{0D108BD9-81ED-4DB2-BD59-A6C34878D82A}">
                    <a16:rowId xmlns:a16="http://schemas.microsoft.com/office/drawing/2014/main" val="2124604815"/>
                  </a:ext>
                </a:extLst>
              </a:tr>
              <a:tr h="370840">
                <a:tc>
                  <a:txBody>
                    <a:bodyPr/>
                    <a:lstStyle/>
                    <a:p>
                      <a:r>
                        <a:rPr lang="es-419" dirty="0" err="1"/>
                        <a:t>ValueError</a:t>
                      </a:r>
                      <a:r>
                        <a:rPr lang="es-419" dirty="0"/>
                        <a:t> </a:t>
                      </a:r>
                    </a:p>
                  </a:txBody>
                  <a:tcPr/>
                </a:tc>
                <a:tc>
                  <a:txBody>
                    <a:bodyPr/>
                    <a:lstStyle/>
                    <a:p>
                      <a:r>
                        <a:rPr lang="es-419" dirty="0"/>
                        <a:t>Entrada no numérica (letras, símbolos, </a:t>
                      </a:r>
                      <a:r>
                        <a:rPr lang="es-419" dirty="0" err="1"/>
                        <a:t>etc</a:t>
                      </a:r>
                      <a:r>
                        <a:rPr lang="es-419" dirty="0"/>
                        <a:t>)</a:t>
                      </a:r>
                    </a:p>
                  </a:txBody>
                  <a:tcPr/>
                </a:tc>
                <a:tc>
                  <a:txBody>
                    <a:bodyPr/>
                    <a:lstStyle/>
                    <a:p>
                      <a:r>
                        <a:rPr lang="es-419" dirty="0"/>
                        <a:t>Verificar los datos ingresados antes de presionar el botón de calcular</a:t>
                      </a:r>
                    </a:p>
                  </a:txBody>
                  <a:tcPr/>
                </a:tc>
                <a:extLst>
                  <a:ext uri="{0D108BD9-81ED-4DB2-BD59-A6C34878D82A}">
                    <a16:rowId xmlns:a16="http://schemas.microsoft.com/office/drawing/2014/main" val="4123058861"/>
                  </a:ext>
                </a:extLst>
              </a:tr>
              <a:tr h="370840">
                <a:tc>
                  <a:txBody>
                    <a:bodyPr/>
                    <a:lstStyle/>
                    <a:p>
                      <a:r>
                        <a:rPr lang="es-419" dirty="0" err="1"/>
                        <a:t>ZeroDivisionError</a:t>
                      </a:r>
                      <a:r>
                        <a:rPr lang="es-419" dirty="0"/>
                        <a:t> / </a:t>
                      </a:r>
                      <a:r>
                        <a:rPr lang="es-419" dirty="0" err="1"/>
                        <a:t>Float</a:t>
                      </a:r>
                      <a:r>
                        <a:rPr lang="es-419" dirty="0"/>
                        <a:t> </a:t>
                      </a:r>
                      <a:r>
                        <a:rPr lang="es-419" dirty="0" err="1"/>
                        <a:t>division</a:t>
                      </a:r>
                      <a:r>
                        <a:rPr lang="es-419" dirty="0"/>
                        <a:t> </a:t>
                      </a:r>
                      <a:r>
                        <a:rPr lang="es-419" dirty="0" err="1"/>
                        <a:t>by</a:t>
                      </a:r>
                      <a:r>
                        <a:rPr lang="es-419" dirty="0"/>
                        <a:t> </a:t>
                      </a:r>
                      <a:r>
                        <a:rPr lang="es-419" dirty="0" err="1"/>
                        <a:t>zero</a:t>
                      </a:r>
                      <a:endParaRPr lang="es-419" dirty="0"/>
                    </a:p>
                  </a:txBody>
                  <a:tcPr/>
                </a:tc>
                <a:tc>
                  <a:txBody>
                    <a:bodyPr/>
                    <a:lstStyle/>
                    <a:p>
                      <a:r>
                        <a:rPr lang="es-419" dirty="0"/>
                        <a:t>División para cero, BUR= 0</a:t>
                      </a:r>
                    </a:p>
                  </a:txBody>
                  <a:tcPr/>
                </a:tc>
                <a:tc>
                  <a:txBody>
                    <a:bodyPr/>
                    <a:lstStyle/>
                    <a:p>
                      <a:r>
                        <a:rPr lang="es-419" dirty="0"/>
                        <a:t>Verificar que las coordenadas no sean las mismas (objetivo/superficie), valores no validos de BUR O DOR, ‘</a:t>
                      </a:r>
                      <a:r>
                        <a:rPr lang="es-419" sz="1800" kern="1200" dirty="0">
                          <a:solidFill>
                            <a:schemeClr val="dk1"/>
                          </a:solidFill>
                          <a:effectLst/>
                          <a:latin typeface="+mn-lt"/>
                          <a:ea typeface="+mn-ea"/>
                          <a:cs typeface="+mn-cs"/>
                        </a:rPr>
                        <a:t>KOP &gt; TVD’</a:t>
                      </a:r>
                      <a:endParaRPr lang="es-419" dirty="0"/>
                    </a:p>
                  </a:txBody>
                  <a:tcPr/>
                </a:tc>
                <a:extLst>
                  <a:ext uri="{0D108BD9-81ED-4DB2-BD59-A6C34878D82A}">
                    <a16:rowId xmlns:a16="http://schemas.microsoft.com/office/drawing/2014/main" val="3360591314"/>
                  </a:ext>
                </a:extLst>
              </a:tr>
            </a:tbl>
          </a:graphicData>
        </a:graphic>
      </p:graphicFrame>
    </p:spTree>
    <p:extLst>
      <p:ext uri="{BB962C8B-B14F-4D97-AF65-F5344CB8AC3E}">
        <p14:creationId xmlns:p14="http://schemas.microsoft.com/office/powerpoint/2010/main" val="1551766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5C76228C-A74D-44D7-8590-3E96095D07C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11" name="Tabla 11">
            <a:extLst>
              <a:ext uri="{FF2B5EF4-FFF2-40B4-BE49-F238E27FC236}">
                <a16:creationId xmlns:a16="http://schemas.microsoft.com/office/drawing/2014/main" id="{69610D02-6AF5-41D2-8CDE-D23D433FB926}"/>
              </a:ext>
            </a:extLst>
          </p:cNvPr>
          <p:cNvGraphicFramePr>
            <a:graphicFrameLocks noGrp="1"/>
          </p:cNvGraphicFramePr>
          <p:nvPr>
            <p:ph idx="1"/>
          </p:nvPr>
        </p:nvGraphicFramePr>
        <p:xfrm>
          <a:off x="335758" y="163787"/>
          <a:ext cx="11520484" cy="6557689"/>
        </p:xfrm>
        <a:graphic>
          <a:graphicData uri="http://schemas.openxmlformats.org/drawingml/2006/table">
            <a:tbl>
              <a:tblPr firstRow="1" bandRow="1">
                <a:tableStyleId>{5C22544A-7EE6-4342-B048-85BDC9FD1C3A}</a:tableStyleId>
              </a:tblPr>
              <a:tblGrid>
                <a:gridCol w="2880121">
                  <a:extLst>
                    <a:ext uri="{9D8B030D-6E8A-4147-A177-3AD203B41FA5}">
                      <a16:colId xmlns:a16="http://schemas.microsoft.com/office/drawing/2014/main" val="4208083234"/>
                    </a:ext>
                  </a:extLst>
                </a:gridCol>
                <a:gridCol w="4661426">
                  <a:extLst>
                    <a:ext uri="{9D8B030D-6E8A-4147-A177-3AD203B41FA5}">
                      <a16:colId xmlns:a16="http://schemas.microsoft.com/office/drawing/2014/main" val="2654289028"/>
                    </a:ext>
                  </a:extLst>
                </a:gridCol>
                <a:gridCol w="2604977">
                  <a:extLst>
                    <a:ext uri="{9D8B030D-6E8A-4147-A177-3AD203B41FA5}">
                      <a16:colId xmlns:a16="http://schemas.microsoft.com/office/drawing/2014/main" val="2983594487"/>
                    </a:ext>
                  </a:extLst>
                </a:gridCol>
                <a:gridCol w="1373960">
                  <a:extLst>
                    <a:ext uri="{9D8B030D-6E8A-4147-A177-3AD203B41FA5}">
                      <a16:colId xmlns:a16="http://schemas.microsoft.com/office/drawing/2014/main" val="1592572262"/>
                    </a:ext>
                  </a:extLst>
                </a:gridCol>
              </a:tblGrid>
              <a:tr h="522649">
                <a:tc>
                  <a:txBody>
                    <a:bodyPr/>
                    <a:lstStyle/>
                    <a:p>
                      <a:pPr algn="ctr"/>
                      <a:r>
                        <a:rPr lang="es-419" dirty="0"/>
                        <a:t>Entrada</a:t>
                      </a:r>
                    </a:p>
                  </a:txBody>
                  <a:tcPr/>
                </a:tc>
                <a:tc>
                  <a:txBody>
                    <a:bodyPr/>
                    <a:lstStyle/>
                    <a:p>
                      <a:pPr algn="ctr"/>
                      <a:r>
                        <a:rPr lang="es-419" dirty="0"/>
                        <a:t>Descripción</a:t>
                      </a:r>
                    </a:p>
                  </a:txBody>
                  <a:tcPr/>
                </a:tc>
                <a:tc>
                  <a:txBody>
                    <a:bodyPr/>
                    <a:lstStyle/>
                    <a:p>
                      <a:pPr algn="ctr"/>
                      <a:r>
                        <a:rPr lang="es-419" dirty="0"/>
                        <a:t>Formato</a:t>
                      </a:r>
                    </a:p>
                  </a:txBody>
                  <a:tcPr/>
                </a:tc>
                <a:tc>
                  <a:txBody>
                    <a:bodyPr/>
                    <a:lstStyle/>
                    <a:p>
                      <a:pPr algn="ctr"/>
                      <a:r>
                        <a:rPr lang="es-419" dirty="0"/>
                        <a:t>Ejemplo</a:t>
                      </a:r>
                    </a:p>
                  </a:txBody>
                  <a:tcPr/>
                </a:tc>
                <a:extLst>
                  <a:ext uri="{0D108BD9-81ED-4DB2-BD59-A6C34878D82A}">
                    <a16:rowId xmlns:a16="http://schemas.microsoft.com/office/drawing/2014/main" val="2558853852"/>
                  </a:ext>
                </a:extLst>
              </a:tr>
              <a:tr h="522649">
                <a:tc>
                  <a:txBody>
                    <a:bodyPr/>
                    <a:lstStyle/>
                    <a:p>
                      <a:pPr algn="ctr"/>
                      <a:r>
                        <a:rPr lang="es-419" dirty="0"/>
                        <a:t>Coordenadas N/S al final de la trayectoria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norte/sur de la superficie en unidades UTM</a:t>
                      </a:r>
                    </a:p>
                  </a:txBody>
                  <a:tcPr/>
                </a:tc>
                <a:tc>
                  <a:txBody>
                    <a:bodyPr/>
                    <a:lstStyle/>
                    <a:p>
                      <a:pPr algn="ctr"/>
                      <a:r>
                        <a:rPr lang="es-419" dirty="0"/>
                        <a:t>Numero decimal </a:t>
                      </a:r>
                    </a:p>
                  </a:txBody>
                  <a:tcPr/>
                </a:tc>
                <a:tc>
                  <a:txBody>
                    <a:bodyPr/>
                    <a:lstStyle/>
                    <a:p>
                      <a:pPr algn="ctr"/>
                      <a:r>
                        <a:rPr lang="es-419" dirty="0">
                          <a:solidFill>
                            <a:schemeClr val="tx1"/>
                          </a:solidFill>
                        </a:rPr>
                        <a:t>2266949.85</a:t>
                      </a:r>
                    </a:p>
                  </a:txBody>
                  <a:tcPr/>
                </a:tc>
                <a:extLst>
                  <a:ext uri="{0D108BD9-81ED-4DB2-BD59-A6C34878D82A}">
                    <a16:rowId xmlns:a16="http://schemas.microsoft.com/office/drawing/2014/main" val="2583935723"/>
                  </a:ext>
                </a:extLst>
              </a:tr>
              <a:tr h="261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N/S de la superficie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norte/sur de la superficie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2265949.85</a:t>
                      </a:r>
                    </a:p>
                  </a:txBody>
                  <a:tcPr/>
                </a:tc>
                <a:extLst>
                  <a:ext uri="{0D108BD9-81ED-4DB2-BD59-A6C34878D82A}">
                    <a16:rowId xmlns:a16="http://schemas.microsoft.com/office/drawing/2014/main" val="3017457318"/>
                  </a:ext>
                </a:extLst>
              </a:tr>
              <a:tr h="522649">
                <a:tc>
                  <a:txBody>
                    <a:bodyPr/>
                    <a:lstStyle/>
                    <a:p>
                      <a:pPr algn="ctr"/>
                      <a:r>
                        <a:rPr lang="es-419" dirty="0"/>
                        <a:t>Coordenadas E/W al final de la trayectoria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este/oeste del objetivo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654949.6</a:t>
                      </a:r>
                    </a:p>
                  </a:txBody>
                  <a:tcPr/>
                </a:tc>
                <a:extLst>
                  <a:ext uri="{0D108BD9-81ED-4DB2-BD59-A6C34878D82A}">
                    <a16:rowId xmlns:a16="http://schemas.microsoft.com/office/drawing/2014/main" val="2939152690"/>
                  </a:ext>
                </a:extLst>
              </a:tr>
              <a:tr h="5226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E/W de la superficie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este/oeste de la superficie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654449.6</a:t>
                      </a:r>
                    </a:p>
                  </a:txBody>
                  <a:tcPr/>
                </a:tc>
                <a:extLst>
                  <a:ext uri="{0D108BD9-81ED-4DB2-BD59-A6C34878D82A}">
                    <a16:rowId xmlns:a16="http://schemas.microsoft.com/office/drawing/2014/main" val="708623386"/>
                  </a:ext>
                </a:extLst>
              </a:tr>
              <a:tr h="522649">
                <a:tc>
                  <a:txBody>
                    <a:bodyPr/>
                    <a:lstStyle/>
                    <a:p>
                      <a:pPr algn="ctr"/>
                      <a:r>
                        <a:rPr lang="es-419" dirty="0"/>
                        <a:t>Ritmo de incremento/ 30m (BUR)</a:t>
                      </a:r>
                    </a:p>
                  </a:txBody>
                  <a:tcPr/>
                </a:tc>
                <a:tc>
                  <a:txBody>
                    <a:bodyPr/>
                    <a:lstStyle/>
                    <a:p>
                      <a:pPr algn="ctr"/>
                      <a:r>
                        <a:rPr lang="es-419" dirty="0"/>
                        <a:t>Tasa de incremento de ángulo cada 30 m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2.5</a:t>
                      </a:r>
                    </a:p>
                  </a:txBody>
                  <a:tcPr/>
                </a:tc>
                <a:extLst>
                  <a:ext uri="{0D108BD9-81ED-4DB2-BD59-A6C34878D82A}">
                    <a16:rowId xmlns:a16="http://schemas.microsoft.com/office/drawing/2014/main" val="3371900986"/>
                  </a:ext>
                </a:extLst>
              </a:tr>
              <a:tr h="522649">
                <a:tc>
                  <a:txBody>
                    <a:bodyPr/>
                    <a:lstStyle/>
                    <a:p>
                      <a:pPr algn="ctr"/>
                      <a:r>
                        <a:rPr lang="es-419" dirty="0"/>
                        <a:t>Ritmo de reducción/ 30m (DOR)</a:t>
                      </a:r>
                    </a:p>
                  </a:txBody>
                  <a:tcPr/>
                </a:tc>
                <a:tc>
                  <a:txBody>
                    <a:bodyPr/>
                    <a:lstStyle/>
                    <a:p>
                      <a:pPr algn="ctr"/>
                      <a:r>
                        <a:rPr lang="es-419" dirty="0"/>
                        <a:t>Tasa de incremento de ángulo cada 30 m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2.5</a:t>
                      </a:r>
                    </a:p>
                  </a:txBody>
                  <a:tcPr/>
                </a:tc>
                <a:extLst>
                  <a:ext uri="{0D108BD9-81ED-4DB2-BD59-A6C34878D82A}">
                    <a16:rowId xmlns:a16="http://schemas.microsoft.com/office/drawing/2014/main" val="1408805311"/>
                  </a:ext>
                </a:extLst>
              </a:tr>
              <a:tr h="522649">
                <a:tc>
                  <a:txBody>
                    <a:bodyPr/>
                    <a:lstStyle/>
                    <a:p>
                      <a:pPr algn="ctr"/>
                      <a:r>
                        <a:rPr lang="es-419" dirty="0"/>
                        <a:t>Inicio de desviación (KOP) 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Profundidad del inicio de la curvatura (metros)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300</a:t>
                      </a:r>
                    </a:p>
                  </a:txBody>
                  <a:tcPr/>
                </a:tc>
                <a:extLst>
                  <a:ext uri="{0D108BD9-81ED-4DB2-BD59-A6C34878D82A}">
                    <a16:rowId xmlns:a16="http://schemas.microsoft.com/office/drawing/2014/main" val="3382278837"/>
                  </a:ext>
                </a:extLst>
              </a:tr>
              <a:tr h="522649">
                <a:tc>
                  <a:txBody>
                    <a:bodyPr/>
                    <a:lstStyle/>
                    <a:p>
                      <a:pPr algn="ctr"/>
                      <a:r>
                        <a:rPr lang="es-419" dirty="0"/>
                        <a:t>Profundidad vertical al objetivo (TVD) m:</a:t>
                      </a:r>
                    </a:p>
                  </a:txBody>
                  <a:tcPr/>
                </a:tc>
                <a:tc>
                  <a:txBody>
                    <a:bodyPr/>
                    <a:lstStyle/>
                    <a:p>
                      <a:pPr algn="ctr"/>
                      <a:r>
                        <a:rPr lang="es-419" dirty="0"/>
                        <a:t>Profundidad solamente contemplando desplazamiento vertical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1500</a:t>
                      </a:r>
                    </a:p>
                  </a:txBody>
                  <a:tcPr/>
                </a:tc>
                <a:extLst>
                  <a:ext uri="{0D108BD9-81ED-4DB2-BD59-A6C34878D82A}">
                    <a16:rowId xmlns:a16="http://schemas.microsoft.com/office/drawing/2014/main" val="537697030"/>
                  </a:ext>
                </a:extLst>
              </a:tr>
              <a:tr h="522649">
                <a:tc>
                  <a:txBody>
                    <a:bodyPr/>
                    <a:lstStyle/>
                    <a:p>
                      <a:pPr algn="ctr"/>
                      <a:r>
                        <a:rPr lang="es-419" dirty="0"/>
                        <a:t>Distancia después de la curva/decremento m:</a:t>
                      </a:r>
                    </a:p>
                  </a:txBody>
                  <a:tcPr/>
                </a:tc>
                <a:tc>
                  <a:txBody>
                    <a:bodyPr/>
                    <a:lstStyle/>
                    <a:p>
                      <a:pPr algn="ctr"/>
                      <a:r>
                        <a:rPr lang="es-419" dirty="0"/>
                        <a:t>Distancia a la cual se mantiene el ángulo creado después de pasar por las coordenadas del objetivo en pozo II y III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 </a:t>
                      </a:r>
                    </a:p>
                    <a:p>
                      <a:pPr algn="ctr"/>
                      <a:endParaRPr lang="es-419" dirty="0"/>
                    </a:p>
                  </a:txBody>
                  <a:tcPr/>
                </a:tc>
                <a:tc>
                  <a:txBody>
                    <a:bodyPr/>
                    <a:lstStyle/>
                    <a:p>
                      <a:pPr algn="ctr"/>
                      <a:r>
                        <a:rPr lang="es-419" dirty="0">
                          <a:solidFill>
                            <a:schemeClr val="tx1"/>
                          </a:solidFill>
                        </a:rPr>
                        <a:t>200</a:t>
                      </a:r>
                    </a:p>
                  </a:txBody>
                  <a:tcPr/>
                </a:tc>
                <a:extLst>
                  <a:ext uri="{0D108BD9-81ED-4DB2-BD59-A6C34878D82A}">
                    <a16:rowId xmlns:a16="http://schemas.microsoft.com/office/drawing/2014/main" val="2248396114"/>
                  </a:ext>
                </a:extLst>
              </a:tr>
            </a:tbl>
          </a:graphicData>
        </a:graphic>
      </p:graphicFrame>
    </p:spTree>
    <p:extLst>
      <p:ext uri="{BB962C8B-B14F-4D97-AF65-F5344CB8AC3E}">
        <p14:creationId xmlns:p14="http://schemas.microsoft.com/office/powerpoint/2010/main" val="3724099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CEC5AF-10A5-4360-AAF0-F5ECB42F3413}"/>
              </a:ext>
            </a:extLst>
          </p:cNvPr>
          <p:cNvPicPr>
            <a:picLocks noChangeAspect="1"/>
          </p:cNvPicPr>
          <p:nvPr/>
        </p:nvPicPr>
        <p:blipFill>
          <a:blip r:embed="rId2"/>
          <a:stretch>
            <a:fillRect/>
          </a:stretch>
        </p:blipFill>
        <p:spPr>
          <a:xfrm>
            <a:off x="3544661" y="1522385"/>
            <a:ext cx="3189222" cy="4349779"/>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076700" y="366362"/>
            <a:ext cx="8022919" cy="662781"/>
          </a:xfrm>
        </p:spPr>
        <p:txBody>
          <a:bodyPr vert="horz" lIns="91440" tIns="45720" rIns="91440" bIns="45720" rtlCol="0" anchor="ctr">
            <a:noAutofit/>
          </a:bodyPr>
          <a:lstStyle/>
          <a:p>
            <a:pPr algn="ctr"/>
            <a:r>
              <a:rPr lang="es-419" sz="3600" b="1" dirty="0">
                <a:solidFill>
                  <a:schemeClr val="bg1"/>
                </a:solidFill>
                <a:latin typeface="Montserrat" panose="00000500000000000000" pitchFamily="2" charset="0"/>
              </a:rPr>
              <a:t>Puntos a considerar en el diseño de la trayectoria tipo III (H)</a:t>
            </a:r>
          </a:p>
        </p:txBody>
      </p:sp>
      <p:cxnSp>
        <p:nvCxnSpPr>
          <p:cNvPr id="6" name="Conector recto de flecha 5">
            <a:extLst>
              <a:ext uri="{FF2B5EF4-FFF2-40B4-BE49-F238E27FC236}">
                <a16:creationId xmlns:a16="http://schemas.microsoft.com/office/drawing/2014/main" id="{F42787C9-6BF1-4588-B9D2-22FF0FED0AFC}"/>
              </a:ext>
            </a:extLst>
          </p:cNvPr>
          <p:cNvCxnSpPr>
            <a:cxnSpLocks/>
          </p:cNvCxnSpPr>
          <p:nvPr/>
        </p:nvCxnSpPr>
        <p:spPr>
          <a:xfrm flipV="1">
            <a:off x="4642601" y="4577583"/>
            <a:ext cx="2582327" cy="2"/>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7A75FB1C-09F3-4290-A3D4-2702F4688D9A}"/>
              </a:ext>
            </a:extLst>
          </p:cNvPr>
          <p:cNvSpPr txBox="1"/>
          <p:nvPr/>
        </p:nvSpPr>
        <p:spPr>
          <a:xfrm>
            <a:off x="6961081" y="4080237"/>
            <a:ext cx="4606393" cy="646331"/>
          </a:xfrm>
          <a:prstGeom prst="rect">
            <a:avLst/>
          </a:prstGeom>
          <a:noFill/>
          <a:ln>
            <a:noFill/>
          </a:ln>
        </p:spPr>
        <p:txBody>
          <a:bodyPr wrap="square" rtlCol="0">
            <a:spAutoFit/>
          </a:bodyPr>
          <a:lstStyle/>
          <a:p>
            <a:pPr algn="ctr"/>
            <a:r>
              <a:rPr lang="es-419" dirty="0">
                <a:solidFill>
                  <a:srgbClr val="FFCF00"/>
                </a:solidFill>
                <a:latin typeface="Montserrat" panose="00000500000000000000" pitchFamily="2" charset="0"/>
              </a:rPr>
              <a:t>1.- Coordenadas UTM de superficie: Norte/Sur (N/S) Y Este/Oeste (E/W)</a:t>
            </a:r>
          </a:p>
        </p:txBody>
      </p:sp>
      <p:cxnSp>
        <p:nvCxnSpPr>
          <p:cNvPr id="9" name="Conector recto de flecha 8">
            <a:extLst>
              <a:ext uri="{FF2B5EF4-FFF2-40B4-BE49-F238E27FC236}">
                <a16:creationId xmlns:a16="http://schemas.microsoft.com/office/drawing/2014/main" id="{C7CCBB9E-2055-463E-A721-FC6F8AAB2A6F}"/>
              </a:ext>
            </a:extLst>
          </p:cNvPr>
          <p:cNvCxnSpPr>
            <a:cxnSpLocks/>
          </p:cNvCxnSpPr>
          <p:nvPr/>
        </p:nvCxnSpPr>
        <p:spPr>
          <a:xfrm>
            <a:off x="4858515" y="5707592"/>
            <a:ext cx="0" cy="397933"/>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A82BFA58-AF7C-4097-9F0E-FDD325B0775A}"/>
              </a:ext>
            </a:extLst>
          </p:cNvPr>
          <p:cNvSpPr txBox="1"/>
          <p:nvPr/>
        </p:nvSpPr>
        <p:spPr>
          <a:xfrm>
            <a:off x="4562953" y="6115384"/>
            <a:ext cx="4377704" cy="646331"/>
          </a:xfrm>
          <a:prstGeom prst="rect">
            <a:avLst/>
          </a:prstGeom>
          <a:noFill/>
          <a:ln>
            <a:noFill/>
          </a:ln>
        </p:spPr>
        <p:txBody>
          <a:bodyPr wrap="square" rtlCol="0">
            <a:spAutoFit/>
          </a:bodyPr>
          <a:lstStyle/>
          <a:p>
            <a:pPr algn="ctr"/>
            <a:r>
              <a:rPr lang="es-419" dirty="0">
                <a:solidFill>
                  <a:srgbClr val="FFCF00"/>
                </a:solidFill>
                <a:latin typeface="Montserrat" panose="00000500000000000000" pitchFamily="2" charset="0"/>
              </a:rPr>
              <a:t>2.- Coordenadas UTM de objetivo: Norte/Sur (N/S) Y Este/Oeste (E/W)</a:t>
            </a:r>
          </a:p>
        </p:txBody>
      </p:sp>
      <p:grpSp>
        <p:nvGrpSpPr>
          <p:cNvPr id="23" name="Grupo 22">
            <a:extLst>
              <a:ext uri="{FF2B5EF4-FFF2-40B4-BE49-F238E27FC236}">
                <a16:creationId xmlns:a16="http://schemas.microsoft.com/office/drawing/2014/main" id="{675380BA-9FDD-4588-89A3-D68B7214AC5D}"/>
              </a:ext>
            </a:extLst>
          </p:cNvPr>
          <p:cNvGrpSpPr/>
          <p:nvPr/>
        </p:nvGrpSpPr>
        <p:grpSpPr>
          <a:xfrm>
            <a:off x="4021334" y="4566921"/>
            <a:ext cx="215970" cy="1168186"/>
            <a:chOff x="4114803" y="4127848"/>
            <a:chExt cx="152400" cy="1620000"/>
          </a:xfrm>
        </p:grpSpPr>
        <p:cxnSp>
          <p:nvCxnSpPr>
            <p:cNvPr id="13" name="Conector recto 12">
              <a:extLst>
                <a:ext uri="{FF2B5EF4-FFF2-40B4-BE49-F238E27FC236}">
                  <a16:creationId xmlns:a16="http://schemas.microsoft.com/office/drawing/2014/main" id="{F1D4B2B7-5149-481F-9000-E5BB7E89F675}"/>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E5893F41-3716-4367-9560-A9FE965C602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27F1093C-F0CE-4D6A-936B-FAF25F47464F}"/>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17" name="Conector recto de flecha 16">
            <a:extLst>
              <a:ext uri="{FF2B5EF4-FFF2-40B4-BE49-F238E27FC236}">
                <a16:creationId xmlns:a16="http://schemas.microsoft.com/office/drawing/2014/main" id="{6B461E8B-684B-4B66-BCFC-AB0795D0548E}"/>
              </a:ext>
            </a:extLst>
          </p:cNvPr>
          <p:cNvCxnSpPr>
            <a:cxnSpLocks/>
          </p:cNvCxnSpPr>
          <p:nvPr/>
        </p:nvCxnSpPr>
        <p:spPr>
          <a:xfrm flipH="1">
            <a:off x="3137964" y="4701458"/>
            <a:ext cx="994565"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0FAAFC12-5A74-4AA7-AFA6-9AC3AC35A516}"/>
              </a:ext>
            </a:extLst>
          </p:cNvPr>
          <p:cNvSpPr txBox="1"/>
          <p:nvPr/>
        </p:nvSpPr>
        <p:spPr>
          <a:xfrm>
            <a:off x="349539" y="4272926"/>
            <a:ext cx="3141128" cy="646331"/>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4.- Profundidad vertical al objetivo (TVD)</a:t>
            </a:r>
          </a:p>
        </p:txBody>
      </p:sp>
      <p:grpSp>
        <p:nvGrpSpPr>
          <p:cNvPr id="18" name="Grupo 17">
            <a:extLst>
              <a:ext uri="{FF2B5EF4-FFF2-40B4-BE49-F238E27FC236}">
                <a16:creationId xmlns:a16="http://schemas.microsoft.com/office/drawing/2014/main" id="{CF35FB25-321D-4591-81A9-D4A24BFCDB23}"/>
              </a:ext>
            </a:extLst>
          </p:cNvPr>
          <p:cNvGrpSpPr/>
          <p:nvPr/>
        </p:nvGrpSpPr>
        <p:grpSpPr>
          <a:xfrm>
            <a:off x="4433312" y="5269741"/>
            <a:ext cx="690876" cy="507454"/>
            <a:chOff x="4368806" y="4626740"/>
            <a:chExt cx="812161" cy="703039"/>
          </a:xfrm>
        </p:grpSpPr>
        <p:sp>
          <p:nvSpPr>
            <p:cNvPr id="20" name="Arco 19">
              <a:extLst>
                <a:ext uri="{FF2B5EF4-FFF2-40B4-BE49-F238E27FC236}">
                  <a16:creationId xmlns:a16="http://schemas.microsoft.com/office/drawing/2014/main" id="{648AE7C6-968A-4CE0-935F-D0D10DC7E5E7}"/>
                </a:ext>
              </a:extLst>
            </p:cNvPr>
            <p:cNvSpPr/>
            <p:nvPr/>
          </p:nvSpPr>
          <p:spPr>
            <a:xfrm rot="11457301">
              <a:off x="4444370" y="4626740"/>
              <a:ext cx="736597" cy="646331"/>
            </a:xfrm>
            <a:prstGeom prst="arc">
              <a:avLst/>
            </a:prstGeom>
            <a:ln w="28575">
              <a:solidFill>
                <a:srgbClr val="FFCF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419">
                <a:solidFill>
                  <a:srgbClr val="FFCF00"/>
                </a:solidFill>
              </a:endParaRPr>
            </a:p>
          </p:txBody>
        </p:sp>
        <p:cxnSp>
          <p:nvCxnSpPr>
            <p:cNvPr id="21" name="Conector recto 20">
              <a:extLst>
                <a:ext uri="{FF2B5EF4-FFF2-40B4-BE49-F238E27FC236}">
                  <a16:creationId xmlns:a16="http://schemas.microsoft.com/office/drawing/2014/main" id="{25754289-5F13-4EF2-8A9F-97BD9321D004}"/>
                </a:ext>
              </a:extLst>
            </p:cNvPr>
            <p:cNvCxnSpPr>
              <a:cxnSpLocks/>
            </p:cNvCxnSpPr>
            <p:nvPr/>
          </p:nvCxnSpPr>
          <p:spPr>
            <a:xfrm>
              <a:off x="4368806" y="486582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DED9774D-BF7E-4353-A255-203F7279C117}"/>
                </a:ext>
              </a:extLst>
            </p:cNvPr>
            <p:cNvCxnSpPr>
              <a:cxnSpLocks/>
            </p:cNvCxnSpPr>
            <p:nvPr/>
          </p:nvCxnSpPr>
          <p:spPr>
            <a:xfrm flipV="1">
              <a:off x="4749807" y="5179095"/>
              <a:ext cx="0" cy="150684"/>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24" name="Conector recto de flecha 23">
            <a:extLst>
              <a:ext uri="{FF2B5EF4-FFF2-40B4-BE49-F238E27FC236}">
                <a16:creationId xmlns:a16="http://schemas.microsoft.com/office/drawing/2014/main" id="{A892E8DA-6065-476A-AD08-F68337BA0BFD}"/>
              </a:ext>
            </a:extLst>
          </p:cNvPr>
          <p:cNvCxnSpPr>
            <a:cxnSpLocks/>
          </p:cNvCxnSpPr>
          <p:nvPr/>
        </p:nvCxnSpPr>
        <p:spPr>
          <a:xfrm flipH="1">
            <a:off x="3252302" y="5581485"/>
            <a:ext cx="128693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21CBFBC1-AE4E-4391-8CBD-27927E880778}"/>
              </a:ext>
            </a:extLst>
          </p:cNvPr>
          <p:cNvSpPr txBox="1"/>
          <p:nvPr/>
        </p:nvSpPr>
        <p:spPr>
          <a:xfrm>
            <a:off x="246254" y="4961847"/>
            <a:ext cx="3655870" cy="923330"/>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5.- Ritmo de incremento del ángulo para la construcción de la curva (BUR)</a:t>
            </a:r>
          </a:p>
        </p:txBody>
      </p:sp>
      <p:cxnSp>
        <p:nvCxnSpPr>
          <p:cNvPr id="30" name="Conector recto de flecha 29">
            <a:extLst>
              <a:ext uri="{FF2B5EF4-FFF2-40B4-BE49-F238E27FC236}">
                <a16:creationId xmlns:a16="http://schemas.microsoft.com/office/drawing/2014/main" id="{944416A9-7676-4188-89A7-8DEED0C67867}"/>
              </a:ext>
            </a:extLst>
          </p:cNvPr>
          <p:cNvCxnSpPr>
            <a:cxnSpLocks/>
          </p:cNvCxnSpPr>
          <p:nvPr/>
        </p:nvCxnSpPr>
        <p:spPr>
          <a:xfrm>
            <a:off x="4634134" y="5312555"/>
            <a:ext cx="259079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DDC1BA93-6EAA-45C5-9387-30D661258AA4}"/>
              </a:ext>
            </a:extLst>
          </p:cNvPr>
          <p:cNvSpPr txBox="1"/>
          <p:nvPr/>
        </p:nvSpPr>
        <p:spPr>
          <a:xfrm>
            <a:off x="7083833" y="5065596"/>
            <a:ext cx="3301995" cy="369332"/>
          </a:xfrm>
          <a:prstGeom prst="rect">
            <a:avLst/>
          </a:prstGeom>
          <a:noFill/>
          <a:ln>
            <a:noFill/>
          </a:ln>
        </p:spPr>
        <p:txBody>
          <a:bodyPr wrap="square" rtlCol="0">
            <a:spAutoFit/>
          </a:bodyPr>
          <a:lstStyle/>
          <a:p>
            <a:pPr algn="ctr"/>
            <a:r>
              <a:rPr lang="es-419" dirty="0">
                <a:solidFill>
                  <a:srgbClr val="FFCF00"/>
                </a:solidFill>
                <a:latin typeface="Montserrat" panose="00000500000000000000" pitchFamily="2" charset="0"/>
              </a:rPr>
              <a:t>3.- Inicio de la desviación</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grpSp>
        <p:nvGrpSpPr>
          <p:cNvPr id="41" name="Grupo 40">
            <a:extLst>
              <a:ext uri="{FF2B5EF4-FFF2-40B4-BE49-F238E27FC236}">
                <a16:creationId xmlns:a16="http://schemas.microsoft.com/office/drawing/2014/main" id="{BF185FF2-2C22-4222-AC7C-B241D21F3922}"/>
              </a:ext>
            </a:extLst>
          </p:cNvPr>
          <p:cNvGrpSpPr/>
          <p:nvPr/>
        </p:nvGrpSpPr>
        <p:grpSpPr>
          <a:xfrm rot="16200000">
            <a:off x="5388402" y="4873831"/>
            <a:ext cx="215532" cy="1286935"/>
            <a:chOff x="4114797" y="4127848"/>
            <a:chExt cx="152406" cy="1620000"/>
          </a:xfrm>
        </p:grpSpPr>
        <p:cxnSp>
          <p:nvCxnSpPr>
            <p:cNvPr id="42" name="Conector recto 41">
              <a:extLst>
                <a:ext uri="{FF2B5EF4-FFF2-40B4-BE49-F238E27FC236}">
                  <a16:creationId xmlns:a16="http://schemas.microsoft.com/office/drawing/2014/main" id="{210258D5-FEC8-44B7-A957-6EB2B52273A3}"/>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D07593DC-DB66-45D1-BC0C-E22C83CC2A46}"/>
                </a:ext>
              </a:extLst>
            </p:cNvPr>
            <p:cNvCxnSpPr>
              <a:cxnSpLocks/>
            </p:cNvCxnSpPr>
            <p:nvPr/>
          </p:nvCxnSpPr>
          <p:spPr>
            <a:xfrm>
              <a:off x="4114797" y="4144781"/>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38C18685-D972-4902-ACAB-046F48E79E91}"/>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sp>
        <p:nvSpPr>
          <p:cNvPr id="48" name="CuadroTexto 47">
            <a:extLst>
              <a:ext uri="{FF2B5EF4-FFF2-40B4-BE49-F238E27FC236}">
                <a16:creationId xmlns:a16="http://schemas.microsoft.com/office/drawing/2014/main" id="{347DB719-A1F4-4D0B-940E-D9D4DD226FEA}"/>
              </a:ext>
            </a:extLst>
          </p:cNvPr>
          <p:cNvSpPr txBox="1"/>
          <p:nvPr/>
        </p:nvSpPr>
        <p:spPr>
          <a:xfrm>
            <a:off x="6315614" y="1757992"/>
            <a:ext cx="5261385" cy="1477328"/>
          </a:xfrm>
          <a:prstGeom prst="rect">
            <a:avLst/>
          </a:prstGeom>
          <a:noFill/>
        </p:spPr>
        <p:txBody>
          <a:bodyPr wrap="square" rtlCol="0">
            <a:spAutoFit/>
          </a:bodyPr>
          <a:lstStyle/>
          <a:p>
            <a:pPr algn="ctr"/>
            <a:r>
              <a:rPr lang="es-419" dirty="0">
                <a:solidFill>
                  <a:srgbClr val="FFCF00"/>
                </a:solidFill>
                <a:latin typeface="Montserrat" panose="00000500000000000000" pitchFamily="2" charset="0"/>
              </a:rPr>
              <a:t>* En esta trayectoria se toma como coordenada de objetivo el punto en donde finaliza la curva, la profundidad extra es la distancia a la cual se requiere prolongar la perforación con el ángulo definido</a:t>
            </a:r>
          </a:p>
        </p:txBody>
      </p:sp>
      <p:sp>
        <p:nvSpPr>
          <p:cNvPr id="46" name="CuadroTexto 45">
            <a:extLst>
              <a:ext uri="{FF2B5EF4-FFF2-40B4-BE49-F238E27FC236}">
                <a16:creationId xmlns:a16="http://schemas.microsoft.com/office/drawing/2014/main" id="{1534640E-39D6-4445-B497-D756C86D290E}"/>
              </a:ext>
            </a:extLst>
          </p:cNvPr>
          <p:cNvSpPr txBox="1"/>
          <p:nvPr/>
        </p:nvSpPr>
        <p:spPr>
          <a:xfrm>
            <a:off x="7747021" y="5503002"/>
            <a:ext cx="4209237" cy="646331"/>
          </a:xfrm>
          <a:prstGeom prst="rect">
            <a:avLst/>
          </a:prstGeom>
          <a:noFill/>
          <a:ln>
            <a:noFill/>
          </a:ln>
        </p:spPr>
        <p:txBody>
          <a:bodyPr wrap="square" rtlCol="0">
            <a:spAutoFit/>
          </a:bodyPr>
          <a:lstStyle/>
          <a:p>
            <a:pPr algn="ctr"/>
            <a:r>
              <a:rPr lang="es-419" dirty="0">
                <a:solidFill>
                  <a:srgbClr val="FFCF00"/>
                </a:solidFill>
                <a:latin typeface="Montserrat" panose="00000500000000000000" pitchFamily="2" charset="0"/>
              </a:rPr>
              <a:t>6.- Desplazamiento Horizontal/ Profundidad extra</a:t>
            </a:r>
          </a:p>
        </p:txBody>
      </p:sp>
      <p:cxnSp>
        <p:nvCxnSpPr>
          <p:cNvPr id="50" name="Conector recto de flecha 49">
            <a:extLst>
              <a:ext uri="{FF2B5EF4-FFF2-40B4-BE49-F238E27FC236}">
                <a16:creationId xmlns:a16="http://schemas.microsoft.com/office/drawing/2014/main" id="{E489F102-615C-4DBF-B908-28F0E61C8733}"/>
              </a:ext>
            </a:extLst>
          </p:cNvPr>
          <p:cNvCxnSpPr>
            <a:cxnSpLocks/>
          </p:cNvCxnSpPr>
          <p:nvPr/>
        </p:nvCxnSpPr>
        <p:spPr>
          <a:xfrm>
            <a:off x="5428961" y="5723187"/>
            <a:ext cx="259079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8EE31657-47E9-40C7-BE3C-55F06974AF06}"/>
              </a:ext>
            </a:extLst>
          </p:cNvPr>
          <p:cNvCxnSpPr/>
          <p:nvPr/>
        </p:nvCxnSpPr>
        <p:spPr>
          <a:xfrm>
            <a:off x="5443376" y="5523177"/>
            <a:ext cx="0" cy="216000"/>
          </a:xfrm>
          <a:prstGeom prst="line">
            <a:avLst/>
          </a:prstGeom>
          <a:ln w="28575">
            <a:solidFill>
              <a:srgbClr val="FFCF00"/>
            </a:solidFill>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C7F48926-6C84-4856-82D5-879A71898CBC}"/>
              </a:ext>
            </a:extLst>
          </p:cNvPr>
          <p:cNvSpPr txBox="1"/>
          <p:nvPr/>
        </p:nvSpPr>
        <p:spPr>
          <a:xfrm>
            <a:off x="4478262" y="4403176"/>
            <a:ext cx="245530" cy="369332"/>
          </a:xfrm>
          <a:prstGeom prst="rect">
            <a:avLst/>
          </a:prstGeom>
          <a:noFill/>
          <a:ln>
            <a:noFill/>
          </a:ln>
        </p:spPr>
        <p:txBody>
          <a:bodyPr wrap="square" rtlCol="0">
            <a:spAutoFit/>
          </a:bodyPr>
          <a:lstStyle/>
          <a:p>
            <a:r>
              <a:rPr lang="es-419" b="1" dirty="0">
                <a:solidFill>
                  <a:srgbClr val="FFCF00"/>
                </a:solidFill>
              </a:rPr>
              <a:t>X</a:t>
            </a:r>
          </a:p>
        </p:txBody>
      </p:sp>
      <p:sp>
        <p:nvSpPr>
          <p:cNvPr id="52" name="CuadroTexto 51">
            <a:extLst>
              <a:ext uri="{FF2B5EF4-FFF2-40B4-BE49-F238E27FC236}">
                <a16:creationId xmlns:a16="http://schemas.microsoft.com/office/drawing/2014/main" id="{133B3269-B7EF-44E2-BAAF-0F8A03963503}"/>
              </a:ext>
            </a:extLst>
          </p:cNvPr>
          <p:cNvSpPr txBox="1"/>
          <p:nvPr/>
        </p:nvSpPr>
        <p:spPr>
          <a:xfrm>
            <a:off x="4487787" y="5127076"/>
            <a:ext cx="245530" cy="369332"/>
          </a:xfrm>
          <a:prstGeom prst="rect">
            <a:avLst/>
          </a:prstGeom>
          <a:noFill/>
          <a:ln>
            <a:noFill/>
          </a:ln>
        </p:spPr>
        <p:txBody>
          <a:bodyPr wrap="square" rtlCol="0">
            <a:spAutoFit/>
          </a:bodyPr>
          <a:lstStyle/>
          <a:p>
            <a:r>
              <a:rPr lang="es-419" b="1" dirty="0">
                <a:solidFill>
                  <a:srgbClr val="FFCF00"/>
                </a:solidFill>
              </a:rPr>
              <a:t>X</a:t>
            </a:r>
          </a:p>
        </p:txBody>
      </p:sp>
      <p:sp>
        <p:nvSpPr>
          <p:cNvPr id="53" name="CuadroTexto 52">
            <a:extLst>
              <a:ext uri="{FF2B5EF4-FFF2-40B4-BE49-F238E27FC236}">
                <a16:creationId xmlns:a16="http://schemas.microsoft.com/office/drawing/2014/main" id="{93158153-4247-4EB3-8030-B59169DE380F}"/>
              </a:ext>
            </a:extLst>
          </p:cNvPr>
          <p:cNvSpPr txBox="1"/>
          <p:nvPr/>
        </p:nvSpPr>
        <p:spPr>
          <a:xfrm>
            <a:off x="4706862" y="5538865"/>
            <a:ext cx="245530" cy="369332"/>
          </a:xfrm>
          <a:prstGeom prst="rect">
            <a:avLst/>
          </a:prstGeom>
          <a:noFill/>
          <a:ln>
            <a:noFill/>
          </a:ln>
        </p:spPr>
        <p:txBody>
          <a:bodyPr wrap="square" rtlCol="0">
            <a:spAutoFit/>
          </a:bodyPr>
          <a:lstStyle/>
          <a:p>
            <a:r>
              <a:rPr lang="es-419" b="1" dirty="0">
                <a:solidFill>
                  <a:srgbClr val="FFCF00"/>
                </a:solidFill>
              </a:rPr>
              <a:t>X</a:t>
            </a:r>
          </a:p>
        </p:txBody>
      </p:sp>
    </p:spTree>
    <p:extLst>
      <p:ext uri="{BB962C8B-B14F-4D97-AF65-F5344CB8AC3E}">
        <p14:creationId xmlns:p14="http://schemas.microsoft.com/office/powerpoint/2010/main" val="4009360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0202DB6-49EC-4315-862B-36D51C287FC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sp>
        <p:nvSpPr>
          <p:cNvPr id="6" name="Marcador de contenido 2">
            <a:extLst>
              <a:ext uri="{FF2B5EF4-FFF2-40B4-BE49-F238E27FC236}">
                <a16:creationId xmlns:a16="http://schemas.microsoft.com/office/drawing/2014/main" id="{635C2261-5BA7-42FB-BA9D-C223CE15CBC7}"/>
              </a:ext>
            </a:extLst>
          </p:cNvPr>
          <p:cNvSpPr txBox="1">
            <a:spLocks/>
          </p:cNvSpPr>
          <p:nvPr/>
        </p:nvSpPr>
        <p:spPr bwMode="auto">
          <a:xfrm>
            <a:off x="154103" y="867717"/>
            <a:ext cx="12232827" cy="529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1</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de interés para utilizarlo como coordenada N/S Y E/W de superficie (UTM)**: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Este punto es desde donde se empieza a perforar, puede referenciarse la mesa rotaria, boca de pozo, </a:t>
            </a:r>
            <a:r>
              <a:rPr kumimoji="0" lang="es-419" sz="1400" b="0"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etc</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deben de ser coordenadas UTM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2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en el cual la curva se termina de construir, estas serán las coordenadas N/S Y E/W del objetivo (UTM)**: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la trayectoria tipo H, las coordenadas del objetivo se toman hasta donde se termina de construir la curva, tratándose de un tipo H esto seria hasta el punto en donde se alcancen los 90°</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3</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la profundidad para el KOP (m)**: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A esta profundidad es en donde se empieza a incrementar el ángulo o construir la curva, es decir, desde donde la perforación completamente vertical se empieza a desviar o incrementar ángulo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4</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vertical al objetivo (m)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este tipo de pozo la TVD se toma hasta el yacimiento, o bien, el punto elegido en el inciso 2, esta profundidad no toma en cuenta el desplazamiento en x, únicamente sobre el eje y, por lo cual al tratarse de un pozo horizontal ya no se estaría perforando verticalmente desde este punto, si no que el desplazamiento seria puramente en el eje x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5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un ritmo de incremento ‘BUR’ (°/30m) **:</a:t>
            </a:r>
            <a:b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Como su nombre lo indica este parámetro establece la tasa con la cual se va a realizar un aumento de ángulo cada 30 m hasta llegar a los 90°, este aumento en la inclinación genera problemas en la perforación mientras mayor sea el ritmo</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6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extra (m) **:</a:t>
            </a:r>
            <a:b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Esta ‘profundidad extra’ va a ser toda la sección horizontal del pozo, aquí se hace la clasificación de acuerdo a esa distancia, siendo: ‘corto’, ‘medio’ y ‘largo’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endPar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p:txBody>
      </p:sp>
      <p:sp>
        <p:nvSpPr>
          <p:cNvPr id="9" name="Título 1">
            <a:extLst>
              <a:ext uri="{FF2B5EF4-FFF2-40B4-BE49-F238E27FC236}">
                <a16:creationId xmlns:a16="http://schemas.microsoft.com/office/drawing/2014/main" id="{62BC449B-3004-4C46-835B-E7A44C2A2A3F}"/>
              </a:ext>
            </a:extLst>
          </p:cNvPr>
          <p:cNvSpPr>
            <a:spLocks noGrp="1"/>
          </p:cNvSpPr>
          <p:nvPr>
            <p:ph type="title"/>
          </p:nvPr>
        </p:nvSpPr>
        <p:spPr>
          <a:xfrm>
            <a:off x="0" y="0"/>
            <a:ext cx="11453001" cy="792163"/>
          </a:xfrm>
        </p:spPr>
        <p:txBody>
          <a:bodyPr/>
          <a:lstStyle/>
          <a:p>
            <a:r>
              <a:rPr lang="es-419" dirty="0">
                <a:solidFill>
                  <a:schemeClr val="bg1"/>
                </a:solidFill>
                <a:latin typeface="Montserrat" pitchFamily="2" charset="0"/>
              </a:rPr>
              <a:t>Manual para el diseño del pozo tipo H </a:t>
            </a:r>
          </a:p>
        </p:txBody>
      </p:sp>
    </p:spTree>
    <p:extLst>
      <p:ext uri="{BB962C8B-B14F-4D97-AF65-F5344CB8AC3E}">
        <p14:creationId xmlns:p14="http://schemas.microsoft.com/office/powerpoint/2010/main" val="3553347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630F43-8DDD-426A-B757-78852C514A8B}"/>
              </a:ext>
            </a:extLst>
          </p:cNvPr>
          <p:cNvSpPr>
            <a:spLocks noGrp="1"/>
          </p:cNvSpPr>
          <p:nvPr>
            <p:ph type="title"/>
          </p:nvPr>
        </p:nvSpPr>
        <p:spPr>
          <a:xfrm>
            <a:off x="316675" y="117702"/>
            <a:ext cx="10719920" cy="792000"/>
          </a:xfrm>
        </p:spPr>
        <p:txBody>
          <a:bodyPr/>
          <a:lstStyle/>
          <a:p>
            <a:r>
              <a:rPr lang="es-419" dirty="0">
                <a:solidFill>
                  <a:schemeClr val="bg1"/>
                </a:solidFill>
                <a:latin typeface="Montserrat" pitchFamily="2" charset="0"/>
              </a:rPr>
              <a:t>Manual para el diseño del pozo tipo h </a:t>
            </a:r>
          </a:p>
        </p:txBody>
      </p:sp>
      <p:sp>
        <p:nvSpPr>
          <p:cNvPr id="3" name="Marcador de contenido 2">
            <a:extLst>
              <a:ext uri="{FF2B5EF4-FFF2-40B4-BE49-F238E27FC236}">
                <a16:creationId xmlns:a16="http://schemas.microsoft.com/office/drawing/2014/main" id="{9E3DC13B-CE23-444F-9C35-7F7B6E97EDC7}"/>
              </a:ext>
            </a:extLst>
          </p:cNvPr>
          <p:cNvSpPr>
            <a:spLocks noGrp="1"/>
          </p:cNvSpPr>
          <p:nvPr>
            <p:ph idx="1"/>
          </p:nvPr>
        </p:nvSpPr>
        <p:spPr>
          <a:xfrm>
            <a:off x="316675" y="909702"/>
            <a:ext cx="11520000" cy="5292000"/>
          </a:xfrm>
        </p:spPr>
        <p:txBody>
          <a:bodyPr>
            <a:normAutofit/>
          </a:bodyPr>
          <a:lstStyle/>
          <a:p>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Requisitos de Instalación</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**Sistema Operativo**: Windows.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**Espacio en Disco**:(~50 MB).</a:t>
            </a:r>
          </a:p>
          <a:p>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**Ingresar Datos**: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El formulario del lado derecho solicita </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ciertas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entradas, estas son:</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N/S UTM en objetivo</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norte/sur del objetivo (UTM).</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N/S UTM en superficie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norte de la superficie (UTM).</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E/W UTM en objetivo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este de la superficie (UTM).</a:t>
            </a:r>
          </a:p>
          <a:p>
            <a:pPr marL="457200" lvl="1" indent="0">
              <a:buNone/>
            </a:pPr>
            <a:r>
              <a:rPr lang="es-419" sz="1400" dirty="0">
                <a:solidFill>
                  <a:schemeClr val="bg1"/>
                </a:solidFill>
                <a:latin typeface="Montserrat" pitchFamily="2" charset="0"/>
                <a:ea typeface="Calibri" panose="020F0502020204030204" pitchFamily="34" charset="0"/>
                <a:cs typeface="Times New Roman" panose="02020603050405020304" pitchFamily="18" charset="0"/>
              </a:rPr>
              <a:t>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E/W UTM en superficie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este de la superficie (UTM).</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inicio de desviación (KOP)`: Profundidad de inicio de curvatura (metros).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Ritmo de incremento /30 m (BUR)`: Tasa de incremento (grados por 30 metros).</a:t>
            </a:r>
          </a:p>
          <a:p>
            <a:pPr marL="457200" lvl="1" indent="0">
              <a:buNone/>
            </a:pP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Ritmo de reducción /30 m (DOR)`: Tasa de reducción (grados por 30 metros). **n/a** </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Profundidad vertical al objetivo`: Es la distancia vertical desde el punto de referencia de profundidad, hasta un punto          en la trayectoria del pozo(metros).</a:t>
            </a:r>
          </a:p>
          <a:p>
            <a:pPr marL="457200" lvl="1" indent="0">
              <a:buNone/>
            </a:pP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Distancia después de la curva`:  Distancia a seguir perforando </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al alcanzar las coordenadas del objetivo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metros). </a:t>
            </a:r>
          </a:p>
          <a:p>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**Consideraciones en el diseño:</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endParaRPr lang="es-419" sz="1400" dirty="0">
              <a:solidFill>
                <a:schemeClr val="bg1"/>
              </a:solidFill>
              <a:effectLst/>
              <a:latin typeface="Montserrat" pitchFamily="2" charset="0"/>
              <a:ea typeface="Calibri" panose="020F0502020204030204" pitchFamily="34" charset="0"/>
              <a:cs typeface="Times New Roman" panose="02020603050405020304" pitchFamily="18" charset="0"/>
            </a:endParaRPr>
          </a:p>
          <a:p>
            <a:endParaRPr lang="es-419" sz="1400" dirty="0">
              <a:solidFill>
                <a:schemeClr val="bg1"/>
              </a:solidFill>
              <a:latin typeface="Montserrat" pitchFamily="2" charset="0"/>
            </a:endParaRPr>
          </a:p>
        </p:txBody>
      </p:sp>
      <p:sp>
        <p:nvSpPr>
          <p:cNvPr id="4" name="Marcador de número de diapositiva 3">
            <a:extLst>
              <a:ext uri="{FF2B5EF4-FFF2-40B4-BE49-F238E27FC236}">
                <a16:creationId xmlns:a16="http://schemas.microsoft.com/office/drawing/2014/main" id="{2F2CAB68-C3FE-447E-950C-8A94F2EBE32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5" name="Tabla 5">
            <a:extLst>
              <a:ext uri="{FF2B5EF4-FFF2-40B4-BE49-F238E27FC236}">
                <a16:creationId xmlns:a16="http://schemas.microsoft.com/office/drawing/2014/main" id="{C054591C-1143-4FCE-BCF1-FFD3D8E7939B}"/>
              </a:ext>
            </a:extLst>
          </p:cNvPr>
          <p:cNvGraphicFramePr>
            <a:graphicFrameLocks noGrp="1"/>
          </p:cNvGraphicFramePr>
          <p:nvPr/>
        </p:nvGraphicFramePr>
        <p:xfrm>
          <a:off x="15114" y="4645282"/>
          <a:ext cx="13412538" cy="1834928"/>
        </p:xfrm>
        <a:graphic>
          <a:graphicData uri="http://schemas.openxmlformats.org/drawingml/2006/table">
            <a:tbl>
              <a:tblPr firstRow="1" bandRow="1">
                <a:tableStyleId>{5C22544A-7EE6-4342-B048-85BDC9FD1C3A}</a:tableStyleId>
              </a:tblPr>
              <a:tblGrid>
                <a:gridCol w="1430914">
                  <a:extLst>
                    <a:ext uri="{9D8B030D-6E8A-4147-A177-3AD203B41FA5}">
                      <a16:colId xmlns:a16="http://schemas.microsoft.com/office/drawing/2014/main" val="687043137"/>
                    </a:ext>
                  </a:extLst>
                </a:gridCol>
                <a:gridCol w="1988288">
                  <a:extLst>
                    <a:ext uri="{9D8B030D-6E8A-4147-A177-3AD203B41FA5}">
                      <a16:colId xmlns:a16="http://schemas.microsoft.com/office/drawing/2014/main" val="1040610360"/>
                    </a:ext>
                  </a:extLst>
                </a:gridCol>
                <a:gridCol w="2041451">
                  <a:extLst>
                    <a:ext uri="{9D8B030D-6E8A-4147-A177-3AD203B41FA5}">
                      <a16:colId xmlns:a16="http://schemas.microsoft.com/office/drawing/2014/main" val="1017981720"/>
                    </a:ext>
                  </a:extLst>
                </a:gridCol>
                <a:gridCol w="7951885">
                  <a:extLst>
                    <a:ext uri="{9D8B030D-6E8A-4147-A177-3AD203B41FA5}">
                      <a16:colId xmlns:a16="http://schemas.microsoft.com/office/drawing/2014/main" val="1101319048"/>
                    </a:ext>
                  </a:extLst>
                </a:gridCol>
              </a:tblGrid>
              <a:tr h="297725">
                <a:tc>
                  <a:txBody>
                    <a:bodyPr/>
                    <a:lstStyle/>
                    <a:p>
                      <a:pPr algn="ctr"/>
                      <a:r>
                        <a:rPr lang="es-419" dirty="0"/>
                        <a:t>Parámetro</a:t>
                      </a:r>
                    </a:p>
                  </a:txBody>
                  <a:tcPr/>
                </a:tc>
                <a:tc>
                  <a:txBody>
                    <a:bodyPr/>
                    <a:lstStyle/>
                    <a:p>
                      <a:pPr algn="ctr"/>
                      <a:r>
                        <a:rPr lang="es-419" dirty="0"/>
                        <a:t>Límite Mínimo</a:t>
                      </a:r>
                    </a:p>
                  </a:txBody>
                  <a:tcPr/>
                </a:tc>
                <a:tc>
                  <a:txBody>
                    <a:bodyPr/>
                    <a:lstStyle/>
                    <a:p>
                      <a:pPr algn="ctr"/>
                      <a:r>
                        <a:rPr lang="es-419" dirty="0"/>
                        <a:t>Limite Máximo</a:t>
                      </a:r>
                    </a:p>
                  </a:txBody>
                  <a:tcPr/>
                </a:tc>
                <a:tc>
                  <a:txBody>
                    <a:bodyPr/>
                    <a:lstStyle/>
                    <a:p>
                      <a:r>
                        <a:rPr lang="es-419" dirty="0"/>
                        <a:t>Observación</a:t>
                      </a:r>
                    </a:p>
                  </a:txBody>
                  <a:tcPr/>
                </a:tc>
                <a:extLst>
                  <a:ext uri="{0D108BD9-81ED-4DB2-BD59-A6C34878D82A}">
                    <a16:rowId xmlns:a16="http://schemas.microsoft.com/office/drawing/2014/main" val="3982943832"/>
                  </a:ext>
                </a:extLst>
              </a:tr>
              <a:tr h="297725">
                <a:tc>
                  <a:txBody>
                    <a:bodyPr/>
                    <a:lstStyle/>
                    <a:p>
                      <a:pPr algn="ctr"/>
                      <a:r>
                        <a:rPr lang="es-419" sz="1800" kern="1200" dirty="0">
                          <a:solidFill>
                            <a:schemeClr val="dk1"/>
                          </a:solidFill>
                          <a:effectLst/>
                          <a:latin typeface="+mn-lt"/>
                          <a:ea typeface="+mn-ea"/>
                          <a:cs typeface="+mn-cs"/>
                        </a:rPr>
                        <a:t>BUR (°/30 m) </a:t>
                      </a:r>
                      <a:endParaRPr lang="es-419" dirty="0"/>
                    </a:p>
                  </a:txBody>
                  <a:tcPr/>
                </a:tc>
                <a:tc>
                  <a:txBody>
                    <a:bodyPr/>
                    <a:lstStyle/>
                    <a:p>
                      <a:pPr algn="ctr"/>
                      <a:r>
                        <a:rPr lang="es-419" dirty="0"/>
                        <a:t>1</a:t>
                      </a:r>
                    </a:p>
                  </a:txBody>
                  <a:tcPr/>
                </a:tc>
                <a:tc>
                  <a:txBody>
                    <a:bodyPr/>
                    <a:lstStyle/>
                    <a:p>
                      <a:pPr algn="ctr"/>
                      <a:r>
                        <a:rPr lang="es-419" dirty="0"/>
                        <a:t>4</a:t>
                      </a:r>
                    </a:p>
                  </a:txBody>
                  <a:tcPr/>
                </a:tc>
                <a:tc>
                  <a:txBody>
                    <a:bodyPr/>
                    <a:lstStyle/>
                    <a:p>
                      <a:r>
                        <a:rPr lang="es-419" dirty="0"/>
                        <a:t>Valores altos de BUR generan un alta severidad </a:t>
                      </a:r>
                    </a:p>
                  </a:txBody>
                  <a:tcPr/>
                </a:tc>
                <a:extLst>
                  <a:ext uri="{0D108BD9-81ED-4DB2-BD59-A6C34878D82A}">
                    <a16:rowId xmlns:a16="http://schemas.microsoft.com/office/drawing/2014/main" val="1294705684"/>
                  </a:ext>
                </a:extLst>
              </a:tr>
              <a:tr h="297725">
                <a:tc>
                  <a:txBody>
                    <a:bodyPr/>
                    <a:lstStyle/>
                    <a:p>
                      <a:pPr algn="ctr"/>
                      <a:r>
                        <a:rPr lang="es-419" sz="1800" kern="1200" dirty="0" err="1">
                          <a:solidFill>
                            <a:schemeClr val="dk1"/>
                          </a:solidFill>
                          <a:effectLst/>
                          <a:latin typeface="+mn-lt"/>
                          <a:ea typeface="+mn-ea"/>
                          <a:cs typeface="+mn-cs"/>
                        </a:rPr>
                        <a:t>Angm</a:t>
                      </a:r>
                      <a:endParaRPr lang="es-419"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 90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 90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dirty="0"/>
                        <a:t>Cuando se trata de un pozo horizontal el ángulo máximo es 90° </a:t>
                      </a:r>
                    </a:p>
                  </a:txBody>
                  <a:tcPr/>
                </a:tc>
                <a:extLst>
                  <a:ext uri="{0D108BD9-81ED-4DB2-BD59-A6C34878D82A}">
                    <a16:rowId xmlns:a16="http://schemas.microsoft.com/office/drawing/2014/main" val="3550442053"/>
                  </a:ext>
                </a:extLst>
              </a:tr>
              <a:tr h="297725">
                <a:tc>
                  <a:txBody>
                    <a:bodyPr/>
                    <a:lstStyle/>
                    <a:p>
                      <a:pPr algn="ctr"/>
                      <a:r>
                        <a:rPr lang="es-419" sz="1800" kern="1200" dirty="0">
                          <a:solidFill>
                            <a:schemeClr val="dk1"/>
                          </a:solidFill>
                          <a:effectLst/>
                          <a:latin typeface="+mn-lt"/>
                          <a:ea typeface="+mn-ea"/>
                          <a:cs typeface="+mn-cs"/>
                        </a:rPr>
                        <a:t>KOP (m) </a:t>
                      </a:r>
                      <a:endParaRPr lang="es-419" dirty="0"/>
                    </a:p>
                  </a:txBody>
                  <a:tcPr/>
                </a:tc>
                <a:tc>
                  <a:txBody>
                    <a:bodyPr/>
                    <a:lstStyle/>
                    <a:p>
                      <a:pPr algn="ctr"/>
                      <a:r>
                        <a:rPr lang="es-419" dirty="0"/>
                        <a:t>0</a:t>
                      </a:r>
                    </a:p>
                  </a:txBody>
                  <a:tcPr/>
                </a:tc>
                <a:tc>
                  <a:txBody>
                    <a:bodyPr/>
                    <a:lstStyle/>
                    <a:p>
                      <a:pPr algn="ctr"/>
                      <a:r>
                        <a:rPr lang="es-419" dirty="0"/>
                        <a:t>TVD -100m ≤ KOP</a:t>
                      </a:r>
                    </a:p>
                  </a:txBody>
                  <a:tcPr/>
                </a:tc>
                <a:tc>
                  <a:txBody>
                    <a:bodyPr/>
                    <a:lstStyle/>
                    <a:p>
                      <a:r>
                        <a:rPr lang="es-419" dirty="0"/>
                        <a:t>Dejar al menos 10m de tangente </a:t>
                      </a:r>
                    </a:p>
                  </a:txBody>
                  <a:tcPr/>
                </a:tc>
                <a:extLst>
                  <a:ext uri="{0D108BD9-81ED-4DB2-BD59-A6C34878D82A}">
                    <a16:rowId xmlns:a16="http://schemas.microsoft.com/office/drawing/2014/main" val="3114039486"/>
                  </a:ext>
                </a:extLst>
              </a:tr>
              <a:tr h="371888">
                <a:tc>
                  <a:txBody>
                    <a:bodyPr/>
                    <a:lstStyle/>
                    <a:p>
                      <a:pPr algn="ctr"/>
                      <a:r>
                        <a:rPr lang="es-419" sz="1800" kern="1200" dirty="0">
                          <a:solidFill>
                            <a:schemeClr val="dk1"/>
                          </a:solidFill>
                          <a:effectLst/>
                          <a:latin typeface="+mn-lt"/>
                          <a:ea typeface="+mn-ea"/>
                          <a:cs typeface="+mn-cs"/>
                        </a:rPr>
                        <a:t>TVD (m) </a:t>
                      </a:r>
                      <a:endParaRPr lang="es-419" dirty="0"/>
                    </a:p>
                  </a:txBody>
                  <a:tcPr/>
                </a:tc>
                <a:tc>
                  <a:txBody>
                    <a:bodyPr/>
                    <a:lstStyle/>
                    <a:p>
                      <a:pPr rtl="0"/>
                      <a:r>
                        <a:rPr lang="es-419" dirty="0"/>
                        <a:t>KOP + 100 m ≤ TVD</a:t>
                      </a:r>
                    </a:p>
                  </a:txBody>
                  <a:tcPr/>
                </a:tc>
                <a:tc>
                  <a:txBody>
                    <a:bodyPr/>
                    <a:lstStyle/>
                    <a:p>
                      <a:pPr algn="ctr"/>
                      <a:r>
                        <a:rPr lang="es-419" dirty="0"/>
                        <a:t>-------</a:t>
                      </a:r>
                    </a:p>
                  </a:txBody>
                  <a:tcPr/>
                </a:tc>
                <a:tc>
                  <a:txBody>
                    <a:bodyPr/>
                    <a:lstStyle/>
                    <a:p>
                      <a:r>
                        <a:rPr lang="es-419" dirty="0"/>
                        <a:t>La profundidad vertical verdadera en un pozo direccional debe de ser mayor al KOP</a:t>
                      </a:r>
                    </a:p>
                  </a:txBody>
                  <a:tcPr/>
                </a:tc>
                <a:extLst>
                  <a:ext uri="{0D108BD9-81ED-4DB2-BD59-A6C34878D82A}">
                    <a16:rowId xmlns:a16="http://schemas.microsoft.com/office/drawing/2014/main" val="1837358385"/>
                  </a:ext>
                </a:extLst>
              </a:tr>
            </a:tbl>
          </a:graphicData>
        </a:graphic>
      </p:graphicFrame>
    </p:spTree>
    <p:extLst>
      <p:ext uri="{BB962C8B-B14F-4D97-AF65-F5344CB8AC3E}">
        <p14:creationId xmlns:p14="http://schemas.microsoft.com/office/powerpoint/2010/main" val="457596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5C76228C-A74D-44D7-8590-3E96095D07C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11" name="Tabla 11">
            <a:extLst>
              <a:ext uri="{FF2B5EF4-FFF2-40B4-BE49-F238E27FC236}">
                <a16:creationId xmlns:a16="http://schemas.microsoft.com/office/drawing/2014/main" id="{69610D02-6AF5-41D2-8CDE-D23D433FB926}"/>
              </a:ext>
            </a:extLst>
          </p:cNvPr>
          <p:cNvGraphicFramePr>
            <a:graphicFrameLocks noGrp="1"/>
          </p:cNvGraphicFramePr>
          <p:nvPr>
            <p:ph idx="1"/>
          </p:nvPr>
        </p:nvGraphicFramePr>
        <p:xfrm>
          <a:off x="335758" y="163787"/>
          <a:ext cx="11520484" cy="6557689"/>
        </p:xfrm>
        <a:graphic>
          <a:graphicData uri="http://schemas.openxmlformats.org/drawingml/2006/table">
            <a:tbl>
              <a:tblPr firstRow="1" bandRow="1">
                <a:tableStyleId>{5C22544A-7EE6-4342-B048-85BDC9FD1C3A}</a:tableStyleId>
              </a:tblPr>
              <a:tblGrid>
                <a:gridCol w="2880121">
                  <a:extLst>
                    <a:ext uri="{9D8B030D-6E8A-4147-A177-3AD203B41FA5}">
                      <a16:colId xmlns:a16="http://schemas.microsoft.com/office/drawing/2014/main" val="4208083234"/>
                    </a:ext>
                  </a:extLst>
                </a:gridCol>
                <a:gridCol w="4661426">
                  <a:extLst>
                    <a:ext uri="{9D8B030D-6E8A-4147-A177-3AD203B41FA5}">
                      <a16:colId xmlns:a16="http://schemas.microsoft.com/office/drawing/2014/main" val="2654289028"/>
                    </a:ext>
                  </a:extLst>
                </a:gridCol>
                <a:gridCol w="2604977">
                  <a:extLst>
                    <a:ext uri="{9D8B030D-6E8A-4147-A177-3AD203B41FA5}">
                      <a16:colId xmlns:a16="http://schemas.microsoft.com/office/drawing/2014/main" val="2983594487"/>
                    </a:ext>
                  </a:extLst>
                </a:gridCol>
                <a:gridCol w="1373960">
                  <a:extLst>
                    <a:ext uri="{9D8B030D-6E8A-4147-A177-3AD203B41FA5}">
                      <a16:colId xmlns:a16="http://schemas.microsoft.com/office/drawing/2014/main" val="1592572262"/>
                    </a:ext>
                  </a:extLst>
                </a:gridCol>
              </a:tblGrid>
              <a:tr h="522649">
                <a:tc>
                  <a:txBody>
                    <a:bodyPr/>
                    <a:lstStyle/>
                    <a:p>
                      <a:pPr algn="ctr"/>
                      <a:r>
                        <a:rPr lang="es-419" dirty="0"/>
                        <a:t>Entrada</a:t>
                      </a:r>
                    </a:p>
                  </a:txBody>
                  <a:tcPr/>
                </a:tc>
                <a:tc>
                  <a:txBody>
                    <a:bodyPr/>
                    <a:lstStyle/>
                    <a:p>
                      <a:pPr algn="ctr"/>
                      <a:r>
                        <a:rPr lang="es-419" dirty="0"/>
                        <a:t>Descripción</a:t>
                      </a:r>
                    </a:p>
                  </a:txBody>
                  <a:tcPr/>
                </a:tc>
                <a:tc>
                  <a:txBody>
                    <a:bodyPr/>
                    <a:lstStyle/>
                    <a:p>
                      <a:pPr algn="ctr"/>
                      <a:r>
                        <a:rPr lang="es-419" dirty="0"/>
                        <a:t>Formato</a:t>
                      </a:r>
                    </a:p>
                  </a:txBody>
                  <a:tcPr/>
                </a:tc>
                <a:tc>
                  <a:txBody>
                    <a:bodyPr/>
                    <a:lstStyle/>
                    <a:p>
                      <a:pPr algn="ctr"/>
                      <a:r>
                        <a:rPr lang="es-419" dirty="0"/>
                        <a:t>Ejemplo</a:t>
                      </a:r>
                    </a:p>
                  </a:txBody>
                  <a:tcPr/>
                </a:tc>
                <a:extLst>
                  <a:ext uri="{0D108BD9-81ED-4DB2-BD59-A6C34878D82A}">
                    <a16:rowId xmlns:a16="http://schemas.microsoft.com/office/drawing/2014/main" val="2558853852"/>
                  </a:ext>
                </a:extLst>
              </a:tr>
              <a:tr h="522649">
                <a:tc>
                  <a:txBody>
                    <a:bodyPr/>
                    <a:lstStyle/>
                    <a:p>
                      <a:pPr algn="ctr"/>
                      <a:r>
                        <a:rPr lang="es-419" dirty="0"/>
                        <a:t>Coordenadas N/S al final de la trayectoria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norte/sur de la superficie en unidades UTM</a:t>
                      </a:r>
                    </a:p>
                  </a:txBody>
                  <a:tcPr/>
                </a:tc>
                <a:tc>
                  <a:txBody>
                    <a:bodyPr/>
                    <a:lstStyle/>
                    <a:p>
                      <a:pPr algn="ctr"/>
                      <a:r>
                        <a:rPr lang="es-419" dirty="0"/>
                        <a:t>Numero decimal </a:t>
                      </a:r>
                    </a:p>
                  </a:txBody>
                  <a:tcPr/>
                </a:tc>
                <a:tc>
                  <a:txBody>
                    <a:bodyPr/>
                    <a:lstStyle/>
                    <a:p>
                      <a:pPr algn="ctr"/>
                      <a:r>
                        <a:rPr lang="es-419" dirty="0">
                          <a:solidFill>
                            <a:schemeClr val="tx1"/>
                          </a:solidFill>
                        </a:rPr>
                        <a:t>2266949.85</a:t>
                      </a:r>
                    </a:p>
                  </a:txBody>
                  <a:tcPr/>
                </a:tc>
                <a:extLst>
                  <a:ext uri="{0D108BD9-81ED-4DB2-BD59-A6C34878D82A}">
                    <a16:rowId xmlns:a16="http://schemas.microsoft.com/office/drawing/2014/main" val="2583935723"/>
                  </a:ext>
                </a:extLst>
              </a:tr>
              <a:tr h="261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N/S de la superficie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norte/sur de la superficie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2265949.85</a:t>
                      </a:r>
                    </a:p>
                  </a:txBody>
                  <a:tcPr/>
                </a:tc>
                <a:extLst>
                  <a:ext uri="{0D108BD9-81ED-4DB2-BD59-A6C34878D82A}">
                    <a16:rowId xmlns:a16="http://schemas.microsoft.com/office/drawing/2014/main" val="3017457318"/>
                  </a:ext>
                </a:extLst>
              </a:tr>
              <a:tr h="522649">
                <a:tc>
                  <a:txBody>
                    <a:bodyPr/>
                    <a:lstStyle/>
                    <a:p>
                      <a:pPr algn="ctr"/>
                      <a:r>
                        <a:rPr lang="es-419" dirty="0"/>
                        <a:t>Coordenadas E/W al final de la trayectoria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este/oeste del objetivo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654949.6</a:t>
                      </a:r>
                    </a:p>
                  </a:txBody>
                  <a:tcPr/>
                </a:tc>
                <a:extLst>
                  <a:ext uri="{0D108BD9-81ED-4DB2-BD59-A6C34878D82A}">
                    <a16:rowId xmlns:a16="http://schemas.microsoft.com/office/drawing/2014/main" val="2939152690"/>
                  </a:ext>
                </a:extLst>
              </a:tr>
              <a:tr h="5226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E/W de la superficie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este/oeste de la superficie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654449.6</a:t>
                      </a:r>
                    </a:p>
                  </a:txBody>
                  <a:tcPr/>
                </a:tc>
                <a:extLst>
                  <a:ext uri="{0D108BD9-81ED-4DB2-BD59-A6C34878D82A}">
                    <a16:rowId xmlns:a16="http://schemas.microsoft.com/office/drawing/2014/main" val="708623386"/>
                  </a:ext>
                </a:extLst>
              </a:tr>
              <a:tr h="522649">
                <a:tc>
                  <a:txBody>
                    <a:bodyPr/>
                    <a:lstStyle/>
                    <a:p>
                      <a:pPr algn="ctr"/>
                      <a:r>
                        <a:rPr lang="es-419" dirty="0"/>
                        <a:t>Ritmo de incremento/ 30m (BUR)</a:t>
                      </a:r>
                    </a:p>
                  </a:txBody>
                  <a:tcPr/>
                </a:tc>
                <a:tc>
                  <a:txBody>
                    <a:bodyPr/>
                    <a:lstStyle/>
                    <a:p>
                      <a:pPr algn="ctr"/>
                      <a:r>
                        <a:rPr lang="es-419" dirty="0"/>
                        <a:t>Tasa de incremento de ángulo cada 30 m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2.5</a:t>
                      </a:r>
                    </a:p>
                  </a:txBody>
                  <a:tcPr/>
                </a:tc>
                <a:extLst>
                  <a:ext uri="{0D108BD9-81ED-4DB2-BD59-A6C34878D82A}">
                    <a16:rowId xmlns:a16="http://schemas.microsoft.com/office/drawing/2014/main" val="3371900986"/>
                  </a:ext>
                </a:extLst>
              </a:tr>
              <a:tr h="522649">
                <a:tc>
                  <a:txBody>
                    <a:bodyPr/>
                    <a:lstStyle/>
                    <a:p>
                      <a:pPr algn="ctr"/>
                      <a:r>
                        <a:rPr lang="es-419" dirty="0"/>
                        <a:t>Ritmo de reducción/ 30m (DOR)</a:t>
                      </a:r>
                    </a:p>
                  </a:txBody>
                  <a:tcPr/>
                </a:tc>
                <a:tc>
                  <a:txBody>
                    <a:bodyPr/>
                    <a:lstStyle/>
                    <a:p>
                      <a:pPr algn="ctr"/>
                      <a:r>
                        <a:rPr lang="es-419" dirty="0"/>
                        <a:t>Tasa de incremento de ángulo cada 30 m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2.5</a:t>
                      </a:r>
                    </a:p>
                  </a:txBody>
                  <a:tcPr/>
                </a:tc>
                <a:extLst>
                  <a:ext uri="{0D108BD9-81ED-4DB2-BD59-A6C34878D82A}">
                    <a16:rowId xmlns:a16="http://schemas.microsoft.com/office/drawing/2014/main" val="1408805311"/>
                  </a:ext>
                </a:extLst>
              </a:tr>
              <a:tr h="522649">
                <a:tc>
                  <a:txBody>
                    <a:bodyPr/>
                    <a:lstStyle/>
                    <a:p>
                      <a:pPr algn="ctr"/>
                      <a:r>
                        <a:rPr lang="es-419" dirty="0"/>
                        <a:t>Inicio de desviación (KOP) 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Profundidad del inicio de la curvatura (metros)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300</a:t>
                      </a:r>
                    </a:p>
                  </a:txBody>
                  <a:tcPr/>
                </a:tc>
                <a:extLst>
                  <a:ext uri="{0D108BD9-81ED-4DB2-BD59-A6C34878D82A}">
                    <a16:rowId xmlns:a16="http://schemas.microsoft.com/office/drawing/2014/main" val="3382278837"/>
                  </a:ext>
                </a:extLst>
              </a:tr>
              <a:tr h="522649">
                <a:tc>
                  <a:txBody>
                    <a:bodyPr/>
                    <a:lstStyle/>
                    <a:p>
                      <a:pPr algn="ctr"/>
                      <a:r>
                        <a:rPr lang="es-419" dirty="0"/>
                        <a:t>Profundidad vertical al objetivo (TVD) m:</a:t>
                      </a:r>
                    </a:p>
                  </a:txBody>
                  <a:tcPr/>
                </a:tc>
                <a:tc>
                  <a:txBody>
                    <a:bodyPr/>
                    <a:lstStyle/>
                    <a:p>
                      <a:pPr algn="ctr"/>
                      <a:r>
                        <a:rPr lang="es-419" dirty="0"/>
                        <a:t>Profundidad solamente contemplando desplazamiento vertical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1500</a:t>
                      </a:r>
                    </a:p>
                  </a:txBody>
                  <a:tcPr/>
                </a:tc>
                <a:extLst>
                  <a:ext uri="{0D108BD9-81ED-4DB2-BD59-A6C34878D82A}">
                    <a16:rowId xmlns:a16="http://schemas.microsoft.com/office/drawing/2014/main" val="537697030"/>
                  </a:ext>
                </a:extLst>
              </a:tr>
              <a:tr h="522649">
                <a:tc>
                  <a:txBody>
                    <a:bodyPr/>
                    <a:lstStyle/>
                    <a:p>
                      <a:pPr algn="ctr"/>
                      <a:r>
                        <a:rPr lang="es-419" dirty="0"/>
                        <a:t>Distancia después de la curva/decremento m:</a:t>
                      </a:r>
                    </a:p>
                  </a:txBody>
                  <a:tcPr/>
                </a:tc>
                <a:tc>
                  <a:txBody>
                    <a:bodyPr/>
                    <a:lstStyle/>
                    <a:p>
                      <a:pPr algn="ctr"/>
                      <a:r>
                        <a:rPr lang="es-419" dirty="0"/>
                        <a:t>Distancia a la cual se mantiene el ángulo creado después de pasar por las coordenadas del objetivo en pozo II y III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 </a:t>
                      </a:r>
                    </a:p>
                    <a:p>
                      <a:pPr algn="ctr"/>
                      <a:endParaRPr lang="es-419" dirty="0"/>
                    </a:p>
                  </a:txBody>
                  <a:tcPr/>
                </a:tc>
                <a:tc>
                  <a:txBody>
                    <a:bodyPr/>
                    <a:lstStyle/>
                    <a:p>
                      <a:pPr algn="ctr"/>
                      <a:r>
                        <a:rPr lang="es-419" dirty="0">
                          <a:solidFill>
                            <a:schemeClr val="tx1"/>
                          </a:solidFill>
                        </a:rPr>
                        <a:t>200</a:t>
                      </a:r>
                    </a:p>
                  </a:txBody>
                  <a:tcPr/>
                </a:tc>
                <a:extLst>
                  <a:ext uri="{0D108BD9-81ED-4DB2-BD59-A6C34878D82A}">
                    <a16:rowId xmlns:a16="http://schemas.microsoft.com/office/drawing/2014/main" val="2248396114"/>
                  </a:ext>
                </a:extLst>
              </a:tr>
            </a:tbl>
          </a:graphicData>
        </a:graphic>
      </p:graphicFrame>
    </p:spTree>
    <p:extLst>
      <p:ext uri="{BB962C8B-B14F-4D97-AF65-F5344CB8AC3E}">
        <p14:creationId xmlns:p14="http://schemas.microsoft.com/office/powerpoint/2010/main" val="2638445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5259FE7D-A9A7-4C4D-9747-3845323B38A5}"/>
              </a:ext>
            </a:extLst>
          </p:cNvPr>
          <p:cNvPicPr>
            <a:picLocks noChangeAspect="1"/>
          </p:cNvPicPr>
          <p:nvPr/>
        </p:nvPicPr>
        <p:blipFill>
          <a:blip r:embed="rId2"/>
          <a:stretch>
            <a:fillRect/>
          </a:stretch>
        </p:blipFill>
        <p:spPr>
          <a:xfrm>
            <a:off x="0" y="0"/>
            <a:ext cx="12192000" cy="6858000"/>
          </a:xfrm>
          <a:prstGeom prst="rect">
            <a:avLst/>
          </a:prstGeom>
        </p:spPr>
      </p:pic>
      <p:sp>
        <p:nvSpPr>
          <p:cNvPr id="5" name="Rectángulo 4">
            <a:extLst>
              <a:ext uri="{FF2B5EF4-FFF2-40B4-BE49-F238E27FC236}">
                <a16:creationId xmlns:a16="http://schemas.microsoft.com/office/drawing/2014/main" id="{45F54406-DACE-42CB-AFF4-ACC2C99864E0}"/>
              </a:ext>
            </a:extLst>
          </p:cNvPr>
          <p:cNvSpPr/>
          <p:nvPr/>
        </p:nvSpPr>
        <p:spPr>
          <a:xfrm>
            <a:off x="59268" y="4978396"/>
            <a:ext cx="1905000" cy="1144058"/>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6" name="Conector recto de flecha 5">
            <a:extLst>
              <a:ext uri="{FF2B5EF4-FFF2-40B4-BE49-F238E27FC236}">
                <a16:creationId xmlns:a16="http://schemas.microsoft.com/office/drawing/2014/main" id="{5FB65ABE-B265-4EA4-A386-BE5A415091BE}"/>
              </a:ext>
            </a:extLst>
          </p:cNvPr>
          <p:cNvCxnSpPr>
            <a:cxnSpLocks/>
          </p:cNvCxnSpPr>
          <p:nvPr/>
        </p:nvCxnSpPr>
        <p:spPr>
          <a:xfrm>
            <a:off x="1964268" y="5799161"/>
            <a:ext cx="922865"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0211ADF6-3F22-440E-8900-F9495B24581C}"/>
              </a:ext>
            </a:extLst>
          </p:cNvPr>
          <p:cNvSpPr txBox="1"/>
          <p:nvPr/>
        </p:nvSpPr>
        <p:spPr>
          <a:xfrm>
            <a:off x="2802468" y="5475995"/>
            <a:ext cx="3733800" cy="646331"/>
          </a:xfrm>
          <a:prstGeom prst="rect">
            <a:avLst/>
          </a:prstGeom>
          <a:noFill/>
        </p:spPr>
        <p:txBody>
          <a:bodyPr wrap="square" rtlCol="0">
            <a:spAutoFit/>
          </a:bodyPr>
          <a:lstStyle/>
          <a:p>
            <a:r>
              <a:rPr lang="es-419" dirty="0">
                <a:solidFill>
                  <a:srgbClr val="FFCF00"/>
                </a:solidFill>
                <a:latin typeface="Montserrat" panose="00000500000000000000" pitchFamily="2" charset="0"/>
              </a:rPr>
              <a:t>Hipervínculos hacia redes sociales y correo de contacto</a:t>
            </a:r>
          </a:p>
        </p:txBody>
      </p:sp>
      <p:sp>
        <p:nvSpPr>
          <p:cNvPr id="10" name="Rectángulo 9">
            <a:extLst>
              <a:ext uri="{FF2B5EF4-FFF2-40B4-BE49-F238E27FC236}">
                <a16:creationId xmlns:a16="http://schemas.microsoft.com/office/drawing/2014/main" id="{C7DB8ECE-5852-47B8-950E-CA982E57E42B}"/>
              </a:ext>
            </a:extLst>
          </p:cNvPr>
          <p:cNvSpPr/>
          <p:nvPr/>
        </p:nvSpPr>
        <p:spPr>
          <a:xfrm>
            <a:off x="59268" y="2031997"/>
            <a:ext cx="1905000" cy="1926516"/>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srgbClr val="FFCF00"/>
              </a:solidFill>
            </a:endParaRPr>
          </a:p>
        </p:txBody>
      </p:sp>
      <p:cxnSp>
        <p:nvCxnSpPr>
          <p:cNvPr id="11" name="Conector recto de flecha 10">
            <a:extLst>
              <a:ext uri="{FF2B5EF4-FFF2-40B4-BE49-F238E27FC236}">
                <a16:creationId xmlns:a16="http://schemas.microsoft.com/office/drawing/2014/main" id="{E30F12D5-D3F2-464B-B0B7-1B97BFEB2998}"/>
              </a:ext>
            </a:extLst>
          </p:cNvPr>
          <p:cNvCxnSpPr>
            <a:cxnSpLocks/>
          </p:cNvCxnSpPr>
          <p:nvPr/>
        </p:nvCxnSpPr>
        <p:spPr>
          <a:xfrm>
            <a:off x="1964268" y="2138180"/>
            <a:ext cx="647701"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48ED0686-CD4C-4173-A373-5140E35544CE}"/>
              </a:ext>
            </a:extLst>
          </p:cNvPr>
          <p:cNvSpPr txBox="1"/>
          <p:nvPr/>
        </p:nvSpPr>
        <p:spPr>
          <a:xfrm>
            <a:off x="2544232" y="1498599"/>
            <a:ext cx="3733800" cy="1754326"/>
          </a:xfrm>
          <a:prstGeom prst="rect">
            <a:avLst/>
          </a:prstGeom>
          <a:noFill/>
          <a:ln>
            <a:noFill/>
          </a:ln>
        </p:spPr>
        <p:txBody>
          <a:bodyPr wrap="square" rtlCol="0">
            <a:spAutoFit/>
          </a:bodyPr>
          <a:lstStyle/>
          <a:p>
            <a:r>
              <a:rPr lang="es-419" dirty="0">
                <a:solidFill>
                  <a:srgbClr val="FFCF00"/>
                </a:solidFill>
                <a:latin typeface="Montserrat" panose="00000500000000000000" pitchFamily="2" charset="0"/>
              </a:rPr>
              <a:t>Pestañas para acceder a las pantallas de: </a:t>
            </a:r>
          </a:p>
          <a:p>
            <a:pPr marL="285750" indent="-285750">
              <a:buFont typeface="Arial" panose="020B0604020202020204" pitchFamily="34" charset="0"/>
              <a:buChar char="•"/>
            </a:pPr>
            <a:r>
              <a:rPr lang="es-419" dirty="0">
                <a:solidFill>
                  <a:srgbClr val="FFCF00"/>
                </a:solidFill>
                <a:latin typeface="Montserrat" panose="00000500000000000000" pitchFamily="2" charset="0"/>
              </a:rPr>
              <a:t>Gráficos</a:t>
            </a:r>
          </a:p>
          <a:p>
            <a:pPr marL="285750" indent="-285750">
              <a:buFont typeface="Arial" panose="020B0604020202020204" pitchFamily="34" charset="0"/>
              <a:buChar char="•"/>
            </a:pPr>
            <a:r>
              <a:rPr lang="es-419" dirty="0">
                <a:solidFill>
                  <a:srgbClr val="FFCF00"/>
                </a:solidFill>
                <a:latin typeface="Montserrat" panose="00000500000000000000" pitchFamily="2" charset="0"/>
              </a:rPr>
              <a:t>Datos tabulados de la trayectoria calculada</a:t>
            </a:r>
          </a:p>
          <a:p>
            <a:pPr marL="285750" indent="-285750">
              <a:buFont typeface="Arial" panose="020B0604020202020204" pitchFamily="34" charset="0"/>
              <a:buChar char="•"/>
            </a:pPr>
            <a:r>
              <a:rPr lang="es-419" dirty="0">
                <a:solidFill>
                  <a:srgbClr val="FFCF00"/>
                </a:solidFill>
                <a:latin typeface="Montserrat" panose="00000500000000000000" pitchFamily="2" charset="0"/>
              </a:rPr>
              <a:t>Manual de usuario</a:t>
            </a:r>
          </a:p>
        </p:txBody>
      </p:sp>
      <p:sp>
        <p:nvSpPr>
          <p:cNvPr id="16" name="Rectángulo 15">
            <a:extLst>
              <a:ext uri="{FF2B5EF4-FFF2-40B4-BE49-F238E27FC236}">
                <a16:creationId xmlns:a16="http://schemas.microsoft.com/office/drawing/2014/main" id="{56FF3AD9-99C7-474D-8033-53A12D739574}"/>
              </a:ext>
            </a:extLst>
          </p:cNvPr>
          <p:cNvSpPr/>
          <p:nvPr/>
        </p:nvSpPr>
        <p:spPr>
          <a:xfrm>
            <a:off x="9245598" y="2274888"/>
            <a:ext cx="2887134" cy="447493"/>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7" name="Rectángulo 16">
            <a:extLst>
              <a:ext uri="{FF2B5EF4-FFF2-40B4-BE49-F238E27FC236}">
                <a16:creationId xmlns:a16="http://schemas.microsoft.com/office/drawing/2014/main" id="{90B32AD2-D55F-4E59-BEA6-355A497504CB}"/>
              </a:ext>
            </a:extLst>
          </p:cNvPr>
          <p:cNvSpPr/>
          <p:nvPr/>
        </p:nvSpPr>
        <p:spPr>
          <a:xfrm>
            <a:off x="9220200" y="3132669"/>
            <a:ext cx="2836333" cy="3725331"/>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8" name="Conector recto de flecha 17">
            <a:extLst>
              <a:ext uri="{FF2B5EF4-FFF2-40B4-BE49-F238E27FC236}">
                <a16:creationId xmlns:a16="http://schemas.microsoft.com/office/drawing/2014/main" id="{0865D78D-60E7-47B8-85F8-DDC8C61CCA9E}"/>
              </a:ext>
            </a:extLst>
          </p:cNvPr>
          <p:cNvCxnSpPr>
            <a:cxnSpLocks/>
          </p:cNvCxnSpPr>
          <p:nvPr/>
        </p:nvCxnSpPr>
        <p:spPr>
          <a:xfrm>
            <a:off x="8572499" y="2519181"/>
            <a:ext cx="647701"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8F620892-086C-422B-AEE5-85EAE1E6E116}"/>
              </a:ext>
            </a:extLst>
          </p:cNvPr>
          <p:cNvCxnSpPr>
            <a:cxnSpLocks/>
          </p:cNvCxnSpPr>
          <p:nvPr/>
        </p:nvCxnSpPr>
        <p:spPr>
          <a:xfrm>
            <a:off x="8572499" y="3958513"/>
            <a:ext cx="647701"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20" name="CuadroTexto 19">
            <a:extLst>
              <a:ext uri="{FF2B5EF4-FFF2-40B4-BE49-F238E27FC236}">
                <a16:creationId xmlns:a16="http://schemas.microsoft.com/office/drawing/2014/main" id="{F27A512E-6615-4713-B86D-1639E1561A0F}"/>
              </a:ext>
            </a:extLst>
          </p:cNvPr>
          <p:cNvSpPr txBox="1"/>
          <p:nvPr/>
        </p:nvSpPr>
        <p:spPr>
          <a:xfrm>
            <a:off x="4838699" y="3759163"/>
            <a:ext cx="3733800" cy="923330"/>
          </a:xfrm>
          <a:prstGeom prst="rect">
            <a:avLst/>
          </a:prstGeom>
          <a:noFill/>
        </p:spPr>
        <p:txBody>
          <a:bodyPr wrap="square" rtlCol="0">
            <a:spAutoFit/>
          </a:bodyPr>
          <a:lstStyle/>
          <a:p>
            <a:r>
              <a:rPr lang="es-419" dirty="0">
                <a:solidFill>
                  <a:srgbClr val="FFCF00"/>
                </a:solidFill>
                <a:latin typeface="Montserrat" panose="00000500000000000000" pitchFamily="2" charset="0"/>
              </a:rPr>
              <a:t>Formulario para ingresar datos y realizar el cálculo de la trayectoria</a:t>
            </a:r>
          </a:p>
        </p:txBody>
      </p:sp>
      <p:sp>
        <p:nvSpPr>
          <p:cNvPr id="21" name="CuadroTexto 20">
            <a:extLst>
              <a:ext uri="{FF2B5EF4-FFF2-40B4-BE49-F238E27FC236}">
                <a16:creationId xmlns:a16="http://schemas.microsoft.com/office/drawing/2014/main" id="{5C80DDA2-B2C0-49C1-8240-F2CBF4B5B14D}"/>
              </a:ext>
            </a:extLst>
          </p:cNvPr>
          <p:cNvSpPr txBox="1"/>
          <p:nvPr/>
        </p:nvSpPr>
        <p:spPr>
          <a:xfrm>
            <a:off x="5834590" y="2071294"/>
            <a:ext cx="2891372" cy="923330"/>
          </a:xfrm>
          <a:prstGeom prst="rect">
            <a:avLst/>
          </a:prstGeom>
          <a:noFill/>
        </p:spPr>
        <p:txBody>
          <a:bodyPr wrap="square" rtlCol="0">
            <a:spAutoFit/>
          </a:bodyPr>
          <a:lstStyle/>
          <a:p>
            <a:r>
              <a:rPr lang="es-419" dirty="0">
                <a:solidFill>
                  <a:srgbClr val="FFCF00"/>
                </a:solidFill>
                <a:latin typeface="Montserrat" panose="00000500000000000000" pitchFamily="2" charset="0"/>
              </a:rPr>
              <a:t>Zona en donde se actualizan los datos de la trayectoria calculada</a:t>
            </a:r>
          </a:p>
        </p:txBody>
      </p:sp>
      <p:sp>
        <p:nvSpPr>
          <p:cNvPr id="22" name="Rectángulo 21">
            <a:extLst>
              <a:ext uri="{FF2B5EF4-FFF2-40B4-BE49-F238E27FC236}">
                <a16:creationId xmlns:a16="http://schemas.microsoft.com/office/drawing/2014/main" id="{2DE8DF21-6F18-45F1-B9EB-A11827B2C725}"/>
              </a:ext>
            </a:extLst>
          </p:cNvPr>
          <p:cNvSpPr/>
          <p:nvPr/>
        </p:nvSpPr>
        <p:spPr>
          <a:xfrm>
            <a:off x="9846734" y="471309"/>
            <a:ext cx="1642534" cy="1754325"/>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3" name="CuadroTexto 22">
            <a:extLst>
              <a:ext uri="{FF2B5EF4-FFF2-40B4-BE49-F238E27FC236}">
                <a16:creationId xmlns:a16="http://schemas.microsoft.com/office/drawing/2014/main" id="{2C18E31E-D5C9-4FA3-8F29-D88FF427E085}"/>
              </a:ext>
            </a:extLst>
          </p:cNvPr>
          <p:cNvSpPr txBox="1"/>
          <p:nvPr/>
        </p:nvSpPr>
        <p:spPr>
          <a:xfrm>
            <a:off x="5542495" y="632869"/>
            <a:ext cx="3475563" cy="646331"/>
          </a:xfrm>
          <a:prstGeom prst="rect">
            <a:avLst/>
          </a:prstGeom>
          <a:noFill/>
        </p:spPr>
        <p:txBody>
          <a:bodyPr wrap="square" rtlCol="0">
            <a:spAutoFit/>
          </a:bodyPr>
          <a:lstStyle/>
          <a:p>
            <a:r>
              <a:rPr lang="es-419" dirty="0">
                <a:solidFill>
                  <a:srgbClr val="FFCF00"/>
                </a:solidFill>
                <a:latin typeface="Montserrat" panose="00000500000000000000" pitchFamily="2" charset="0"/>
              </a:rPr>
              <a:t>Imagen alusiva a la trayectoria calculada (J, S, H)</a:t>
            </a:r>
          </a:p>
        </p:txBody>
      </p:sp>
      <p:cxnSp>
        <p:nvCxnSpPr>
          <p:cNvPr id="24" name="Conector recto de flecha 23">
            <a:extLst>
              <a:ext uri="{FF2B5EF4-FFF2-40B4-BE49-F238E27FC236}">
                <a16:creationId xmlns:a16="http://schemas.microsoft.com/office/drawing/2014/main" id="{9B5E281E-CC29-47A1-9521-22819AECBAB1}"/>
              </a:ext>
            </a:extLst>
          </p:cNvPr>
          <p:cNvCxnSpPr>
            <a:cxnSpLocks/>
          </p:cNvCxnSpPr>
          <p:nvPr/>
        </p:nvCxnSpPr>
        <p:spPr>
          <a:xfrm>
            <a:off x="8915401" y="1167894"/>
            <a:ext cx="922865"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4188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C54A3C30-7FFB-4ED3-8CCF-FC5D93C21345}"/>
              </a:ext>
            </a:extLst>
          </p:cNvPr>
          <p:cNvPicPr>
            <a:picLocks noChangeAspect="1"/>
          </p:cNvPicPr>
          <p:nvPr/>
        </p:nvPicPr>
        <p:blipFill>
          <a:blip r:embed="rId2"/>
          <a:stretch>
            <a:fillRect/>
          </a:stretch>
        </p:blipFill>
        <p:spPr>
          <a:xfrm>
            <a:off x="0" y="0"/>
            <a:ext cx="12192000" cy="6858000"/>
          </a:xfrm>
          <a:prstGeom prst="rect">
            <a:avLst/>
          </a:prstGeom>
        </p:spPr>
      </p:pic>
      <p:sp>
        <p:nvSpPr>
          <p:cNvPr id="5" name="CuadroTexto 4">
            <a:extLst>
              <a:ext uri="{FF2B5EF4-FFF2-40B4-BE49-F238E27FC236}">
                <a16:creationId xmlns:a16="http://schemas.microsoft.com/office/drawing/2014/main" id="{75B2F200-2975-4A68-9729-21918D0415BE}"/>
              </a:ext>
            </a:extLst>
          </p:cNvPr>
          <p:cNvSpPr txBox="1"/>
          <p:nvPr/>
        </p:nvSpPr>
        <p:spPr>
          <a:xfrm>
            <a:off x="3355975" y="2690966"/>
            <a:ext cx="3733800" cy="646331"/>
          </a:xfrm>
          <a:prstGeom prst="rect">
            <a:avLst/>
          </a:prstGeom>
          <a:noFill/>
        </p:spPr>
        <p:txBody>
          <a:bodyPr wrap="square" rtlCol="0">
            <a:spAutoFit/>
          </a:bodyPr>
          <a:lstStyle/>
          <a:p>
            <a:r>
              <a:rPr lang="es-419" dirty="0">
                <a:solidFill>
                  <a:srgbClr val="FFCF00"/>
                </a:solidFill>
                <a:latin typeface="Montserrat" panose="00000500000000000000" pitchFamily="2" charset="0"/>
              </a:rPr>
              <a:t>1.- Ingresar datos para realizar el cálculo de la trayectoria </a:t>
            </a:r>
          </a:p>
        </p:txBody>
      </p:sp>
      <p:sp>
        <p:nvSpPr>
          <p:cNvPr id="6" name="Rectángulo 5">
            <a:extLst>
              <a:ext uri="{FF2B5EF4-FFF2-40B4-BE49-F238E27FC236}">
                <a16:creationId xmlns:a16="http://schemas.microsoft.com/office/drawing/2014/main" id="{968CEE77-35B2-49F6-B7EA-06D9867FBDC3}"/>
              </a:ext>
            </a:extLst>
          </p:cNvPr>
          <p:cNvSpPr/>
          <p:nvPr/>
        </p:nvSpPr>
        <p:spPr>
          <a:xfrm>
            <a:off x="9194799" y="3014132"/>
            <a:ext cx="2971800" cy="3818467"/>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8" name="Conector recto de flecha 7">
            <a:extLst>
              <a:ext uri="{FF2B5EF4-FFF2-40B4-BE49-F238E27FC236}">
                <a16:creationId xmlns:a16="http://schemas.microsoft.com/office/drawing/2014/main" id="{9C3CD381-2D1C-402D-86D2-FD80FA8EB89C}"/>
              </a:ext>
            </a:extLst>
          </p:cNvPr>
          <p:cNvCxnSpPr>
            <a:cxnSpLocks/>
          </p:cNvCxnSpPr>
          <p:nvPr/>
        </p:nvCxnSpPr>
        <p:spPr>
          <a:xfrm>
            <a:off x="6477000" y="3197538"/>
            <a:ext cx="2667000"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5525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B43A2DE-D6D1-4166-AD0B-0197F297A3B0}"/>
              </a:ext>
            </a:extLst>
          </p:cNvPr>
          <p:cNvPicPr>
            <a:picLocks noChangeAspect="1"/>
          </p:cNvPicPr>
          <p:nvPr/>
        </p:nvPicPr>
        <p:blipFill>
          <a:blip r:embed="rId2"/>
          <a:stretch>
            <a:fillRect/>
          </a:stretch>
        </p:blipFill>
        <p:spPr>
          <a:xfrm>
            <a:off x="0" y="-1"/>
            <a:ext cx="12192000" cy="6857999"/>
          </a:xfrm>
          <a:prstGeom prst="rect">
            <a:avLst/>
          </a:prstGeom>
        </p:spPr>
      </p:pic>
      <p:sp>
        <p:nvSpPr>
          <p:cNvPr id="8" name="CuadroTexto 7">
            <a:extLst>
              <a:ext uri="{FF2B5EF4-FFF2-40B4-BE49-F238E27FC236}">
                <a16:creationId xmlns:a16="http://schemas.microsoft.com/office/drawing/2014/main" id="{CD62A91A-EF5B-487F-85EB-ECC7D3D817B5}"/>
              </a:ext>
            </a:extLst>
          </p:cNvPr>
          <p:cNvSpPr txBox="1"/>
          <p:nvPr/>
        </p:nvSpPr>
        <p:spPr>
          <a:xfrm>
            <a:off x="3162300" y="5124975"/>
            <a:ext cx="3733800" cy="1200329"/>
          </a:xfrm>
          <a:prstGeom prst="rect">
            <a:avLst/>
          </a:prstGeom>
          <a:noFill/>
        </p:spPr>
        <p:txBody>
          <a:bodyPr wrap="square" rtlCol="0">
            <a:spAutoFit/>
          </a:bodyPr>
          <a:lstStyle/>
          <a:p>
            <a:r>
              <a:rPr lang="es-419" dirty="0">
                <a:solidFill>
                  <a:srgbClr val="FFCF00"/>
                </a:solidFill>
                <a:latin typeface="Montserrat" panose="00000500000000000000" pitchFamily="2" charset="0"/>
              </a:rPr>
              <a:t>2.- Una vez ingresado los datos, seleccionar tipo de pozo y presionar botón de “calcular Trayectoria” </a:t>
            </a:r>
          </a:p>
        </p:txBody>
      </p:sp>
      <p:sp>
        <p:nvSpPr>
          <p:cNvPr id="9" name="Rectángulo 8">
            <a:extLst>
              <a:ext uri="{FF2B5EF4-FFF2-40B4-BE49-F238E27FC236}">
                <a16:creationId xmlns:a16="http://schemas.microsoft.com/office/drawing/2014/main" id="{1027F3F1-FF14-4151-86FD-0FE7EC712466}"/>
              </a:ext>
            </a:extLst>
          </p:cNvPr>
          <p:cNvSpPr/>
          <p:nvPr/>
        </p:nvSpPr>
        <p:spPr>
          <a:xfrm>
            <a:off x="9220200" y="5283203"/>
            <a:ext cx="2836333" cy="1371597"/>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0" name="Conector recto de flecha 9">
            <a:extLst>
              <a:ext uri="{FF2B5EF4-FFF2-40B4-BE49-F238E27FC236}">
                <a16:creationId xmlns:a16="http://schemas.microsoft.com/office/drawing/2014/main" id="{93A3E352-6138-4BAD-97A8-E64384B0C39B}"/>
              </a:ext>
            </a:extLst>
          </p:cNvPr>
          <p:cNvCxnSpPr>
            <a:cxnSpLocks/>
          </p:cNvCxnSpPr>
          <p:nvPr/>
        </p:nvCxnSpPr>
        <p:spPr>
          <a:xfrm>
            <a:off x="6807200" y="5715298"/>
            <a:ext cx="2353733"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2757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4B5E00DB-8734-4DA5-AFB1-B725F6635C2D}"/>
              </a:ext>
            </a:extLst>
          </p:cNvPr>
          <p:cNvPicPr>
            <a:picLocks noChangeAspect="1"/>
          </p:cNvPicPr>
          <p:nvPr/>
        </p:nvPicPr>
        <p:blipFill>
          <a:blip r:embed="rId2"/>
          <a:stretch>
            <a:fillRect/>
          </a:stretch>
        </p:blipFill>
        <p:spPr>
          <a:xfrm>
            <a:off x="8466" y="0"/>
            <a:ext cx="12192000" cy="6858000"/>
          </a:xfrm>
          <a:prstGeom prst="rect">
            <a:avLst/>
          </a:prstGeom>
        </p:spPr>
      </p:pic>
      <p:sp>
        <p:nvSpPr>
          <p:cNvPr id="6" name="CuadroTexto 5">
            <a:extLst>
              <a:ext uri="{FF2B5EF4-FFF2-40B4-BE49-F238E27FC236}">
                <a16:creationId xmlns:a16="http://schemas.microsoft.com/office/drawing/2014/main" id="{9AEBCCC3-998D-4CE2-97BE-CB6EE1EE7224}"/>
              </a:ext>
            </a:extLst>
          </p:cNvPr>
          <p:cNvSpPr txBox="1"/>
          <p:nvPr/>
        </p:nvSpPr>
        <p:spPr>
          <a:xfrm>
            <a:off x="9389534" y="361686"/>
            <a:ext cx="2692400" cy="2308324"/>
          </a:xfrm>
          <a:prstGeom prst="rect">
            <a:avLst/>
          </a:prstGeom>
          <a:noFill/>
        </p:spPr>
        <p:txBody>
          <a:bodyPr wrap="square" rtlCol="0">
            <a:spAutoFit/>
          </a:bodyPr>
          <a:lstStyle/>
          <a:p>
            <a:r>
              <a:rPr lang="es-419" dirty="0">
                <a:solidFill>
                  <a:srgbClr val="FFCF00"/>
                </a:solidFill>
                <a:latin typeface="Montserrat" panose="00000500000000000000" pitchFamily="2" charset="0"/>
              </a:rPr>
              <a:t>3.-Se crearan los “Datos tabulados de la trayectoria calculada”, presionando la flecha en la parte superior izquierda regresamos a la ventana principal </a:t>
            </a:r>
          </a:p>
        </p:txBody>
      </p:sp>
      <p:cxnSp>
        <p:nvCxnSpPr>
          <p:cNvPr id="7" name="Conector recto de flecha 6">
            <a:extLst>
              <a:ext uri="{FF2B5EF4-FFF2-40B4-BE49-F238E27FC236}">
                <a16:creationId xmlns:a16="http://schemas.microsoft.com/office/drawing/2014/main" id="{74789211-F119-4FAA-810C-E390B4450230}"/>
              </a:ext>
            </a:extLst>
          </p:cNvPr>
          <p:cNvCxnSpPr>
            <a:cxnSpLocks/>
          </p:cNvCxnSpPr>
          <p:nvPr/>
        </p:nvCxnSpPr>
        <p:spPr>
          <a:xfrm flipH="1">
            <a:off x="364067" y="575737"/>
            <a:ext cx="9025467"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FC246885-EE0C-4A6A-B4FA-DC5347A3400B}"/>
              </a:ext>
            </a:extLst>
          </p:cNvPr>
          <p:cNvSpPr/>
          <p:nvPr/>
        </p:nvSpPr>
        <p:spPr>
          <a:xfrm>
            <a:off x="8466" y="194733"/>
            <a:ext cx="355601" cy="391851"/>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3137286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F83319C-01F2-4BB3-B695-A352B019504A}"/>
              </a:ext>
            </a:extLst>
          </p:cNvPr>
          <p:cNvPicPr>
            <a:picLocks noChangeAspect="1"/>
          </p:cNvPicPr>
          <p:nvPr/>
        </p:nvPicPr>
        <p:blipFill>
          <a:blip r:embed="rId2"/>
          <a:stretch>
            <a:fillRect/>
          </a:stretch>
        </p:blipFill>
        <p:spPr>
          <a:xfrm>
            <a:off x="0" y="0"/>
            <a:ext cx="12192000" cy="6858000"/>
          </a:xfrm>
          <a:prstGeom prst="rect">
            <a:avLst/>
          </a:prstGeom>
        </p:spPr>
      </p:pic>
      <p:sp>
        <p:nvSpPr>
          <p:cNvPr id="6" name="CuadroTexto 5">
            <a:extLst>
              <a:ext uri="{FF2B5EF4-FFF2-40B4-BE49-F238E27FC236}">
                <a16:creationId xmlns:a16="http://schemas.microsoft.com/office/drawing/2014/main" id="{E7C128CA-1782-4290-9820-D3044FEDFD0C}"/>
              </a:ext>
            </a:extLst>
          </p:cNvPr>
          <p:cNvSpPr txBox="1"/>
          <p:nvPr/>
        </p:nvSpPr>
        <p:spPr>
          <a:xfrm>
            <a:off x="101599" y="2596940"/>
            <a:ext cx="2155826" cy="2308324"/>
          </a:xfrm>
          <a:prstGeom prst="rect">
            <a:avLst/>
          </a:prstGeom>
          <a:noFill/>
        </p:spPr>
        <p:txBody>
          <a:bodyPr wrap="square" rtlCol="0">
            <a:spAutoFit/>
          </a:bodyPr>
          <a:lstStyle/>
          <a:p>
            <a:r>
              <a:rPr lang="es-419" dirty="0">
                <a:solidFill>
                  <a:srgbClr val="FFCF00"/>
                </a:solidFill>
                <a:latin typeface="Montserrat" panose="00000500000000000000" pitchFamily="2" charset="0"/>
              </a:rPr>
              <a:t>4.- Podemos observar los gráficos creados a partir de los datos calculados por el método de mínima curvatura</a:t>
            </a:r>
          </a:p>
        </p:txBody>
      </p:sp>
      <p:sp>
        <p:nvSpPr>
          <p:cNvPr id="7" name="Rectángulo 6">
            <a:extLst>
              <a:ext uri="{FF2B5EF4-FFF2-40B4-BE49-F238E27FC236}">
                <a16:creationId xmlns:a16="http://schemas.microsoft.com/office/drawing/2014/main" id="{3F70B1A1-A6EA-421F-BE33-591700B19177}"/>
              </a:ext>
            </a:extLst>
          </p:cNvPr>
          <p:cNvSpPr/>
          <p:nvPr/>
        </p:nvSpPr>
        <p:spPr>
          <a:xfrm>
            <a:off x="9279471" y="2249491"/>
            <a:ext cx="2732364" cy="448733"/>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8" name="Conector recto de flecha 7">
            <a:extLst>
              <a:ext uri="{FF2B5EF4-FFF2-40B4-BE49-F238E27FC236}">
                <a16:creationId xmlns:a16="http://schemas.microsoft.com/office/drawing/2014/main" id="{BAC29B9A-94BB-430A-834C-6627C10BFBA3}"/>
              </a:ext>
            </a:extLst>
          </p:cNvPr>
          <p:cNvCxnSpPr>
            <a:cxnSpLocks/>
          </p:cNvCxnSpPr>
          <p:nvPr/>
        </p:nvCxnSpPr>
        <p:spPr>
          <a:xfrm flipV="1">
            <a:off x="2159003" y="3352800"/>
            <a:ext cx="601134" cy="562166"/>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27D77903-30CF-437C-A700-1DC48D53ECF4}"/>
              </a:ext>
            </a:extLst>
          </p:cNvPr>
          <p:cNvCxnSpPr>
            <a:cxnSpLocks/>
          </p:cNvCxnSpPr>
          <p:nvPr/>
        </p:nvCxnSpPr>
        <p:spPr>
          <a:xfrm flipV="1">
            <a:off x="2159003" y="3157837"/>
            <a:ext cx="3666067" cy="731765"/>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0DF3E62B-46FC-4B1D-B067-E0B37DD50CF7}"/>
              </a:ext>
            </a:extLst>
          </p:cNvPr>
          <p:cNvCxnSpPr>
            <a:cxnSpLocks/>
          </p:cNvCxnSpPr>
          <p:nvPr/>
        </p:nvCxnSpPr>
        <p:spPr>
          <a:xfrm>
            <a:off x="2159003" y="3914966"/>
            <a:ext cx="3733800" cy="1332212"/>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C8843C7B-2EC2-47EB-BBA9-4010AEEE9A46}"/>
              </a:ext>
            </a:extLst>
          </p:cNvPr>
          <p:cNvSpPr txBox="1"/>
          <p:nvPr/>
        </p:nvSpPr>
        <p:spPr>
          <a:xfrm>
            <a:off x="6625169" y="1328679"/>
            <a:ext cx="3429002" cy="923330"/>
          </a:xfrm>
          <a:prstGeom prst="rect">
            <a:avLst/>
          </a:prstGeom>
          <a:noFill/>
        </p:spPr>
        <p:txBody>
          <a:bodyPr wrap="square" rtlCol="0">
            <a:spAutoFit/>
          </a:bodyPr>
          <a:lstStyle/>
          <a:p>
            <a:r>
              <a:rPr lang="es-419" dirty="0">
                <a:solidFill>
                  <a:srgbClr val="FFCF00"/>
                </a:solidFill>
                <a:latin typeface="Montserrat" panose="00000500000000000000" pitchFamily="2" charset="0"/>
              </a:rPr>
              <a:t>4.- En esta sección se muestran datos relevantes de la trayectoria</a:t>
            </a:r>
          </a:p>
        </p:txBody>
      </p:sp>
      <p:cxnSp>
        <p:nvCxnSpPr>
          <p:cNvPr id="20" name="Conector recto de flecha 19">
            <a:extLst>
              <a:ext uri="{FF2B5EF4-FFF2-40B4-BE49-F238E27FC236}">
                <a16:creationId xmlns:a16="http://schemas.microsoft.com/office/drawing/2014/main" id="{0900D8B0-1789-4FB6-912C-7EF767FE7325}"/>
              </a:ext>
            </a:extLst>
          </p:cNvPr>
          <p:cNvCxnSpPr>
            <a:cxnSpLocks/>
            <a:endCxn id="7" idx="1"/>
          </p:cNvCxnSpPr>
          <p:nvPr/>
        </p:nvCxnSpPr>
        <p:spPr>
          <a:xfrm>
            <a:off x="8720670" y="2014710"/>
            <a:ext cx="558801" cy="459148"/>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498460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19490</TotalTime>
  <Words>3981</Words>
  <Application>Microsoft Office PowerPoint</Application>
  <PresentationFormat>Panorámica</PresentationFormat>
  <Paragraphs>323</Paragraphs>
  <Slides>19</Slides>
  <Notes>2</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19</vt:i4>
      </vt:variant>
    </vt:vector>
  </HeadingPairs>
  <TitlesOfParts>
    <vt:vector size="27" baseType="lpstr">
      <vt:lpstr>Arial</vt:lpstr>
      <vt:lpstr>Arial Black</vt:lpstr>
      <vt:lpstr>Calibri</vt:lpstr>
      <vt:lpstr>Calibri Light</vt:lpstr>
      <vt:lpstr>Montserrat</vt:lpstr>
      <vt:lpstr>Times New Roman</vt:lpstr>
      <vt:lpstr>Tema de Office</vt:lpstr>
      <vt:lpstr>Diseño personalizado</vt:lpstr>
      <vt:lpstr>Puntos a considerar en el diseño de la trayectoria tipo I (J)</vt:lpstr>
      <vt:lpstr>Manual para el diseño del pozo tipo j </vt:lpstr>
      <vt:lpstr>Manual para el diseño del pozo tipo j </vt:lpstr>
      <vt:lpstr>Lógica de las Fórmulas y Condiciones para Resultados Válidos </vt:lpstr>
      <vt:lpstr>Presentación de PowerPoint</vt:lpstr>
      <vt:lpstr>Puntos a considerar en el diseño de la trayectoria tipo II (S)</vt:lpstr>
      <vt:lpstr>Manual para el diseño del pozo tipo S </vt:lpstr>
      <vt:lpstr>Manual para el diseño del pozo tipo S </vt:lpstr>
      <vt:lpstr>Lógica de las Fórmulas y Condiciones para Resultados Válidos </vt:lpstr>
      <vt:lpstr>Presentación de PowerPoint</vt:lpstr>
      <vt:lpstr>Puntos a considerar en el diseño de la trayectoria tipo III (H)</vt:lpstr>
      <vt:lpstr>Manual para el diseño del pozo tipo H </vt:lpstr>
      <vt:lpstr>Manual para el diseño del pozo tipo h </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Jaime</dc:creator>
  <cp:lastModifiedBy>Jaime</cp:lastModifiedBy>
  <cp:revision>34</cp:revision>
  <dcterms:created xsi:type="dcterms:W3CDTF">2025-03-13T10:43:25Z</dcterms:created>
  <dcterms:modified xsi:type="dcterms:W3CDTF">2025-04-29T20:47:52Z</dcterms:modified>
</cp:coreProperties>
</file>