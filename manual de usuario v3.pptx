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5" r:id="rId3"/>
    <p:sldId id="266" r:id="rId4"/>
    <p:sldId id="260" r:id="rId5"/>
    <p:sldId id="261" r:id="rId6"/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A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16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31555-F1C0-470E-94F3-EAB569CBC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A13912-ADF3-49FE-A747-A63868898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7CE195-AF23-40D3-971B-F0B99EA5A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31/3/2025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1E315A-235F-47CB-9B0F-D46A1D558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E48E32-3783-4316-9246-C2EB703A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5746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AA34F-3671-45B3-A8A0-4036F469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69438E-B290-4334-B492-E5BEACCF4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94981D-BE16-44B8-9496-A8ADCF478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31/3/2025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3B1965-A14E-47D3-93C9-6BE24338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14D155-802B-4492-966F-26C72C44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0745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96FDC-CC73-46FC-8C12-96EC733A2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D87590-6B02-4456-AAC2-D3C17AA86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519D21-3BDA-4C10-9FE9-ACFC18346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31/3/2025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90F58A-FA2D-4C30-A7A0-D77523E76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C83AAB-3340-4907-B640-F4D0849A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29935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46CD6-5405-4A72-AB23-5B1C35F5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FDC09B-D32B-489E-997B-DB658197A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C8431D-7628-43C3-B47D-E7E6E4A9E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FB0CC5-6940-45FD-8750-643FD4F99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31/3/2025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C51ED3-D8C7-41F7-902E-5CF297E0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F44910-A809-46D8-8581-0F8200EAF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74961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6E66E-F347-487B-9EBF-CB659B846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CD7966-4B9B-468A-8DD7-71F2CB7F7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93C3B1-9968-4F6F-B973-9BFAA9D6F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C84B1BC-A2B3-4820-B39B-872A49D0E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9DBAD1C-0310-4CB6-AAA0-8CC3FFA643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614592-EC25-4182-AAD8-96B447A9C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31/3/2025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AFF188F-8249-4537-BB96-3883C1256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39028F-74C2-4FD6-B7FC-96AB3B97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87391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2D621-CA93-4AA5-9E95-30985B4AF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9836A41-FE66-406A-8056-A2A8DF277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31/3/2025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44DDDAB-6211-4451-8D9F-AF3D69FC7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9E9E1B-A215-4DCF-8A5C-1E23CAD8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50278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225B648-B6A1-4F41-926A-49C46F4B3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31/3/2025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6CC9D2-FC8F-400E-90E2-1C97C4ACF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23CBC3-9CB6-4411-8F82-CFE9B3280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20137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60F69-C11A-454B-A6B8-02A7C1C4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900E5-E200-407A-A78E-F770958ED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40685C-D413-4643-B404-ECAF64F8A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9FC914-DEA0-4ABD-A962-C0BE5A7EE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31/3/2025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FEFF65-2FD4-4650-81D7-668B646B6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4EAA5F-51DA-4F87-BDA1-9566BFB24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1264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16EB3-08C9-4C36-B536-CA6E308BF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ACDD65D-7BB0-4310-8AFA-6280C6879A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C4A2B8-2664-4403-8551-5ACD03195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43E127-84E0-4383-B220-CCAC30B0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31/3/2025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63B9BD-6BCD-4325-B499-FBF246B2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216578-71D6-4DD1-8364-29771DE3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517406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EB82B-C3E4-4616-B67F-5BFCE14A6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076899-28CD-4167-927D-AA0734189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53AE60-B42A-40CB-99C2-FB4C945E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31/3/2025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698D96-89DE-4A63-8BEC-B3E952E1A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F0074F-B768-44F4-BD44-93E4E7F7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21635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06B853-C05D-454F-94E1-05A166A8C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747E56-3998-4D2D-9039-EFABC7C4A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5B6ABC-D6F0-4E7C-8DB9-717F487C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31/3/2025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C47E2C-FC8C-4084-A5A8-80F0DCA58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6CEA51-1885-4950-87A5-1B62E262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551367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86002D6-FE39-48A3-8350-99996DFBA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4F9629-C2D7-4A0C-80BB-3C4A0EA25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FF2DCC-A7E5-4997-8E4B-155ACD72E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53C17-4F2D-4F73-9A9F-B0482B31BB62}" type="datetimeFigureOut">
              <a:rPr lang="es-419" smtClean="0"/>
              <a:t>31/3/2025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C9B812-038A-49DE-8E22-CF165112D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14749F-F143-490D-ABB8-BF2886C5E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2275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C9C83-7C2A-4C68-B1A3-9844D1CC3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667" y="280637"/>
            <a:ext cx="7357527" cy="662781"/>
          </a:xfrm>
        </p:spPr>
        <p:txBody>
          <a:bodyPr>
            <a:normAutofit fontScale="90000"/>
          </a:bodyPr>
          <a:lstStyle/>
          <a:p>
            <a:pPr algn="ctr"/>
            <a:r>
              <a:rPr lang="es-419" b="1" dirty="0">
                <a:solidFill>
                  <a:schemeClr val="bg1"/>
                </a:solidFill>
              </a:rPr>
              <a:t>Puntos a considerar en el diseño de la trayectoria tipo I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CE37153-2C2E-4477-8438-C04E50EBF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5807" y="1520827"/>
            <a:ext cx="3206930" cy="4351338"/>
          </a:xfr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F42787C9-6BF1-4588-B9D2-22FF0FED0AFC}"/>
              </a:ext>
            </a:extLst>
          </p:cNvPr>
          <p:cNvCxnSpPr>
            <a:cxnSpLocks/>
          </p:cNvCxnSpPr>
          <p:nvPr/>
        </p:nvCxnSpPr>
        <p:spPr>
          <a:xfrm flipV="1">
            <a:off x="4529673" y="4127848"/>
            <a:ext cx="2582327" cy="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7A75FB1C-09F3-4290-A3D4-2702F4688D9A}"/>
              </a:ext>
            </a:extLst>
          </p:cNvPr>
          <p:cNvSpPr txBox="1"/>
          <p:nvPr/>
        </p:nvSpPr>
        <p:spPr>
          <a:xfrm>
            <a:off x="6873305" y="3752160"/>
            <a:ext cx="3552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1.- Coordenadas UTM de superficie: N/S Y E/W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7CCBB9E-2055-463E-A721-FC6F8AAB2A6F}"/>
              </a:ext>
            </a:extLst>
          </p:cNvPr>
          <p:cNvCxnSpPr>
            <a:cxnSpLocks/>
          </p:cNvCxnSpPr>
          <p:nvPr/>
        </p:nvCxnSpPr>
        <p:spPr>
          <a:xfrm>
            <a:off x="6516077" y="5702650"/>
            <a:ext cx="714456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82BFA58-AF7C-4097-9F0E-FDD325B0775A}"/>
              </a:ext>
            </a:extLst>
          </p:cNvPr>
          <p:cNvSpPr txBox="1"/>
          <p:nvPr/>
        </p:nvSpPr>
        <p:spPr>
          <a:xfrm>
            <a:off x="7074879" y="5329779"/>
            <a:ext cx="3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2.- Coordenadas UTM de objetivo: N/S Y E/W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1D4B2B7-5149-481F-9000-E5BB7E89F675}"/>
              </a:ext>
            </a:extLst>
          </p:cNvPr>
          <p:cNvCxnSpPr/>
          <p:nvPr/>
        </p:nvCxnSpPr>
        <p:spPr>
          <a:xfrm>
            <a:off x="4191005" y="4127848"/>
            <a:ext cx="0" cy="16200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5893F41-3716-4367-9560-A9FE965C6026}"/>
              </a:ext>
            </a:extLst>
          </p:cNvPr>
          <p:cNvCxnSpPr>
            <a:cxnSpLocks/>
          </p:cNvCxnSpPr>
          <p:nvPr/>
        </p:nvCxnSpPr>
        <p:spPr>
          <a:xfrm>
            <a:off x="4114803" y="4144779"/>
            <a:ext cx="1524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27F1093C-F0CE-4D6A-936B-FAF25F47464F}"/>
              </a:ext>
            </a:extLst>
          </p:cNvPr>
          <p:cNvCxnSpPr>
            <a:cxnSpLocks/>
          </p:cNvCxnSpPr>
          <p:nvPr/>
        </p:nvCxnSpPr>
        <p:spPr>
          <a:xfrm>
            <a:off x="4114803" y="5736513"/>
            <a:ext cx="1524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B461E8B-684B-4B66-BCFC-AB0795D0548E}"/>
              </a:ext>
            </a:extLst>
          </p:cNvPr>
          <p:cNvCxnSpPr>
            <a:cxnSpLocks/>
          </p:cNvCxnSpPr>
          <p:nvPr/>
        </p:nvCxnSpPr>
        <p:spPr>
          <a:xfrm flipH="1">
            <a:off x="3242739" y="4263308"/>
            <a:ext cx="94826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FAAFC12-5A74-4AA7-AFA6-9AC3AC35A516}"/>
              </a:ext>
            </a:extLst>
          </p:cNvPr>
          <p:cNvSpPr txBox="1"/>
          <p:nvPr/>
        </p:nvSpPr>
        <p:spPr>
          <a:xfrm>
            <a:off x="220146" y="3948616"/>
            <a:ext cx="3141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4.- Profundidad vertical al objetivo (TVD)</a:t>
            </a:r>
          </a:p>
        </p:txBody>
      </p:sp>
      <p:sp>
        <p:nvSpPr>
          <p:cNvPr id="20" name="Arco 19">
            <a:extLst>
              <a:ext uri="{FF2B5EF4-FFF2-40B4-BE49-F238E27FC236}">
                <a16:creationId xmlns:a16="http://schemas.microsoft.com/office/drawing/2014/main" id="{648AE7C6-968A-4CE0-935F-D0D10DC7E5E7}"/>
              </a:ext>
            </a:extLst>
          </p:cNvPr>
          <p:cNvSpPr/>
          <p:nvPr/>
        </p:nvSpPr>
        <p:spPr>
          <a:xfrm rot="11457301">
            <a:off x="4444370" y="4626740"/>
            <a:ext cx="736597" cy="646331"/>
          </a:xfrm>
          <a:prstGeom prst="arc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25754289-5F13-4EF2-8A9F-97BD9321D004}"/>
              </a:ext>
            </a:extLst>
          </p:cNvPr>
          <p:cNvCxnSpPr>
            <a:cxnSpLocks/>
          </p:cNvCxnSpPr>
          <p:nvPr/>
        </p:nvCxnSpPr>
        <p:spPr>
          <a:xfrm>
            <a:off x="4368806" y="4865829"/>
            <a:ext cx="1524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ED9774D-BF7E-4353-A255-203F7279C117}"/>
              </a:ext>
            </a:extLst>
          </p:cNvPr>
          <p:cNvCxnSpPr>
            <a:cxnSpLocks/>
          </p:cNvCxnSpPr>
          <p:nvPr/>
        </p:nvCxnSpPr>
        <p:spPr>
          <a:xfrm flipV="1">
            <a:off x="4749807" y="5179095"/>
            <a:ext cx="0" cy="15068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892E8DA-6065-476A-AD08-F68337BA0BFD}"/>
              </a:ext>
            </a:extLst>
          </p:cNvPr>
          <p:cNvCxnSpPr>
            <a:cxnSpLocks/>
          </p:cNvCxnSpPr>
          <p:nvPr/>
        </p:nvCxnSpPr>
        <p:spPr>
          <a:xfrm flipH="1">
            <a:off x="3242739" y="5149813"/>
            <a:ext cx="128693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1CBFBC1-AE4E-4391-8CBD-27927E880778}"/>
              </a:ext>
            </a:extLst>
          </p:cNvPr>
          <p:cNvSpPr txBox="1"/>
          <p:nvPr/>
        </p:nvSpPr>
        <p:spPr>
          <a:xfrm>
            <a:off x="247483" y="4802792"/>
            <a:ext cx="3141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5.- Ritmo de incremento del ángulo para la construcción de la curva (BUR)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44416A9-7676-4188-89A7-8DEED0C67867}"/>
              </a:ext>
            </a:extLst>
          </p:cNvPr>
          <p:cNvCxnSpPr>
            <a:cxnSpLocks/>
          </p:cNvCxnSpPr>
          <p:nvPr/>
        </p:nvCxnSpPr>
        <p:spPr>
          <a:xfrm>
            <a:off x="4521206" y="4802792"/>
            <a:ext cx="259079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DC1BA93-6EAA-45C5-9387-30D661258AA4}"/>
              </a:ext>
            </a:extLst>
          </p:cNvPr>
          <p:cNvSpPr txBox="1"/>
          <p:nvPr/>
        </p:nvSpPr>
        <p:spPr>
          <a:xfrm>
            <a:off x="6773252" y="4461527"/>
            <a:ext cx="3301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3.- Inicio de la desviación (KOP)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68F6B048-2C10-4019-942D-DD68B7099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8995"/>
            <a:ext cx="4097534" cy="2304863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366C6426-319D-433E-B085-F74FEC6A9266}"/>
              </a:ext>
            </a:extLst>
          </p:cNvPr>
          <p:cNvSpPr txBox="1"/>
          <p:nvPr/>
        </p:nvSpPr>
        <p:spPr>
          <a:xfrm>
            <a:off x="4360340" y="3943182"/>
            <a:ext cx="24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FB8C54E-E114-48B0-966A-471326435125}"/>
              </a:ext>
            </a:extLst>
          </p:cNvPr>
          <p:cNvSpPr txBox="1"/>
          <p:nvPr/>
        </p:nvSpPr>
        <p:spPr>
          <a:xfrm>
            <a:off x="4364429" y="4626021"/>
            <a:ext cx="24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FEB9138B-F795-4380-A3A3-72CDF4AE402C}"/>
              </a:ext>
            </a:extLst>
          </p:cNvPr>
          <p:cNvSpPr txBox="1"/>
          <p:nvPr/>
        </p:nvSpPr>
        <p:spPr>
          <a:xfrm>
            <a:off x="6345629" y="5521371"/>
            <a:ext cx="24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C0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831323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E35A2BC-3039-48A0-84F6-8DEBE0388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660" y="1520827"/>
            <a:ext cx="3189223" cy="435133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43C9C83-7C2A-4C68-B1A3-9844D1CC3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667" y="280637"/>
            <a:ext cx="7357527" cy="662781"/>
          </a:xfrm>
        </p:spPr>
        <p:txBody>
          <a:bodyPr>
            <a:normAutofit fontScale="90000"/>
          </a:bodyPr>
          <a:lstStyle/>
          <a:p>
            <a:pPr algn="ctr"/>
            <a:r>
              <a:rPr lang="es-419" b="1" dirty="0">
                <a:solidFill>
                  <a:schemeClr val="bg1"/>
                </a:solidFill>
              </a:rPr>
              <a:t>Puntos a considerar en el diseño de la trayectoria tipo II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F42787C9-6BF1-4588-B9D2-22FF0FED0AFC}"/>
              </a:ext>
            </a:extLst>
          </p:cNvPr>
          <p:cNvCxnSpPr>
            <a:cxnSpLocks/>
          </p:cNvCxnSpPr>
          <p:nvPr/>
        </p:nvCxnSpPr>
        <p:spPr>
          <a:xfrm flipV="1">
            <a:off x="4661651" y="3929883"/>
            <a:ext cx="2582327" cy="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7A75FB1C-09F3-4290-A3D4-2702F4688D9A}"/>
              </a:ext>
            </a:extLst>
          </p:cNvPr>
          <p:cNvSpPr txBox="1"/>
          <p:nvPr/>
        </p:nvSpPr>
        <p:spPr>
          <a:xfrm>
            <a:off x="6991877" y="3616977"/>
            <a:ext cx="3552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1.- Coordenadas UTM de superficie: N/S Y E/W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7CCBB9E-2055-463E-A721-FC6F8AAB2A6F}"/>
              </a:ext>
            </a:extLst>
          </p:cNvPr>
          <p:cNvCxnSpPr>
            <a:cxnSpLocks/>
          </p:cNvCxnSpPr>
          <p:nvPr/>
        </p:nvCxnSpPr>
        <p:spPr>
          <a:xfrm flipV="1">
            <a:off x="5750351" y="5263298"/>
            <a:ext cx="1503053" cy="1058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82BFA58-AF7C-4097-9F0E-FDD325B0775A}"/>
              </a:ext>
            </a:extLst>
          </p:cNvPr>
          <p:cNvSpPr txBox="1"/>
          <p:nvPr/>
        </p:nvSpPr>
        <p:spPr>
          <a:xfrm>
            <a:off x="7019483" y="5276588"/>
            <a:ext cx="3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2.- Coordenadas UTM de objetivo: N/S Y E/W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675380BA-9FDD-4588-89A3-D68B7214AC5D}"/>
              </a:ext>
            </a:extLst>
          </p:cNvPr>
          <p:cNvGrpSpPr/>
          <p:nvPr/>
        </p:nvGrpSpPr>
        <p:grpSpPr>
          <a:xfrm>
            <a:off x="4161102" y="3899245"/>
            <a:ext cx="152400" cy="1364053"/>
            <a:chOff x="4114803" y="4127848"/>
            <a:chExt cx="152400" cy="1620000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F1D4B2B7-5149-481F-9000-E5BB7E89F675}"/>
                </a:ext>
              </a:extLst>
            </p:cNvPr>
            <p:cNvCxnSpPr/>
            <p:nvPr/>
          </p:nvCxnSpPr>
          <p:spPr>
            <a:xfrm>
              <a:off x="4191005" y="4127848"/>
              <a:ext cx="0" cy="16200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E5893F41-3716-4367-9560-A9FE965C6026}"/>
                </a:ext>
              </a:extLst>
            </p:cNvPr>
            <p:cNvCxnSpPr>
              <a:cxnSpLocks/>
            </p:cNvCxnSpPr>
            <p:nvPr/>
          </p:nvCxnSpPr>
          <p:spPr>
            <a:xfrm>
              <a:off x="4114803" y="4144779"/>
              <a:ext cx="1524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27F1093C-F0CE-4D6A-936B-FAF25F47464F}"/>
                </a:ext>
              </a:extLst>
            </p:cNvPr>
            <p:cNvCxnSpPr>
              <a:cxnSpLocks/>
            </p:cNvCxnSpPr>
            <p:nvPr/>
          </p:nvCxnSpPr>
          <p:spPr>
            <a:xfrm>
              <a:off x="4114803" y="5736513"/>
              <a:ext cx="1524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B461E8B-684B-4B66-BCFC-AB0795D0548E}"/>
              </a:ext>
            </a:extLst>
          </p:cNvPr>
          <p:cNvCxnSpPr>
            <a:cxnSpLocks/>
          </p:cNvCxnSpPr>
          <p:nvPr/>
        </p:nvCxnSpPr>
        <p:spPr>
          <a:xfrm flipH="1">
            <a:off x="3242739" y="4263308"/>
            <a:ext cx="99456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FAAFC12-5A74-4AA7-AFA6-9AC3AC35A516}"/>
              </a:ext>
            </a:extLst>
          </p:cNvPr>
          <p:cNvSpPr txBox="1"/>
          <p:nvPr/>
        </p:nvSpPr>
        <p:spPr>
          <a:xfrm>
            <a:off x="345454" y="3696496"/>
            <a:ext cx="3141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4.- Profundidad vertical al objetivo (TVD)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CF35FB25-321D-4591-81A9-D4A24BFCDB23}"/>
              </a:ext>
            </a:extLst>
          </p:cNvPr>
          <p:cNvGrpSpPr/>
          <p:nvPr/>
        </p:nvGrpSpPr>
        <p:grpSpPr>
          <a:xfrm>
            <a:off x="4461067" y="4434027"/>
            <a:ext cx="690876" cy="507454"/>
            <a:chOff x="4368806" y="4626740"/>
            <a:chExt cx="812161" cy="703039"/>
          </a:xfrm>
        </p:grpSpPr>
        <p:sp>
          <p:nvSpPr>
            <p:cNvPr id="20" name="Arco 19">
              <a:extLst>
                <a:ext uri="{FF2B5EF4-FFF2-40B4-BE49-F238E27FC236}">
                  <a16:creationId xmlns:a16="http://schemas.microsoft.com/office/drawing/2014/main" id="{648AE7C6-968A-4CE0-935F-D0D10DC7E5E7}"/>
                </a:ext>
              </a:extLst>
            </p:cNvPr>
            <p:cNvSpPr/>
            <p:nvPr/>
          </p:nvSpPr>
          <p:spPr>
            <a:xfrm rot="11457301">
              <a:off x="4444370" y="4626740"/>
              <a:ext cx="736597" cy="646331"/>
            </a:xfrm>
            <a:prstGeom prst="arc">
              <a:avLst/>
            </a:prstGeom>
            <a:ln w="285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25754289-5F13-4EF2-8A9F-97BD9321D004}"/>
                </a:ext>
              </a:extLst>
            </p:cNvPr>
            <p:cNvCxnSpPr>
              <a:cxnSpLocks/>
            </p:cNvCxnSpPr>
            <p:nvPr/>
          </p:nvCxnSpPr>
          <p:spPr>
            <a:xfrm>
              <a:off x="4368806" y="4865829"/>
              <a:ext cx="1524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DED9774D-BF7E-4353-A255-203F7279C1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9807" y="5179095"/>
              <a:ext cx="0" cy="15068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892E8DA-6065-476A-AD08-F68337BA0BFD}"/>
              </a:ext>
            </a:extLst>
          </p:cNvPr>
          <p:cNvCxnSpPr>
            <a:cxnSpLocks/>
          </p:cNvCxnSpPr>
          <p:nvPr/>
        </p:nvCxnSpPr>
        <p:spPr>
          <a:xfrm flipH="1">
            <a:off x="3242739" y="4744232"/>
            <a:ext cx="128693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1CBFBC1-AE4E-4391-8CBD-27927E880778}"/>
              </a:ext>
            </a:extLst>
          </p:cNvPr>
          <p:cNvSpPr txBox="1"/>
          <p:nvPr/>
        </p:nvSpPr>
        <p:spPr>
          <a:xfrm>
            <a:off x="296490" y="4393090"/>
            <a:ext cx="3141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5.- Ritmo de incremento del ángulo para la construcción de la curva (BUR)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44416A9-7676-4188-89A7-8DEED0C67867}"/>
              </a:ext>
            </a:extLst>
          </p:cNvPr>
          <p:cNvCxnSpPr>
            <a:cxnSpLocks/>
          </p:cNvCxnSpPr>
          <p:nvPr/>
        </p:nvCxnSpPr>
        <p:spPr>
          <a:xfrm>
            <a:off x="4662610" y="4519983"/>
            <a:ext cx="259079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DC1BA93-6EAA-45C5-9387-30D661258AA4}"/>
              </a:ext>
            </a:extLst>
          </p:cNvPr>
          <p:cNvSpPr txBox="1"/>
          <p:nvPr/>
        </p:nvSpPr>
        <p:spPr>
          <a:xfrm>
            <a:off x="6905522" y="4192804"/>
            <a:ext cx="3301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3.- Inicio de la desviación (KOP)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68F6B048-2C10-4019-942D-DD68B7099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8995"/>
            <a:ext cx="4097534" cy="2304863"/>
          </a:xfrm>
          <a:prstGeom prst="rect">
            <a:avLst/>
          </a:prstGeom>
        </p:spPr>
      </p:pic>
      <p:grpSp>
        <p:nvGrpSpPr>
          <p:cNvPr id="28" name="Grupo 27">
            <a:extLst>
              <a:ext uri="{FF2B5EF4-FFF2-40B4-BE49-F238E27FC236}">
                <a16:creationId xmlns:a16="http://schemas.microsoft.com/office/drawing/2014/main" id="{FCD5949F-3FD1-4938-BDD8-479C1E419F21}"/>
              </a:ext>
            </a:extLst>
          </p:cNvPr>
          <p:cNvGrpSpPr/>
          <p:nvPr/>
        </p:nvGrpSpPr>
        <p:grpSpPr>
          <a:xfrm rot="10800000">
            <a:off x="5286340" y="4896086"/>
            <a:ext cx="690876" cy="507454"/>
            <a:chOff x="4368806" y="4626740"/>
            <a:chExt cx="812161" cy="703039"/>
          </a:xfrm>
        </p:grpSpPr>
        <p:sp>
          <p:nvSpPr>
            <p:cNvPr id="29" name="Arco 28">
              <a:extLst>
                <a:ext uri="{FF2B5EF4-FFF2-40B4-BE49-F238E27FC236}">
                  <a16:creationId xmlns:a16="http://schemas.microsoft.com/office/drawing/2014/main" id="{7E636774-D9FA-4485-A748-22E308A62A99}"/>
                </a:ext>
              </a:extLst>
            </p:cNvPr>
            <p:cNvSpPr/>
            <p:nvPr/>
          </p:nvSpPr>
          <p:spPr>
            <a:xfrm rot="11457301">
              <a:off x="4444370" y="4626740"/>
              <a:ext cx="736597" cy="646331"/>
            </a:xfrm>
            <a:prstGeom prst="arc">
              <a:avLst/>
            </a:prstGeom>
            <a:ln w="285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56CFBE61-4956-4749-99D9-2DA00ADC57E6}"/>
                </a:ext>
              </a:extLst>
            </p:cNvPr>
            <p:cNvCxnSpPr>
              <a:cxnSpLocks/>
            </p:cNvCxnSpPr>
            <p:nvPr/>
          </p:nvCxnSpPr>
          <p:spPr>
            <a:xfrm>
              <a:off x="4368806" y="4865829"/>
              <a:ext cx="1524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9D434706-0D8D-4776-98D1-AAF0C3A871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9807" y="5179095"/>
              <a:ext cx="0" cy="15068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08090F7-DDF6-42E6-BC7A-B81EBBE400A2}"/>
              </a:ext>
            </a:extLst>
          </p:cNvPr>
          <p:cNvSpPr txBox="1"/>
          <p:nvPr/>
        </p:nvSpPr>
        <p:spPr>
          <a:xfrm>
            <a:off x="6864836" y="4631891"/>
            <a:ext cx="4517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6.- Ritmo de decremento del ángulo para la construcción de la curva (DOR)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6C53B781-0A39-4730-82A7-BEE9C4533AE6}"/>
              </a:ext>
            </a:extLst>
          </p:cNvPr>
          <p:cNvCxnSpPr>
            <a:cxnSpLocks/>
          </p:cNvCxnSpPr>
          <p:nvPr/>
        </p:nvCxnSpPr>
        <p:spPr>
          <a:xfrm>
            <a:off x="5861632" y="5058245"/>
            <a:ext cx="1382346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o 40">
            <a:extLst>
              <a:ext uri="{FF2B5EF4-FFF2-40B4-BE49-F238E27FC236}">
                <a16:creationId xmlns:a16="http://schemas.microsoft.com/office/drawing/2014/main" id="{BF185FF2-2C22-4222-AC7C-B241D21F3922}"/>
              </a:ext>
            </a:extLst>
          </p:cNvPr>
          <p:cNvGrpSpPr/>
          <p:nvPr/>
        </p:nvGrpSpPr>
        <p:grpSpPr>
          <a:xfrm>
            <a:off x="5447238" y="5263298"/>
            <a:ext cx="172160" cy="376649"/>
            <a:chOff x="4114803" y="4127848"/>
            <a:chExt cx="152400" cy="1620000"/>
          </a:xfrm>
        </p:grpSpPr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210258D5-FEC8-44B7-A957-6EB2B52273A3}"/>
                </a:ext>
              </a:extLst>
            </p:cNvPr>
            <p:cNvCxnSpPr/>
            <p:nvPr/>
          </p:nvCxnSpPr>
          <p:spPr>
            <a:xfrm>
              <a:off x="4191005" y="4127848"/>
              <a:ext cx="0" cy="16200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D07593DC-DB66-45D1-BC0C-E22C83CC2A46}"/>
                </a:ext>
              </a:extLst>
            </p:cNvPr>
            <p:cNvCxnSpPr>
              <a:cxnSpLocks/>
            </p:cNvCxnSpPr>
            <p:nvPr/>
          </p:nvCxnSpPr>
          <p:spPr>
            <a:xfrm>
              <a:off x="4114803" y="4144779"/>
              <a:ext cx="1524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38C18685-D972-4902-ACAB-046F48E79E91}"/>
                </a:ext>
              </a:extLst>
            </p:cNvPr>
            <p:cNvCxnSpPr>
              <a:cxnSpLocks/>
            </p:cNvCxnSpPr>
            <p:nvPr/>
          </p:nvCxnSpPr>
          <p:spPr>
            <a:xfrm>
              <a:off x="4114803" y="5736513"/>
              <a:ext cx="1524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2538720D-987D-4C49-A6FA-27BACA6B0E20}"/>
              </a:ext>
            </a:extLst>
          </p:cNvPr>
          <p:cNvCxnSpPr>
            <a:cxnSpLocks/>
          </p:cNvCxnSpPr>
          <p:nvPr/>
        </p:nvCxnSpPr>
        <p:spPr>
          <a:xfrm flipH="1">
            <a:off x="3242739" y="5545561"/>
            <a:ext cx="2290581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uadroTexto 46">
            <a:extLst>
              <a:ext uri="{FF2B5EF4-FFF2-40B4-BE49-F238E27FC236}">
                <a16:creationId xmlns:a16="http://schemas.microsoft.com/office/drawing/2014/main" id="{AE7E63B8-203C-4A03-9176-1F022681CED6}"/>
              </a:ext>
            </a:extLst>
          </p:cNvPr>
          <p:cNvSpPr txBox="1"/>
          <p:nvPr/>
        </p:nvSpPr>
        <p:spPr>
          <a:xfrm>
            <a:off x="365531" y="5360895"/>
            <a:ext cx="3141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7.- Profundidad extra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47DB719-A1F4-4D0B-940E-D9D4DD226FEA}"/>
              </a:ext>
            </a:extLst>
          </p:cNvPr>
          <p:cNvSpPr txBox="1"/>
          <p:nvPr/>
        </p:nvSpPr>
        <p:spPr>
          <a:xfrm>
            <a:off x="6311489" y="1710112"/>
            <a:ext cx="5261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* En esta trayectoria se toma como coordenada de objetivo el punto en donde finaliza la curva, así como la TVD se toma hasta ese punto (final del decremento)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D5B73E95-AF45-42A5-9759-1C8F793FAB48}"/>
              </a:ext>
            </a:extLst>
          </p:cNvPr>
          <p:cNvSpPr txBox="1"/>
          <p:nvPr/>
        </p:nvSpPr>
        <p:spPr>
          <a:xfrm>
            <a:off x="4525887" y="3755476"/>
            <a:ext cx="24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FFDC28E6-CC3B-4DEA-B33C-E72C4C73917C}"/>
              </a:ext>
            </a:extLst>
          </p:cNvPr>
          <p:cNvSpPr txBox="1"/>
          <p:nvPr/>
        </p:nvSpPr>
        <p:spPr>
          <a:xfrm>
            <a:off x="4535412" y="4346026"/>
            <a:ext cx="24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A6ED6E24-B3B0-490F-8A59-F6BBBB9F0E7B}"/>
              </a:ext>
            </a:extLst>
          </p:cNvPr>
          <p:cNvSpPr txBox="1"/>
          <p:nvPr/>
        </p:nvSpPr>
        <p:spPr>
          <a:xfrm>
            <a:off x="5621262" y="5108026"/>
            <a:ext cx="24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C0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58339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CEC5AF-10A5-4360-AAF0-F5ECB42F3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661" y="1522385"/>
            <a:ext cx="3189222" cy="434977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43C9C83-7C2A-4C68-B1A3-9844D1CC3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667" y="280637"/>
            <a:ext cx="7357527" cy="662781"/>
          </a:xfrm>
        </p:spPr>
        <p:txBody>
          <a:bodyPr>
            <a:normAutofit fontScale="90000"/>
          </a:bodyPr>
          <a:lstStyle/>
          <a:p>
            <a:pPr algn="ctr"/>
            <a:r>
              <a:rPr lang="es-419" b="1" dirty="0">
                <a:solidFill>
                  <a:schemeClr val="bg1"/>
                </a:solidFill>
              </a:rPr>
              <a:t>Puntos a considerar en el diseño de la trayectoria tipo III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F42787C9-6BF1-4588-B9D2-22FF0FED0AFC}"/>
              </a:ext>
            </a:extLst>
          </p:cNvPr>
          <p:cNvCxnSpPr>
            <a:cxnSpLocks/>
          </p:cNvCxnSpPr>
          <p:nvPr/>
        </p:nvCxnSpPr>
        <p:spPr>
          <a:xfrm flipV="1">
            <a:off x="4642601" y="4577583"/>
            <a:ext cx="2582327" cy="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7A75FB1C-09F3-4290-A3D4-2702F4688D9A}"/>
              </a:ext>
            </a:extLst>
          </p:cNvPr>
          <p:cNvSpPr txBox="1"/>
          <p:nvPr/>
        </p:nvSpPr>
        <p:spPr>
          <a:xfrm>
            <a:off x="6972827" y="4264677"/>
            <a:ext cx="3552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1.- Coordenadas UTM de superficie: N/S Y E/W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7CCBB9E-2055-463E-A721-FC6F8AAB2A6F}"/>
              </a:ext>
            </a:extLst>
          </p:cNvPr>
          <p:cNvCxnSpPr>
            <a:cxnSpLocks/>
          </p:cNvCxnSpPr>
          <p:nvPr/>
        </p:nvCxnSpPr>
        <p:spPr>
          <a:xfrm>
            <a:off x="4858515" y="5707592"/>
            <a:ext cx="0" cy="3979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82BFA58-AF7C-4097-9F0E-FDD325B0775A}"/>
              </a:ext>
            </a:extLst>
          </p:cNvPr>
          <p:cNvSpPr txBox="1"/>
          <p:nvPr/>
        </p:nvSpPr>
        <p:spPr>
          <a:xfrm>
            <a:off x="4681768" y="6047526"/>
            <a:ext cx="3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2.- Coordenadas UTM de objetivo: N/S Y E/W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675380BA-9FDD-4588-89A3-D68B7214AC5D}"/>
              </a:ext>
            </a:extLst>
          </p:cNvPr>
          <p:cNvGrpSpPr/>
          <p:nvPr/>
        </p:nvGrpSpPr>
        <p:grpSpPr>
          <a:xfrm>
            <a:off x="4021334" y="4566921"/>
            <a:ext cx="215970" cy="1168186"/>
            <a:chOff x="4114803" y="4127848"/>
            <a:chExt cx="152400" cy="1620000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F1D4B2B7-5149-481F-9000-E5BB7E89F675}"/>
                </a:ext>
              </a:extLst>
            </p:cNvPr>
            <p:cNvCxnSpPr/>
            <p:nvPr/>
          </p:nvCxnSpPr>
          <p:spPr>
            <a:xfrm>
              <a:off x="4191005" y="4127848"/>
              <a:ext cx="0" cy="16200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E5893F41-3716-4367-9560-A9FE965C6026}"/>
                </a:ext>
              </a:extLst>
            </p:cNvPr>
            <p:cNvCxnSpPr>
              <a:cxnSpLocks/>
            </p:cNvCxnSpPr>
            <p:nvPr/>
          </p:nvCxnSpPr>
          <p:spPr>
            <a:xfrm>
              <a:off x="4114803" y="4144779"/>
              <a:ext cx="1524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27F1093C-F0CE-4D6A-936B-FAF25F47464F}"/>
                </a:ext>
              </a:extLst>
            </p:cNvPr>
            <p:cNvCxnSpPr>
              <a:cxnSpLocks/>
            </p:cNvCxnSpPr>
            <p:nvPr/>
          </p:nvCxnSpPr>
          <p:spPr>
            <a:xfrm>
              <a:off x="4114803" y="5736513"/>
              <a:ext cx="1524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B461E8B-684B-4B66-BCFC-AB0795D0548E}"/>
              </a:ext>
            </a:extLst>
          </p:cNvPr>
          <p:cNvCxnSpPr>
            <a:cxnSpLocks/>
          </p:cNvCxnSpPr>
          <p:nvPr/>
        </p:nvCxnSpPr>
        <p:spPr>
          <a:xfrm flipH="1">
            <a:off x="3137964" y="4701458"/>
            <a:ext cx="99456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FAAFC12-5A74-4AA7-AFA6-9AC3AC35A516}"/>
              </a:ext>
            </a:extLst>
          </p:cNvPr>
          <p:cNvSpPr txBox="1"/>
          <p:nvPr/>
        </p:nvSpPr>
        <p:spPr>
          <a:xfrm>
            <a:off x="349539" y="4272926"/>
            <a:ext cx="3141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4.- Profundidad vertical al objetivo (TVD)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CF35FB25-321D-4591-81A9-D4A24BFCDB23}"/>
              </a:ext>
            </a:extLst>
          </p:cNvPr>
          <p:cNvGrpSpPr/>
          <p:nvPr/>
        </p:nvGrpSpPr>
        <p:grpSpPr>
          <a:xfrm>
            <a:off x="4433312" y="5269741"/>
            <a:ext cx="690876" cy="507454"/>
            <a:chOff x="4368806" y="4626740"/>
            <a:chExt cx="812161" cy="703039"/>
          </a:xfrm>
        </p:grpSpPr>
        <p:sp>
          <p:nvSpPr>
            <p:cNvPr id="20" name="Arco 19">
              <a:extLst>
                <a:ext uri="{FF2B5EF4-FFF2-40B4-BE49-F238E27FC236}">
                  <a16:creationId xmlns:a16="http://schemas.microsoft.com/office/drawing/2014/main" id="{648AE7C6-968A-4CE0-935F-D0D10DC7E5E7}"/>
                </a:ext>
              </a:extLst>
            </p:cNvPr>
            <p:cNvSpPr/>
            <p:nvPr/>
          </p:nvSpPr>
          <p:spPr>
            <a:xfrm rot="11457301">
              <a:off x="4444370" y="4626740"/>
              <a:ext cx="736597" cy="646331"/>
            </a:xfrm>
            <a:prstGeom prst="arc">
              <a:avLst/>
            </a:prstGeom>
            <a:ln w="285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25754289-5F13-4EF2-8A9F-97BD9321D004}"/>
                </a:ext>
              </a:extLst>
            </p:cNvPr>
            <p:cNvCxnSpPr>
              <a:cxnSpLocks/>
            </p:cNvCxnSpPr>
            <p:nvPr/>
          </p:nvCxnSpPr>
          <p:spPr>
            <a:xfrm>
              <a:off x="4368806" y="4865829"/>
              <a:ext cx="1524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DED9774D-BF7E-4353-A255-203F7279C1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9807" y="5179095"/>
              <a:ext cx="0" cy="15068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892E8DA-6065-476A-AD08-F68337BA0BFD}"/>
              </a:ext>
            </a:extLst>
          </p:cNvPr>
          <p:cNvCxnSpPr>
            <a:cxnSpLocks/>
          </p:cNvCxnSpPr>
          <p:nvPr/>
        </p:nvCxnSpPr>
        <p:spPr>
          <a:xfrm flipH="1">
            <a:off x="3252302" y="5581485"/>
            <a:ext cx="128693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1CBFBC1-AE4E-4391-8CBD-27927E880778}"/>
              </a:ext>
            </a:extLst>
          </p:cNvPr>
          <p:cNvSpPr txBox="1"/>
          <p:nvPr/>
        </p:nvSpPr>
        <p:spPr>
          <a:xfrm>
            <a:off x="228666" y="5036104"/>
            <a:ext cx="3141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5.- Ritmo de incremento del ángulo para la construcción de la curva (BUR)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44416A9-7676-4188-89A7-8DEED0C67867}"/>
              </a:ext>
            </a:extLst>
          </p:cNvPr>
          <p:cNvCxnSpPr>
            <a:cxnSpLocks/>
          </p:cNvCxnSpPr>
          <p:nvPr/>
        </p:nvCxnSpPr>
        <p:spPr>
          <a:xfrm>
            <a:off x="4634134" y="5312555"/>
            <a:ext cx="259079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DC1BA93-6EAA-45C5-9387-30D661258AA4}"/>
              </a:ext>
            </a:extLst>
          </p:cNvPr>
          <p:cNvSpPr txBox="1"/>
          <p:nvPr/>
        </p:nvSpPr>
        <p:spPr>
          <a:xfrm>
            <a:off x="6648347" y="4966348"/>
            <a:ext cx="3301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3.- Inicio de la desviación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68F6B048-2C10-4019-942D-DD68B7099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8995"/>
            <a:ext cx="4097534" cy="2304863"/>
          </a:xfrm>
          <a:prstGeom prst="rect">
            <a:avLst/>
          </a:prstGeom>
        </p:spPr>
      </p:pic>
      <p:grpSp>
        <p:nvGrpSpPr>
          <p:cNvPr id="41" name="Grupo 40">
            <a:extLst>
              <a:ext uri="{FF2B5EF4-FFF2-40B4-BE49-F238E27FC236}">
                <a16:creationId xmlns:a16="http://schemas.microsoft.com/office/drawing/2014/main" id="{BF185FF2-2C22-4222-AC7C-B241D21F3922}"/>
              </a:ext>
            </a:extLst>
          </p:cNvPr>
          <p:cNvGrpSpPr/>
          <p:nvPr/>
        </p:nvGrpSpPr>
        <p:grpSpPr>
          <a:xfrm rot="16200000">
            <a:off x="5418196" y="4906609"/>
            <a:ext cx="215523" cy="1286935"/>
            <a:chOff x="4114803" y="4127848"/>
            <a:chExt cx="152400" cy="1620000"/>
          </a:xfrm>
        </p:grpSpPr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210258D5-FEC8-44B7-A957-6EB2B52273A3}"/>
                </a:ext>
              </a:extLst>
            </p:cNvPr>
            <p:cNvCxnSpPr/>
            <p:nvPr/>
          </p:nvCxnSpPr>
          <p:spPr>
            <a:xfrm>
              <a:off x="4191005" y="4127848"/>
              <a:ext cx="0" cy="16200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D07593DC-DB66-45D1-BC0C-E22C83CC2A46}"/>
                </a:ext>
              </a:extLst>
            </p:cNvPr>
            <p:cNvCxnSpPr>
              <a:cxnSpLocks/>
            </p:cNvCxnSpPr>
            <p:nvPr/>
          </p:nvCxnSpPr>
          <p:spPr>
            <a:xfrm>
              <a:off x="4114803" y="4144779"/>
              <a:ext cx="1524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38C18685-D972-4902-ACAB-046F48E79E91}"/>
                </a:ext>
              </a:extLst>
            </p:cNvPr>
            <p:cNvCxnSpPr>
              <a:cxnSpLocks/>
            </p:cNvCxnSpPr>
            <p:nvPr/>
          </p:nvCxnSpPr>
          <p:spPr>
            <a:xfrm>
              <a:off x="4114803" y="5736513"/>
              <a:ext cx="1524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47DB719-A1F4-4D0B-940E-D9D4DD226FEA}"/>
              </a:ext>
            </a:extLst>
          </p:cNvPr>
          <p:cNvSpPr txBox="1"/>
          <p:nvPr/>
        </p:nvSpPr>
        <p:spPr>
          <a:xfrm>
            <a:off x="6810072" y="2003883"/>
            <a:ext cx="52613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* En esta trayectoria se toma como coordenada de objetivo el punto en donde finaliza la curva, la profundidad extra es la distancia a la cual se requiere prolongar la perforación 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534640E-39D6-4445-B497-D756C86D290E}"/>
              </a:ext>
            </a:extLst>
          </p:cNvPr>
          <p:cNvSpPr txBox="1"/>
          <p:nvPr/>
        </p:nvSpPr>
        <p:spPr>
          <a:xfrm>
            <a:off x="7527841" y="5531241"/>
            <a:ext cx="3141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dirty="0">
                <a:solidFill>
                  <a:srgbClr val="C00000"/>
                </a:solidFill>
              </a:rPr>
              <a:t>6.- Profundidad extra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489F102-615C-4DBF-B908-28F0E61C8733}"/>
              </a:ext>
            </a:extLst>
          </p:cNvPr>
          <p:cNvCxnSpPr>
            <a:cxnSpLocks/>
          </p:cNvCxnSpPr>
          <p:nvPr/>
        </p:nvCxnSpPr>
        <p:spPr>
          <a:xfrm>
            <a:off x="5428961" y="5723187"/>
            <a:ext cx="259079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8EE31657-47E9-40C7-BE3C-55F06974AF06}"/>
              </a:ext>
            </a:extLst>
          </p:cNvPr>
          <p:cNvCxnSpPr/>
          <p:nvPr/>
        </p:nvCxnSpPr>
        <p:spPr>
          <a:xfrm>
            <a:off x="5438486" y="5550072"/>
            <a:ext cx="0" cy="180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C7F48926-6C84-4856-82D5-879A71898CBC}"/>
              </a:ext>
            </a:extLst>
          </p:cNvPr>
          <p:cNvSpPr txBox="1"/>
          <p:nvPr/>
        </p:nvSpPr>
        <p:spPr>
          <a:xfrm>
            <a:off x="4478262" y="4403176"/>
            <a:ext cx="24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133B3269-B7EF-44E2-BAAF-0F8A03963503}"/>
              </a:ext>
            </a:extLst>
          </p:cNvPr>
          <p:cNvSpPr txBox="1"/>
          <p:nvPr/>
        </p:nvSpPr>
        <p:spPr>
          <a:xfrm>
            <a:off x="4487787" y="5127076"/>
            <a:ext cx="24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93158153-4247-4EB3-8030-B59169DE380F}"/>
              </a:ext>
            </a:extLst>
          </p:cNvPr>
          <p:cNvSpPr txBox="1"/>
          <p:nvPr/>
        </p:nvSpPr>
        <p:spPr>
          <a:xfrm>
            <a:off x="4706862" y="5517601"/>
            <a:ext cx="24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>
                <a:solidFill>
                  <a:srgbClr val="C0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088986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C4A30-E28B-4728-927A-1841B28A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95E05C-C92D-4231-9733-53EFCD5DD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F244D06-7820-4E3B-96AC-5518D78FD5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5F54406-DACE-42CB-AFF4-ACC2C99864E0}"/>
              </a:ext>
            </a:extLst>
          </p:cNvPr>
          <p:cNvSpPr/>
          <p:nvPr/>
        </p:nvSpPr>
        <p:spPr>
          <a:xfrm>
            <a:off x="59268" y="5376333"/>
            <a:ext cx="1905000" cy="85619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FB65ABE-B265-4EA4-A386-BE5A415091BE}"/>
              </a:ext>
            </a:extLst>
          </p:cNvPr>
          <p:cNvCxnSpPr>
            <a:cxnSpLocks/>
          </p:cNvCxnSpPr>
          <p:nvPr/>
        </p:nvCxnSpPr>
        <p:spPr>
          <a:xfrm>
            <a:off x="1964268" y="5799161"/>
            <a:ext cx="92286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0211ADF6-3F22-440E-8900-F9495B24581C}"/>
              </a:ext>
            </a:extLst>
          </p:cNvPr>
          <p:cNvSpPr txBox="1"/>
          <p:nvPr/>
        </p:nvSpPr>
        <p:spPr>
          <a:xfrm>
            <a:off x="2853271" y="5476393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Hipervínculos hacia redes sociales y correo de contacto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7DB8ECE-5852-47B8-950E-CA982E57E42B}"/>
              </a:ext>
            </a:extLst>
          </p:cNvPr>
          <p:cNvSpPr/>
          <p:nvPr/>
        </p:nvSpPr>
        <p:spPr>
          <a:xfrm>
            <a:off x="0" y="1498599"/>
            <a:ext cx="1964268" cy="13255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30F12D5-D3F2-464B-B0B7-1B97BFEB2998}"/>
              </a:ext>
            </a:extLst>
          </p:cNvPr>
          <p:cNvCxnSpPr>
            <a:cxnSpLocks/>
          </p:cNvCxnSpPr>
          <p:nvPr/>
        </p:nvCxnSpPr>
        <p:spPr>
          <a:xfrm>
            <a:off x="1964268" y="2138180"/>
            <a:ext cx="6477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8ED0686-CD4C-4173-A373-5140E35544CE}"/>
              </a:ext>
            </a:extLst>
          </p:cNvPr>
          <p:cNvSpPr txBox="1"/>
          <p:nvPr/>
        </p:nvSpPr>
        <p:spPr>
          <a:xfrm>
            <a:off x="2489203" y="1498599"/>
            <a:ext cx="3733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Pestañas para acceder a las pantallas de: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C00000"/>
                </a:solidFill>
              </a:rPr>
              <a:t>Gráficos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C00000"/>
                </a:solidFill>
              </a:rPr>
              <a:t>Datos tabulados 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C00000"/>
                </a:solidFill>
              </a:rPr>
              <a:t>Manual de usuario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6FF3AD9-99C7-474D-8033-53A12D739574}"/>
              </a:ext>
            </a:extLst>
          </p:cNvPr>
          <p:cNvSpPr/>
          <p:nvPr/>
        </p:nvSpPr>
        <p:spPr>
          <a:xfrm>
            <a:off x="9245598" y="1690688"/>
            <a:ext cx="2887134" cy="44749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0B32AD2-D55F-4E59-BEA6-355A497504CB}"/>
              </a:ext>
            </a:extLst>
          </p:cNvPr>
          <p:cNvSpPr/>
          <p:nvPr/>
        </p:nvSpPr>
        <p:spPr>
          <a:xfrm>
            <a:off x="9220200" y="2316163"/>
            <a:ext cx="2836333" cy="45418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865D78D-60E7-47B8-85F8-DDC8C61CCA9E}"/>
              </a:ext>
            </a:extLst>
          </p:cNvPr>
          <p:cNvCxnSpPr>
            <a:cxnSpLocks/>
          </p:cNvCxnSpPr>
          <p:nvPr/>
        </p:nvCxnSpPr>
        <p:spPr>
          <a:xfrm>
            <a:off x="8572499" y="2011180"/>
            <a:ext cx="6477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8F620892-086C-422B-AEE5-85EAE1E6E116}"/>
              </a:ext>
            </a:extLst>
          </p:cNvPr>
          <p:cNvCxnSpPr>
            <a:cxnSpLocks/>
          </p:cNvCxnSpPr>
          <p:nvPr/>
        </p:nvCxnSpPr>
        <p:spPr>
          <a:xfrm>
            <a:off x="8572499" y="3958513"/>
            <a:ext cx="6477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27A512E-6615-4713-B86D-1639E1561A0F}"/>
              </a:ext>
            </a:extLst>
          </p:cNvPr>
          <p:cNvSpPr txBox="1"/>
          <p:nvPr/>
        </p:nvSpPr>
        <p:spPr>
          <a:xfrm>
            <a:off x="5350933" y="3635347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Formulario para ingresar datos y realizar el cálculo de la trayectoria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C80DDA2-B2C0-49C1-8240-F2CBF4B5B14D}"/>
              </a:ext>
            </a:extLst>
          </p:cNvPr>
          <p:cNvSpPr txBox="1"/>
          <p:nvPr/>
        </p:nvSpPr>
        <p:spPr>
          <a:xfrm>
            <a:off x="6756403" y="1823067"/>
            <a:ext cx="2404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Zona en donde se actualizan los datos de la trayectoria calculada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DE8DF21-6F18-45F1-B9EB-A11827B2C725}"/>
              </a:ext>
            </a:extLst>
          </p:cNvPr>
          <p:cNvSpPr/>
          <p:nvPr/>
        </p:nvSpPr>
        <p:spPr>
          <a:xfrm>
            <a:off x="9999133" y="365124"/>
            <a:ext cx="1354668" cy="12700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C18E31E-D5C9-4FA3-8F29-D88FF427E085}"/>
              </a:ext>
            </a:extLst>
          </p:cNvPr>
          <p:cNvSpPr txBox="1"/>
          <p:nvPr/>
        </p:nvSpPr>
        <p:spPr>
          <a:xfrm>
            <a:off x="6172199" y="690685"/>
            <a:ext cx="298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Imagen alusiva a la trayectoria calculada (J, S, H)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9B5E281E-CC29-47A1-9521-22819AECBAB1}"/>
              </a:ext>
            </a:extLst>
          </p:cNvPr>
          <p:cNvCxnSpPr>
            <a:cxnSpLocks/>
          </p:cNvCxnSpPr>
          <p:nvPr/>
        </p:nvCxnSpPr>
        <p:spPr>
          <a:xfrm>
            <a:off x="9017001" y="1167894"/>
            <a:ext cx="92286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217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F244D06-7820-4E3B-96AC-5518D78FD5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44D2BC7-1DFF-4BAD-A0AB-B0909A9CD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839"/>
            <a:ext cx="12192000" cy="628342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5F54406-DACE-42CB-AFF4-ACC2C99864E0}"/>
              </a:ext>
            </a:extLst>
          </p:cNvPr>
          <p:cNvSpPr/>
          <p:nvPr/>
        </p:nvSpPr>
        <p:spPr>
          <a:xfrm>
            <a:off x="59268" y="4658098"/>
            <a:ext cx="1905000" cy="10055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FB65ABE-B265-4EA4-A386-BE5A415091BE}"/>
              </a:ext>
            </a:extLst>
          </p:cNvPr>
          <p:cNvCxnSpPr>
            <a:cxnSpLocks/>
          </p:cNvCxnSpPr>
          <p:nvPr/>
        </p:nvCxnSpPr>
        <p:spPr>
          <a:xfrm>
            <a:off x="1964268" y="5234615"/>
            <a:ext cx="92286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0211ADF6-3F22-440E-8900-F9495B24581C}"/>
              </a:ext>
            </a:extLst>
          </p:cNvPr>
          <p:cNvSpPr txBox="1"/>
          <p:nvPr/>
        </p:nvSpPr>
        <p:spPr>
          <a:xfrm>
            <a:off x="2853271" y="4911847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Hipervínculos hacia redes sociales y correo de contacto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7DB8ECE-5852-47B8-950E-CA982E57E42B}"/>
              </a:ext>
            </a:extLst>
          </p:cNvPr>
          <p:cNvSpPr/>
          <p:nvPr/>
        </p:nvSpPr>
        <p:spPr>
          <a:xfrm>
            <a:off x="29634" y="1823067"/>
            <a:ext cx="1964268" cy="18122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30F12D5-D3F2-464B-B0B7-1B97BFEB2998}"/>
              </a:ext>
            </a:extLst>
          </p:cNvPr>
          <p:cNvCxnSpPr>
            <a:cxnSpLocks/>
          </p:cNvCxnSpPr>
          <p:nvPr/>
        </p:nvCxnSpPr>
        <p:spPr>
          <a:xfrm>
            <a:off x="1964268" y="2138180"/>
            <a:ext cx="6477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8ED0686-CD4C-4173-A373-5140E35544CE}"/>
              </a:ext>
            </a:extLst>
          </p:cNvPr>
          <p:cNvSpPr txBox="1"/>
          <p:nvPr/>
        </p:nvSpPr>
        <p:spPr>
          <a:xfrm>
            <a:off x="2489203" y="1498599"/>
            <a:ext cx="3733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Pestañas para acceder a las pantallas de: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C00000"/>
                </a:solidFill>
              </a:rPr>
              <a:t>Gráficos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C00000"/>
                </a:solidFill>
              </a:rPr>
              <a:t>Datos tabulados 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C00000"/>
                </a:solidFill>
              </a:rPr>
              <a:t>Manual de usuario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6FF3AD9-99C7-474D-8033-53A12D739574}"/>
              </a:ext>
            </a:extLst>
          </p:cNvPr>
          <p:cNvSpPr/>
          <p:nvPr/>
        </p:nvSpPr>
        <p:spPr>
          <a:xfrm>
            <a:off x="9237647" y="2048496"/>
            <a:ext cx="2887134" cy="44749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0B32AD2-D55F-4E59-BEA6-355A497504CB}"/>
              </a:ext>
            </a:extLst>
          </p:cNvPr>
          <p:cNvSpPr/>
          <p:nvPr/>
        </p:nvSpPr>
        <p:spPr>
          <a:xfrm>
            <a:off x="9220200" y="2854466"/>
            <a:ext cx="2836333" cy="394116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865D78D-60E7-47B8-85F8-DDC8C61CCA9E}"/>
              </a:ext>
            </a:extLst>
          </p:cNvPr>
          <p:cNvCxnSpPr>
            <a:cxnSpLocks/>
          </p:cNvCxnSpPr>
          <p:nvPr/>
        </p:nvCxnSpPr>
        <p:spPr>
          <a:xfrm>
            <a:off x="8589946" y="2297427"/>
            <a:ext cx="6477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8F620892-086C-422B-AEE5-85EAE1E6E116}"/>
              </a:ext>
            </a:extLst>
          </p:cNvPr>
          <p:cNvCxnSpPr>
            <a:cxnSpLocks/>
          </p:cNvCxnSpPr>
          <p:nvPr/>
        </p:nvCxnSpPr>
        <p:spPr>
          <a:xfrm>
            <a:off x="8572499" y="3958513"/>
            <a:ext cx="6477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27A512E-6615-4713-B86D-1639E1561A0F}"/>
              </a:ext>
            </a:extLst>
          </p:cNvPr>
          <p:cNvSpPr txBox="1"/>
          <p:nvPr/>
        </p:nvSpPr>
        <p:spPr>
          <a:xfrm>
            <a:off x="5350933" y="3635347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Formulario para ingresar datos y realizar el cálculo de la trayectoria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C80DDA2-B2C0-49C1-8240-F2CBF4B5B14D}"/>
              </a:ext>
            </a:extLst>
          </p:cNvPr>
          <p:cNvSpPr txBox="1"/>
          <p:nvPr/>
        </p:nvSpPr>
        <p:spPr>
          <a:xfrm>
            <a:off x="6350513" y="1895054"/>
            <a:ext cx="2404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Zona en donde se actualizan los datos de la trayectoria calculada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DE8DF21-6F18-45F1-B9EB-A11827B2C725}"/>
              </a:ext>
            </a:extLst>
          </p:cNvPr>
          <p:cNvSpPr/>
          <p:nvPr/>
        </p:nvSpPr>
        <p:spPr>
          <a:xfrm>
            <a:off x="9836661" y="379848"/>
            <a:ext cx="1652974" cy="166864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C18E31E-D5C9-4FA3-8F29-D88FF427E085}"/>
              </a:ext>
            </a:extLst>
          </p:cNvPr>
          <p:cNvSpPr txBox="1"/>
          <p:nvPr/>
        </p:nvSpPr>
        <p:spPr>
          <a:xfrm>
            <a:off x="6058410" y="691685"/>
            <a:ext cx="298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Imagen alusiva a la trayectoria calculada (J, S, H)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9B5E281E-CC29-47A1-9521-22819AECBAB1}"/>
              </a:ext>
            </a:extLst>
          </p:cNvPr>
          <p:cNvCxnSpPr>
            <a:cxnSpLocks/>
          </p:cNvCxnSpPr>
          <p:nvPr/>
        </p:nvCxnSpPr>
        <p:spPr>
          <a:xfrm>
            <a:off x="8913796" y="1191748"/>
            <a:ext cx="92286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290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517A7-6403-4E5A-A5D6-CC52016E1A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89814A-3D6B-465E-B2F4-0124C51B75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E5452EC-6D55-461F-9011-C777BBB26C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21696"/>
            <a:ext cx="12192000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5B2F200-2975-4A68-9729-21918D0415BE}"/>
              </a:ext>
            </a:extLst>
          </p:cNvPr>
          <p:cNvSpPr txBox="1"/>
          <p:nvPr/>
        </p:nvSpPr>
        <p:spPr>
          <a:xfrm>
            <a:off x="3352800" y="2146237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1.- Ingresar datos para realizar el cálculo de la trayectoria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68CEE77-35B2-49F6-B7EA-06D9867FBDC3}"/>
              </a:ext>
            </a:extLst>
          </p:cNvPr>
          <p:cNvSpPr/>
          <p:nvPr/>
        </p:nvSpPr>
        <p:spPr>
          <a:xfrm>
            <a:off x="9220200" y="2316163"/>
            <a:ext cx="2836333" cy="45418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C3CD381-2D1C-402D-86D2-FD80FA8EB89C}"/>
              </a:ext>
            </a:extLst>
          </p:cNvPr>
          <p:cNvCxnSpPr>
            <a:cxnSpLocks/>
          </p:cNvCxnSpPr>
          <p:nvPr/>
        </p:nvCxnSpPr>
        <p:spPr>
          <a:xfrm>
            <a:off x="6477000" y="2469403"/>
            <a:ext cx="26670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525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2CB2D-01B2-4AD7-902C-426992EA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373FBB-554A-4A43-808F-2E47103C3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8CB822F-9F13-4A5E-90BE-27BE671C2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D62A91A-EF5B-487F-85EB-ECC7D3D817B5}"/>
              </a:ext>
            </a:extLst>
          </p:cNvPr>
          <p:cNvSpPr txBox="1"/>
          <p:nvPr/>
        </p:nvSpPr>
        <p:spPr>
          <a:xfrm>
            <a:off x="3073400" y="5253633"/>
            <a:ext cx="373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2.- Una vez ingresado los datos, seleccionar tipo de pozo y presionar botón de “calcular Trayectoria”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027F3F1-FF14-4151-86FD-0FE7EC712466}"/>
              </a:ext>
            </a:extLst>
          </p:cNvPr>
          <p:cNvSpPr/>
          <p:nvPr/>
        </p:nvSpPr>
        <p:spPr>
          <a:xfrm>
            <a:off x="9220200" y="5532437"/>
            <a:ext cx="2836333" cy="13255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93A3E352-6138-4BAD-97A8-E64384B0C39B}"/>
              </a:ext>
            </a:extLst>
          </p:cNvPr>
          <p:cNvCxnSpPr>
            <a:cxnSpLocks/>
          </p:cNvCxnSpPr>
          <p:nvPr/>
        </p:nvCxnSpPr>
        <p:spPr>
          <a:xfrm>
            <a:off x="6807200" y="5715298"/>
            <a:ext cx="235373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57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B7D85-32EC-4A8B-BE2C-CA5D6361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4EDE3E-75AE-4DFD-BE63-066035009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9AD81F-C4D2-4C6D-AD90-0EE5F3951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AEBCCC3-998D-4CE2-97BE-CB6EE1EE7224}"/>
              </a:ext>
            </a:extLst>
          </p:cNvPr>
          <p:cNvSpPr txBox="1"/>
          <p:nvPr/>
        </p:nvSpPr>
        <p:spPr>
          <a:xfrm>
            <a:off x="9499600" y="159808"/>
            <a:ext cx="25823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3.-Se desplegará la “tabla de registro de la trayectoria”, presionando la flecha en la parte superior izquierda regresamos a la ventana principal 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4789211-F119-4FAA-810C-E390B4450230}"/>
              </a:ext>
            </a:extLst>
          </p:cNvPr>
          <p:cNvCxnSpPr>
            <a:cxnSpLocks/>
          </p:cNvCxnSpPr>
          <p:nvPr/>
        </p:nvCxnSpPr>
        <p:spPr>
          <a:xfrm flipH="1">
            <a:off x="364067" y="440269"/>
            <a:ext cx="9025467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FC246885-EE0C-4A6A-B4FA-DC5347A3400B}"/>
              </a:ext>
            </a:extLst>
          </p:cNvPr>
          <p:cNvSpPr/>
          <p:nvPr/>
        </p:nvSpPr>
        <p:spPr>
          <a:xfrm>
            <a:off x="0" y="147638"/>
            <a:ext cx="364067" cy="29263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37286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ED59E-9040-47F6-B7CB-5433A77A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DC74E3-CA24-4F89-9486-4A9A8DC89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F93F21-B7F1-457D-9071-00E09C1ED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7C128CA-1782-4290-9820-D3044FEDFD0C}"/>
              </a:ext>
            </a:extLst>
          </p:cNvPr>
          <p:cNvSpPr txBox="1"/>
          <p:nvPr/>
        </p:nvSpPr>
        <p:spPr>
          <a:xfrm>
            <a:off x="101599" y="2899303"/>
            <a:ext cx="19727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4.- Podemos observar los gráficos creados a partir de los datos calculados por el método de mínima curvatura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F70B1A1-A6EA-421F-BE33-591700B19177}"/>
              </a:ext>
            </a:extLst>
          </p:cNvPr>
          <p:cNvSpPr/>
          <p:nvPr/>
        </p:nvSpPr>
        <p:spPr>
          <a:xfrm>
            <a:off x="9203267" y="1690688"/>
            <a:ext cx="2988733" cy="44873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BAC29B9A-94BB-430A-834C-6627C10BFBA3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074333" y="3352800"/>
            <a:ext cx="601134" cy="5621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7D77903-30CF-437C-A700-1DC48D53ECF4}"/>
              </a:ext>
            </a:extLst>
          </p:cNvPr>
          <p:cNvCxnSpPr>
            <a:cxnSpLocks/>
          </p:cNvCxnSpPr>
          <p:nvPr/>
        </p:nvCxnSpPr>
        <p:spPr>
          <a:xfrm flipV="1">
            <a:off x="2074333" y="3157837"/>
            <a:ext cx="3666067" cy="73176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DF3E62B-46FC-4B1D-B067-E0B37DD50CF7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074333" y="3914966"/>
            <a:ext cx="3733800" cy="133221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8843C7B-2EC2-47EB-BBA9-4010AEEE9A46}"/>
              </a:ext>
            </a:extLst>
          </p:cNvPr>
          <p:cNvSpPr txBox="1"/>
          <p:nvPr/>
        </p:nvSpPr>
        <p:spPr>
          <a:xfrm>
            <a:off x="6358465" y="821422"/>
            <a:ext cx="3750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4.- En esta sección se muestran datos relevantes de la trayectoria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900D8B0-1789-4FB6-912C-7EF767FE732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8644467" y="1455907"/>
            <a:ext cx="558800" cy="45914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5034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19287</TotalTime>
  <Words>517</Words>
  <Application>Microsoft Office PowerPoint</Application>
  <PresentationFormat>Panorámica</PresentationFormat>
  <Paragraphs>53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Puntos a considerar en el diseño de la trayectoria tipo I</vt:lpstr>
      <vt:lpstr>Puntos a considerar en el diseño de la trayectoria tipo II</vt:lpstr>
      <vt:lpstr>Puntos a considerar en el diseño de la trayectoria tipo III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Jaime</dc:creator>
  <cp:lastModifiedBy>Jaime</cp:lastModifiedBy>
  <cp:revision>19</cp:revision>
  <dcterms:created xsi:type="dcterms:W3CDTF">2025-03-13T10:43:25Z</dcterms:created>
  <dcterms:modified xsi:type="dcterms:W3CDTF">2025-03-31T19:59:58Z</dcterms:modified>
</cp:coreProperties>
</file>